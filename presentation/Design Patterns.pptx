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>
  <p:sldMasterIdLst>
    <p:sldMasterId id="2147483648" r:id="rId16"/>
  </p:sld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</p:sldIdLst>
  <p:sldSz cx="18288000" cy="10287000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Master" Target="slideMasters/slideMaster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lt2" folHlink="folHlink" hlink="hlink" tx1="dk1" tx2="dk2"/>
  <p:sldLayoutIdLst>
    <p:sldLayoutId id="1" r:id="rId1"/>
  </p:sldLayoutIdLst>
  <p:txStyles/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2_1.png"/><Relationship Id="rId3" Type="http://schemas.openxmlformats.org/officeDocument/2006/relationships/image" Target="../media/s2_2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3_1.png"/><Relationship Id="rId3" Type="http://schemas.openxmlformats.org/officeDocument/2006/relationships/image" Target="../media/s3_2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4_1.png"/><Relationship Id="rId3" Type="http://schemas.openxmlformats.org/officeDocument/2006/relationships/image" Target="../media/s4_2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5_1.png"/><Relationship Id="rId3" Type="http://schemas.openxmlformats.org/officeDocument/2006/relationships/image" Target="../media/s5_2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6_1.png"/><Relationship Id="rId3" Type="http://schemas.openxmlformats.org/officeDocument/2006/relationships/image" Target="../media/s6_2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7_1.png"/><Relationship Id="rId3" Type="http://schemas.openxmlformats.org/officeDocument/2006/relationships/image" Target="../media/s7_2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8_1.png"/><Relationship Id="rId3" Type="http://schemas.openxmlformats.org/officeDocument/2006/relationships/image" Target="../media/s8_2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9_1.png"/><Relationship Id="rId3" Type="http://schemas.openxmlformats.org/officeDocument/2006/relationships/image" Target="../media/s9_2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10_1.png"/><Relationship Id="rId3" Type="http://schemas.openxmlformats.org/officeDocument/2006/relationships/image" Target="../media/s10_2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11_1.png"/><Relationship Id="rId3" Type="http://schemas.openxmlformats.org/officeDocument/2006/relationships/image" Target="../media/s11_2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12_1.png"/><Relationship Id="rId3" Type="http://schemas.openxmlformats.org/officeDocument/2006/relationships/image" Target="../media/s12_2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13_1.png"/><Relationship Id="rId3" Type="http://schemas.openxmlformats.org/officeDocument/2006/relationships/image" Target="../media/s13_2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14_1.png"/><Relationship Id="rId3" Type="http://schemas.openxmlformats.org/officeDocument/2006/relationships/image" Target="../media/s14_2.pn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15_1.png"/><Relationship Id="rId3" Type="http://schemas.openxmlformats.org/officeDocument/2006/relationships/image" Target="../media/s15_2.pn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Panel 3"/>
          <p:cNvSpPr/>
          <p:nvPr/>
        </p:nvSpPr>
        <p:spPr>
          <a:xfrm>
            <a:off x="0" y="0"/>
            <a:ext cx="18288000" cy="101600"/>
          </a:xfrm>
          <a:prstGeom prst="rect">
            <a:avLst/>
          </a:prstGeom>
          <a:solidFill>
            <a:srgbClr val="0F766E"/>
          </a:solidFill>
          <a:ln>
            <a:noFill/>
          </a:ln>
        </p:spPr>
      </p:sp>
      <p:sp>
        <p:nvSpPr>
          <p:cNvPr id="4" name="Text 4"/>
          <p:cNvSpPr txBox="1"/>
          <p:nvPr/>
        </p:nvSpPr>
        <p:spPr>
          <a:xfrm>
            <a:off x="609600" y="457200"/>
            <a:ext cx="11430000" cy="7950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5760"/>
              </a:lnSpc>
            </a:pPr>
            <a:r>
              <a:rPr lang="en-US" sz="4800" b="1">
                <a:solidFill>
                  <a:srgbClr val="101319"/>
                </a:solidFill>
                <a:latin typeface="Arial"/>
              </a:rPr>
              <a:t xml:space="preserve">Design Patterns</a:t>
            </a:r>
            <a:endParaRPr sz="4800"/>
          </a:p>
        </p:txBody>
      </p:sp>
      <p:sp>
        <p:nvSpPr>
          <p:cNvPr id="5" name="Text 5"/>
          <p:cNvSpPr txBox="1"/>
          <p:nvPr/>
        </p:nvSpPr>
        <p:spPr>
          <a:xfrm>
            <a:off x="609600" y="1219200"/>
            <a:ext cx="11430000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>
                <a:solidFill>
                  <a:srgbClr val="596273"/>
                </a:solidFill>
                <a:latin typeface="Arial"/>
              </a:rPr>
              <a:t xml:space="preserve">Creational · Structural · Behavioral</a:t>
            </a:r>
            <a:endParaRPr sz="1800"/>
          </a:p>
        </p:txBody>
      </p:sp>
      <p:sp>
        <p:nvSpPr>
          <p:cNvPr id="6" name="Text 6"/>
          <p:cNvSpPr txBox="1"/>
          <p:nvPr/>
        </p:nvSpPr>
        <p:spPr>
          <a:xfrm>
            <a:off x="609600" y="1574800"/>
            <a:ext cx="13970000" cy="3987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640"/>
              </a:lnSpc>
            </a:pPr>
            <a:r>
              <a:rPr lang="en-US" sz="2200">
                <a:solidFill>
                  <a:srgbClr val="182230"/>
                </a:solidFill>
                <a:latin typeface="Arial"/>
              </a:rPr>
              <a:t xml:space="preserve">Modules built for another developer’s client code</a:t>
            </a:r>
            <a:endParaRPr sz="2200"/>
          </a:p>
        </p:txBody>
      </p:sp>
      <p:sp>
        <p:nvSpPr>
          <p:cNvPr id="7" name="Panel 7"/>
          <p:cNvSpPr/>
          <p:nvPr/>
        </p:nvSpPr>
        <p:spPr>
          <a:xfrm>
            <a:off x="609600" y="2133600"/>
            <a:ext cx="17068800" cy="25400"/>
          </a:xfrm>
          <a:prstGeom prst="rect">
            <a:avLst/>
          </a:prstGeom>
          <a:solidFill>
            <a:srgbClr val="D0D7E2"/>
          </a:solidFill>
          <a:ln>
            <a:noFill/>
          </a:ln>
        </p:spPr>
      </p:sp>
      <p:sp>
        <p:nvSpPr>
          <p:cNvPr id="8" name="Text 8"/>
          <p:cNvSpPr txBox="1"/>
          <p:nvPr/>
        </p:nvSpPr>
        <p:spPr>
          <a:xfrm>
            <a:off x="609600" y="2387600"/>
            <a:ext cx="7620000" cy="3987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640"/>
              </a:lnSpc>
            </a:pPr>
            <a:r>
              <a:rPr lang="en-US" sz="2200" b="1">
                <a:solidFill>
                  <a:srgbClr val="0F766E"/>
                </a:solidFill>
                <a:latin typeface="Arial"/>
              </a:rPr>
              <a:t xml:space="preserve">Purpose</a:t>
            </a:r>
            <a:endParaRPr sz="2200"/>
          </a:p>
        </p:txBody>
      </p:sp>
      <p:sp>
        <p:nvSpPr>
          <p:cNvPr id="9" name="Text 9"/>
          <p:cNvSpPr txBox="1"/>
          <p:nvPr/>
        </p:nvSpPr>
        <p:spPr>
          <a:xfrm>
            <a:off x="609600" y="2824480"/>
            <a:ext cx="17068800" cy="6223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200"/>
              </a:lnSpc>
            </a:pPr>
            <a:r>
              <a:rPr lang="en-US" sz="1600">
                <a:solidFill>
                  <a:srgbClr val="192331"/>
                </a:solidFill>
                <a:latin typeface="Arial"/>
              </a:rPr>
              <a:t xml:space="preserve">Patterns are shared answers to recurring design pressures. They help you shape module boundaries so callers get a calm, intention-revealing API while the module stays free to grow, swap</a:t>
            </a:r>
            <a:endParaRPr sz="1600"/>
          </a:p>
          <a:p>
            <a:pPr>
              <a:lnSpc>
                <a:spcPts val="2200"/>
              </a:lnSpc>
            </a:pPr>
            <a:r>
              <a:rPr lang="en-US" sz="1600">
                <a:solidFill>
                  <a:srgbClr val="192331"/>
                </a:solidFill>
                <a:latin typeface="Arial"/>
              </a:rPr>
              <a:t xml:space="preserve">internals, or add variants without rewriting every consumer.</a:t>
            </a:r>
            <a:endParaRPr sz="1600"/>
          </a:p>
        </p:txBody>
      </p:sp>
      <p:sp>
        <p:nvSpPr>
          <p:cNvPr id="10" name="Text 10"/>
          <p:cNvSpPr txBox="1"/>
          <p:nvPr/>
        </p:nvSpPr>
        <p:spPr>
          <a:xfrm>
            <a:off x="609600" y="3561080"/>
            <a:ext cx="7620000" cy="3987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640"/>
              </a:lnSpc>
            </a:pPr>
            <a:r>
              <a:rPr lang="en-US" sz="2200" b="1">
                <a:solidFill>
                  <a:srgbClr val="0F766E"/>
                </a:solidFill>
                <a:latin typeface="Arial"/>
              </a:rPr>
              <a:t xml:space="preserve">Developer experience goal</a:t>
            </a:r>
            <a:endParaRPr sz="2200"/>
          </a:p>
        </p:txBody>
      </p:sp>
      <p:sp>
        <p:nvSpPr>
          <p:cNvPr id="11" name="Text 11"/>
          <p:cNvSpPr txBox="1"/>
          <p:nvPr/>
        </p:nvSpPr>
        <p:spPr>
          <a:xfrm>
            <a:off x="609600" y="3997960"/>
            <a:ext cx="17068800" cy="6223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200"/>
              </a:lnSpc>
            </a:pPr>
            <a:r>
              <a:rPr lang="en-US" sz="1600">
                <a:solidFill>
                  <a:srgbClr val="192331"/>
                </a:solidFill>
                <a:latin typeface="Arial"/>
              </a:rPr>
              <a:t xml:space="preserve">Treat each slide as a handover story: you own the module; another developer owns the client. Good patterns make that handover kind—small surface area, clear abstractions, and room to</a:t>
            </a:r>
            <a:endParaRPr sz="1600"/>
          </a:p>
          <a:p>
            <a:pPr>
              <a:lnSpc>
                <a:spcPts val="2200"/>
              </a:lnSpc>
            </a:pPr>
            <a:r>
              <a:rPr lang="en-US" sz="1600">
                <a:solidFill>
                  <a:srgbClr val="192331"/>
                </a:solidFill>
                <a:latin typeface="Arial"/>
              </a:rPr>
              <a:t xml:space="preserve">extend the module graciously so clients keep writing the same simple calls.</a:t>
            </a:r>
            <a:endParaRPr sz="1600"/>
          </a:p>
        </p:txBody>
      </p:sp>
      <p:sp>
        <p:nvSpPr>
          <p:cNvPr id="12" name="Text 12"/>
          <p:cNvSpPr txBox="1"/>
          <p:nvPr/>
        </p:nvSpPr>
        <p:spPr>
          <a:xfrm>
            <a:off x="609600" y="4734560"/>
            <a:ext cx="7620000" cy="3987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640"/>
              </a:lnSpc>
            </a:pPr>
            <a:r>
              <a:rPr lang="en-US" sz="2200" b="1">
                <a:solidFill>
                  <a:srgbClr val="0F766E"/>
                </a:solidFill>
                <a:latin typeface="Arial"/>
              </a:rPr>
              <a:t xml:space="preserve">How to read each pattern slide</a:t>
            </a:r>
            <a:endParaRPr sz="2200"/>
          </a:p>
        </p:txBody>
      </p:sp>
      <p:sp>
        <p:nvSpPr>
          <p:cNvPr id="13" name="Text 13"/>
          <p:cNvSpPr txBox="1"/>
          <p:nvPr/>
        </p:nvSpPr>
        <p:spPr>
          <a:xfrm>
            <a:off x="609600" y="5196840"/>
            <a:ext cx="2794000" cy="292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800"/>
              </a:lnSpc>
            </a:pPr>
            <a:r>
              <a:rPr lang="en-US" sz="1500" b="1">
                <a:solidFill>
                  <a:srgbClr val="151B27"/>
                </a:solidFill>
                <a:latin typeface="Arial"/>
              </a:rPr>
              <a:t xml:space="preserve">Problem / Solution</a:t>
            </a:r>
            <a:endParaRPr sz="1500"/>
          </a:p>
        </p:txBody>
      </p:sp>
      <p:sp>
        <p:nvSpPr>
          <p:cNvPr id="14" name="Text 14"/>
          <p:cNvSpPr txBox="1"/>
          <p:nvPr/>
        </p:nvSpPr>
        <p:spPr>
          <a:xfrm>
            <a:off x="3556000" y="5196840"/>
            <a:ext cx="14122400" cy="317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00"/>
              </a:lnSpc>
            </a:pPr>
            <a:r>
              <a:rPr lang="en-US" sz="1500">
                <a:solidFill>
                  <a:srgbClr val="192331"/>
                </a:solidFill>
                <a:latin typeface="Arial"/>
              </a:rPr>
              <a:t xml:space="preserve">Why the current shape hurts, and what the pattern changes about dependencies and responsibilities.</a:t>
            </a:r>
            <a:endParaRPr sz="1500"/>
          </a:p>
        </p:txBody>
      </p:sp>
      <p:sp>
        <p:nvSpPr>
          <p:cNvPr id="15" name="Text 15"/>
          <p:cNvSpPr txBox="1"/>
          <p:nvPr/>
        </p:nvSpPr>
        <p:spPr>
          <a:xfrm>
            <a:off x="609600" y="5552440"/>
            <a:ext cx="2794000" cy="292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800"/>
              </a:lnSpc>
            </a:pPr>
            <a:r>
              <a:rPr lang="en-US" sz="1500" b="1">
                <a:solidFill>
                  <a:srgbClr val="151B27"/>
                </a:solidFill>
                <a:latin typeface="Arial"/>
              </a:rPr>
              <a:t xml:space="preserve">Before / After UML</a:t>
            </a:r>
            <a:endParaRPr sz="1500"/>
          </a:p>
        </p:txBody>
      </p:sp>
      <p:sp>
        <p:nvSpPr>
          <p:cNvPr id="16" name="Text 16"/>
          <p:cNvSpPr txBox="1"/>
          <p:nvPr/>
        </p:nvSpPr>
        <p:spPr>
          <a:xfrm>
            <a:off x="3556000" y="5552440"/>
            <a:ext cx="14122400" cy="317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00"/>
              </a:lnSpc>
            </a:pPr>
            <a:r>
              <a:rPr lang="en-US" sz="1500">
                <a:solidFill>
                  <a:srgbClr val="192331"/>
                </a:solidFill>
                <a:latin typeface="Arial"/>
              </a:rPr>
              <a:t xml:space="preserve">Always includes a Client box. Follow dashed arrows from Client to see what caller code must know. After should depend on a narrow API, not a pile of concretes.</a:t>
            </a:r>
            <a:endParaRPr sz="1500"/>
          </a:p>
        </p:txBody>
      </p:sp>
      <p:sp>
        <p:nvSpPr>
          <p:cNvPr id="17" name="Text 17"/>
          <p:cNvSpPr txBox="1"/>
          <p:nvPr/>
        </p:nvSpPr>
        <p:spPr>
          <a:xfrm>
            <a:off x="609600" y="5908040"/>
            <a:ext cx="2794000" cy="292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800"/>
              </a:lnSpc>
            </a:pPr>
            <a:r>
              <a:rPr lang="en-US" sz="1500" b="1">
                <a:solidFill>
                  <a:srgbClr val="151B27"/>
                </a:solidFill>
                <a:latin typeface="Arial"/>
              </a:rPr>
              <a:t xml:space="preserve">Client Code</a:t>
            </a:r>
            <a:endParaRPr sz="1500"/>
          </a:p>
        </p:txBody>
      </p:sp>
      <p:sp>
        <p:nvSpPr>
          <p:cNvPr id="18" name="Text 18"/>
          <p:cNvSpPr txBox="1"/>
          <p:nvPr/>
        </p:nvSpPr>
        <p:spPr>
          <a:xfrm>
            <a:off x="3556000" y="5908040"/>
            <a:ext cx="14122400" cy="317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00"/>
              </a:lnSpc>
            </a:pPr>
            <a:r>
              <a:rPr lang="en-US" sz="1500">
                <a:solidFill>
                  <a:srgbClr val="192331"/>
                </a:solidFill>
                <a:latin typeface="Arial"/>
              </a:rPr>
              <a:t xml:space="preserve">How the other developer uses (or is forced to misuse) your module.</a:t>
            </a:r>
            <a:endParaRPr sz="1500"/>
          </a:p>
        </p:txBody>
      </p:sp>
      <p:sp>
        <p:nvSpPr>
          <p:cNvPr id="19" name="Text 19"/>
          <p:cNvSpPr txBox="1"/>
          <p:nvPr/>
        </p:nvSpPr>
        <p:spPr>
          <a:xfrm>
            <a:off x="609600" y="6263640"/>
            <a:ext cx="2794000" cy="292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800"/>
              </a:lnSpc>
            </a:pPr>
            <a:r>
              <a:rPr lang="en-US" sz="1500" b="1">
                <a:solidFill>
                  <a:srgbClr val="151B27"/>
                </a:solidFill>
                <a:latin typeface="Arial"/>
              </a:rPr>
              <a:t xml:space="preserve">Module Code</a:t>
            </a:r>
            <a:endParaRPr sz="1500"/>
          </a:p>
        </p:txBody>
      </p:sp>
      <p:sp>
        <p:nvSpPr>
          <p:cNvPr id="20" name="Text 20"/>
          <p:cNvSpPr txBox="1"/>
          <p:nvPr/>
        </p:nvSpPr>
        <p:spPr>
          <a:xfrm>
            <a:off x="3556000" y="6263640"/>
            <a:ext cx="14122400" cy="317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00"/>
              </a:lnSpc>
            </a:pPr>
            <a:r>
              <a:rPr lang="en-US" sz="1500">
                <a:solidFill>
                  <a:srgbClr val="192331"/>
                </a:solidFill>
                <a:latin typeface="Arial"/>
              </a:rPr>
              <a:t xml:space="preserve">The API boundary you hand over—the implementation clients should not need to reopen when requirements grow.</a:t>
            </a:r>
            <a:endParaRPr sz="1500"/>
          </a:p>
        </p:txBody>
      </p:sp>
      <p:sp>
        <p:nvSpPr>
          <p:cNvPr id="21" name="Panel 21"/>
          <p:cNvSpPr/>
          <p:nvPr/>
        </p:nvSpPr>
        <p:spPr>
          <a:xfrm>
            <a:off x="609600" y="9169400"/>
            <a:ext cx="17068800" cy="609600"/>
          </a:xfrm>
          <a:prstGeom prst="rect">
            <a:avLst/>
          </a:prstGeom>
          <a:solidFill>
            <a:srgbClr val="EDF0F6"/>
          </a:solidFill>
          <a:ln>
            <a:noFill/>
          </a:ln>
        </p:spPr>
      </p:sp>
      <p:sp>
        <p:nvSpPr>
          <p:cNvPr id="22" name="Text 22"/>
          <p:cNvSpPr txBox="1"/>
          <p:nvPr/>
        </p:nvSpPr>
        <p:spPr>
          <a:xfrm>
            <a:off x="812800" y="9347200"/>
            <a:ext cx="16662400" cy="292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800"/>
              </a:lnSpc>
            </a:pPr>
            <a:r>
              <a:rPr lang="en-US" sz="1500">
                <a:solidFill>
                  <a:srgbClr val="374151"/>
                </a:solidFill>
                <a:latin typeface="Arial"/>
              </a:rPr>
              <a:t xml:space="preserve">Look for fewer Client dependencies after the pattern, and for module code that stays easy to use while remaining easy to extend.</a:t>
            </a:r>
            <a:endParaRPr sz="1500"/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 3"/>
          <p:cNvSpPr txBox="1"/>
          <p:nvPr/>
        </p:nvSpPr>
        <p:spPr>
          <a:xfrm>
            <a:off x="304800" y="114300"/>
            <a:ext cx="5842000" cy="7340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5280"/>
              </a:lnSpc>
            </a:pPr>
            <a:r>
              <a:rPr lang="en-US" sz="4400" b="1">
                <a:solidFill>
                  <a:srgbClr val="101319"/>
                </a:solidFill>
                <a:latin typeface="Arial"/>
              </a:rPr>
              <a:t xml:space="preserve">Singleton</a:t>
            </a:r>
            <a:endParaRPr sz="4400"/>
          </a:p>
        </p:txBody>
      </p:sp>
      <p:sp>
        <p:nvSpPr>
          <p:cNvPr id="4" name="Panel 4"/>
          <p:cNvSpPr/>
          <p:nvPr/>
        </p:nvSpPr>
        <p:spPr>
          <a:xfrm>
            <a:off x="3155493" y="177800"/>
            <a:ext cx="25400" cy="660400"/>
          </a:xfrm>
          <a:prstGeom prst="rect">
            <a:avLst/>
          </a:prstGeom>
          <a:solidFill>
            <a:srgbClr val="858E9E"/>
          </a:soli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3384093" y="165100"/>
            <a:ext cx="14434007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>
                <a:solidFill>
                  <a:srgbClr val="596273"/>
                </a:solidFill>
                <a:latin typeface="Arial"/>
              </a:rPr>
              <a:t xml:space="preserve">Creational Design Pattern</a:t>
            </a:r>
            <a:endParaRPr sz="1700"/>
          </a:p>
        </p:txBody>
      </p:sp>
      <p:sp>
        <p:nvSpPr>
          <p:cNvPr id="6" name="Text 6"/>
          <p:cNvSpPr txBox="1"/>
          <p:nvPr/>
        </p:nvSpPr>
        <p:spPr>
          <a:xfrm>
            <a:off x="3384093" y="469900"/>
            <a:ext cx="14434007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>
                <a:solidFill>
                  <a:srgbClr val="182230"/>
                </a:solidFill>
                <a:latin typeface="Arial"/>
              </a:rPr>
              <a:t xml:space="preserve">Ensures a class has only one instance and provides a global point of access to it.</a:t>
            </a:r>
            <a:endParaRPr sz="1800"/>
          </a:p>
        </p:txBody>
      </p:sp>
      <p:sp>
        <p:nvSpPr>
          <p:cNvPr id="7" name="Panel 7"/>
          <p:cNvSpPr/>
          <p:nvPr/>
        </p:nvSpPr>
        <p:spPr>
          <a:xfrm>
            <a:off x="304800" y="965200"/>
            <a:ext cx="17678400" cy="304800"/>
          </a:xfrm>
          <a:prstGeom prst="rect">
            <a:avLst/>
          </a:prstGeom>
          <a:solidFill>
            <a:srgbClr val="EDF0F6"/>
          </a:solidFill>
          <a:ln>
            <a:noFill/>
          </a:ln>
        </p:spPr>
      </p:sp>
      <p:sp>
        <p:nvSpPr>
          <p:cNvPr id="8" name="Text 8"/>
          <p:cNvSpPr txBox="1"/>
          <p:nvPr/>
        </p:nvSpPr>
        <p:spPr>
          <a:xfrm>
            <a:off x="431800" y="1003300"/>
            <a:ext cx="158750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374151"/>
                </a:solidFill>
                <a:latin typeface="Arial"/>
              </a:rPr>
              <a:t xml:space="preserve">CASE STUDY: Shared Config across services</a:t>
            </a:r>
            <a:endParaRPr sz="1300"/>
          </a:p>
        </p:txBody>
      </p:sp>
      <p:sp>
        <p:nvSpPr>
          <p:cNvPr id="9" name="Text 9"/>
          <p:cNvSpPr txBox="1"/>
          <p:nvPr/>
        </p:nvSpPr>
        <p:spPr>
          <a:xfrm>
            <a:off x="17018000" y="1003300"/>
            <a:ext cx="9525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374151"/>
                </a:solidFill>
                <a:latin typeface="Arial"/>
              </a:rPr>
              <a:t xml:space="preserve">01 / 14</a:t>
            </a:r>
            <a:endParaRPr sz="1300"/>
          </a:p>
        </p:txBody>
      </p:sp>
      <p:sp>
        <p:nvSpPr>
          <p:cNvPr id="10" name="Panel 10"/>
          <p:cNvSpPr/>
          <p:nvPr/>
        </p:nvSpPr>
        <p:spPr>
          <a:xfrm>
            <a:off x="304800" y="1384300"/>
            <a:ext cx="8686800" cy="1041400"/>
          </a:xfrm>
          <a:prstGeom prst="rect">
            <a:avLst/>
          </a:prstGeom>
          <a:solidFill>
            <a:srgbClr val="EFA5AA"/>
          </a:solidFill>
          <a:ln>
            <a:noFill/>
          </a:ln>
        </p:spPr>
      </p:sp>
      <p:sp>
        <p:nvSpPr>
          <p:cNvPr id="11" name="Panel 11"/>
          <p:cNvSpPr/>
          <p:nvPr/>
        </p:nvSpPr>
        <p:spPr>
          <a:xfrm>
            <a:off x="330200" y="1409700"/>
            <a:ext cx="8636000" cy="990600"/>
          </a:xfrm>
          <a:prstGeom prst="rect">
            <a:avLst/>
          </a:prstGeom>
          <a:solidFill>
            <a:srgbClr val="FFE2E3"/>
          </a:solidFill>
          <a:ln>
            <a:noFill/>
          </a:ln>
        </p:spPr>
      </p:sp>
      <p:sp>
        <p:nvSpPr>
          <p:cNvPr id="12" name="Panel 12"/>
          <p:cNvSpPr/>
          <p:nvPr/>
        </p:nvSpPr>
        <p:spPr>
          <a:xfrm>
            <a:off x="431800" y="1473200"/>
            <a:ext cx="63500" cy="228600"/>
          </a:xfrm>
          <a:prstGeom prst="rect">
            <a:avLst/>
          </a:prstGeom>
          <a:solidFill>
            <a:srgbClr val="C5222B"/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596900" y="1422400"/>
            <a:ext cx="8153400" cy="3073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920"/>
              </a:lnSpc>
            </a:pPr>
            <a:r>
              <a:rPr lang="en-US" sz="1600" b="1">
                <a:solidFill>
                  <a:srgbClr val="C5222B"/>
                </a:solidFill>
                <a:latin typeface="Arial"/>
              </a:rPr>
              <a:t xml:space="preserve">Problem</a:t>
            </a:r>
            <a:endParaRPr sz="1600"/>
          </a:p>
        </p:txBody>
      </p:sp>
      <p:sp>
        <p:nvSpPr>
          <p:cNvPr id="14" name="Text 14"/>
          <p:cNvSpPr txBox="1"/>
          <p:nvPr/>
        </p:nvSpPr>
        <p:spPr>
          <a:xfrm>
            <a:off x="520700" y="1651000"/>
            <a:ext cx="8255000" cy="5207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192331"/>
                </a:solidFill>
                <a:latin typeface="Arial"/>
              </a:rPr>
              <a:t xml:space="preserve">• User drives UserService / OrderService / ReportService; each needs Config.</a:t>
            </a:r>
            <a:endParaRPr sz="1000"/>
          </a:p>
          <a:p>
            <a:pPr>
              <a:lnSpc>
                <a:spcPts val="1200"/>
              </a:lnSpc>
            </a:pPr>
            <a:r>
              <a:rPr lang="en-US" sz="1000">
                <a:solidFill>
                  <a:srgbClr val="192331"/>
                </a:solidFill>
                <a:latin typeface="Arial"/>
              </a:rPr>
              <a:t xml:space="preserve">• Call order is not fixed—any service may run first.</a:t>
            </a:r>
            <a:endParaRPr sz="1000"/>
          </a:p>
          <a:p>
            <a:pPr>
              <a:lnSpc>
                <a:spcPts val="1200"/>
              </a:lnSpc>
            </a:pPr>
            <a:r>
              <a:rPr lang="en-US" sz="1000">
                <a:solidFill>
                  <a:srgbClr val="192331"/>
                </a:solidFill>
                <a:latin typeface="Arial"/>
              </a:rPr>
              <a:t xml:space="preserve">• Each service copies if config == null: config = new Config() → multiple instances.</a:t>
            </a:r>
            <a:endParaRPr sz="1000"/>
          </a:p>
        </p:txBody>
      </p:sp>
      <p:sp>
        <p:nvSpPr>
          <p:cNvPr id="15" name="Panel 15"/>
          <p:cNvSpPr/>
          <p:nvPr/>
        </p:nvSpPr>
        <p:spPr>
          <a:xfrm>
            <a:off x="304800" y="2501900"/>
            <a:ext cx="8686800" cy="28321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16" name="Panel 16"/>
          <p:cNvSpPr/>
          <p:nvPr/>
        </p:nvSpPr>
        <p:spPr>
          <a:xfrm>
            <a:off x="330200" y="2527300"/>
            <a:ext cx="8636000" cy="27813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7" name="Panel 17"/>
          <p:cNvSpPr/>
          <p:nvPr/>
        </p:nvSpPr>
        <p:spPr>
          <a:xfrm>
            <a:off x="330200" y="2527300"/>
            <a:ext cx="8636000" cy="3048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18" name="Text 18"/>
          <p:cNvSpPr txBox="1"/>
          <p:nvPr/>
        </p:nvSpPr>
        <p:spPr>
          <a:xfrm>
            <a:off x="457200" y="2540000"/>
            <a:ext cx="83820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151B27"/>
                </a:solidFill>
                <a:latin typeface="Arial"/>
              </a:rPr>
              <a:t xml:space="preserve">Before (direct coupling)</a:t>
            </a:r>
            <a:endParaRPr sz="1300"/>
          </a:p>
        </p:txBody>
      </p:sp>
      <p:pic>
        <p:nvPicPr>
          <p:cNvPr id="19" name="UML class diagram"/>
          <p:cNvPicPr/>
          <p:nvPr/>
        </p:nvPicPr>
        <p:blipFill>
          <a:blip r:embed="rId2"/>
          <a:stretch>
            <a:fillRect/>
          </a:stretch>
        </p:blipFill>
        <p:spPr>
          <a:xfrm>
            <a:off x="444500" y="2857500"/>
            <a:ext cx="8382000" cy="2425700"/>
          </a:xfrm>
          <a:prstGeom prst="rect">
            <a:avLst/>
          </a:prstGeom>
        </p:spPr>
      </p:pic>
      <p:sp>
        <p:nvSpPr>
          <p:cNvPr id="20" name="Panel 20"/>
          <p:cNvSpPr/>
          <p:nvPr/>
        </p:nvSpPr>
        <p:spPr>
          <a:xfrm>
            <a:off x="9296400" y="1384300"/>
            <a:ext cx="8686800" cy="1041400"/>
          </a:xfrm>
          <a:prstGeom prst="rect">
            <a:avLst/>
          </a:prstGeom>
          <a:solidFill>
            <a:srgbClr val="94D9D1"/>
          </a:solidFill>
          <a:ln>
            <a:noFill/>
          </a:ln>
        </p:spPr>
      </p:sp>
      <p:sp>
        <p:nvSpPr>
          <p:cNvPr id="21" name="Panel 21"/>
          <p:cNvSpPr/>
          <p:nvPr/>
        </p:nvSpPr>
        <p:spPr>
          <a:xfrm>
            <a:off x="9321800" y="1409700"/>
            <a:ext cx="8636000" cy="990600"/>
          </a:xfrm>
          <a:prstGeom prst="rect">
            <a:avLst/>
          </a:prstGeom>
          <a:solidFill>
            <a:srgbClr val="D9F5F0"/>
          </a:solidFill>
          <a:ln>
            <a:noFill/>
          </a:ln>
        </p:spPr>
      </p:sp>
      <p:sp>
        <p:nvSpPr>
          <p:cNvPr id="22" name="Panel 22"/>
          <p:cNvSpPr/>
          <p:nvPr/>
        </p:nvSpPr>
        <p:spPr>
          <a:xfrm>
            <a:off x="9423400" y="1473200"/>
            <a:ext cx="63500" cy="228600"/>
          </a:xfrm>
          <a:prstGeom prst="rect">
            <a:avLst/>
          </a:prstGeom>
          <a:solidFill>
            <a:srgbClr val="007E78"/>
          </a:solidFill>
          <a:ln>
            <a:noFill/>
          </a:ln>
        </p:spPr>
      </p:sp>
      <p:sp>
        <p:nvSpPr>
          <p:cNvPr id="23" name="Text 23"/>
          <p:cNvSpPr txBox="1"/>
          <p:nvPr/>
        </p:nvSpPr>
        <p:spPr>
          <a:xfrm>
            <a:off x="9588500" y="1422400"/>
            <a:ext cx="8153400" cy="3073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920"/>
              </a:lnSpc>
            </a:pPr>
            <a:r>
              <a:rPr lang="en-US" sz="1600" b="1">
                <a:solidFill>
                  <a:srgbClr val="007E78"/>
                </a:solidFill>
                <a:latin typeface="Arial"/>
              </a:rPr>
              <a:t xml:space="preserve">Solution</a:t>
            </a:r>
            <a:endParaRPr sz="1600"/>
          </a:p>
        </p:txBody>
      </p:sp>
      <p:sp>
        <p:nvSpPr>
          <p:cNvPr id="24" name="Text 24"/>
          <p:cNvSpPr txBox="1"/>
          <p:nvPr/>
        </p:nvSpPr>
        <p:spPr>
          <a:xfrm>
            <a:off x="9512300" y="1651000"/>
            <a:ext cx="8255000" cy="5207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192331"/>
                </a:solidFill>
                <a:latin typeface="Arial"/>
              </a:rPr>
              <a:t xml:space="preserve">• User still calls doWork(); services only call Config.getInstance().</a:t>
            </a:r>
            <a:endParaRPr sz="1000"/>
          </a:p>
          <a:p>
            <a:pPr>
              <a:lnSpc>
                <a:spcPts val="1200"/>
              </a:lnSpc>
            </a:pPr>
            <a:r>
              <a:rPr lang="en-US" sz="1000">
                <a:solidFill>
                  <a:srgbClr val="192331"/>
                </a:solidFill>
                <a:latin typeface="Arial"/>
              </a:rPr>
              <a:t xml:space="preserve">• The null-check and construction live once inside Config.</a:t>
            </a:r>
            <a:endParaRPr sz="1000"/>
          </a:p>
          <a:p>
            <a:pPr>
              <a:lnSpc>
                <a:spcPts val="1200"/>
              </a:lnSpc>
            </a:pPr>
            <a:r>
              <a:rPr lang="en-US" sz="1000">
                <a:solidFill>
                  <a:srgbClr val="192331"/>
                </a:solidFill>
                <a:latin typeface="Arial"/>
              </a:rPr>
              <a:t xml:space="preserve">• First caller creates it; every service shares that instance.</a:t>
            </a:r>
            <a:endParaRPr sz="1000"/>
          </a:p>
        </p:txBody>
      </p:sp>
      <p:sp>
        <p:nvSpPr>
          <p:cNvPr id="25" name="Panel 25"/>
          <p:cNvSpPr/>
          <p:nvPr/>
        </p:nvSpPr>
        <p:spPr>
          <a:xfrm>
            <a:off x="9296400" y="2501900"/>
            <a:ext cx="8686800" cy="28321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26" name="Panel 26"/>
          <p:cNvSpPr/>
          <p:nvPr/>
        </p:nvSpPr>
        <p:spPr>
          <a:xfrm>
            <a:off x="9321800" y="2527300"/>
            <a:ext cx="8636000" cy="27813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7" name="Panel 27"/>
          <p:cNvSpPr/>
          <p:nvPr/>
        </p:nvSpPr>
        <p:spPr>
          <a:xfrm>
            <a:off x="9321800" y="2527300"/>
            <a:ext cx="8636000" cy="3048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28" name="Text 28"/>
          <p:cNvSpPr txBox="1"/>
          <p:nvPr/>
        </p:nvSpPr>
        <p:spPr>
          <a:xfrm>
            <a:off x="9448800" y="2540000"/>
            <a:ext cx="83820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151B27"/>
                </a:solidFill>
                <a:latin typeface="Arial"/>
              </a:rPr>
              <a:t xml:space="preserve">After (using Singleton)</a:t>
            </a:r>
            <a:endParaRPr sz="1300"/>
          </a:p>
        </p:txBody>
      </p:sp>
      <p:pic>
        <p:nvPicPr>
          <p:cNvPr id="29" name="UML class diagram"/>
          <p:cNvPicPr/>
          <p:nvPr/>
        </p:nvPicPr>
        <p:blipFill>
          <a:blip r:embed="rId3"/>
          <a:stretch>
            <a:fillRect/>
          </a:stretch>
        </p:blipFill>
        <p:spPr>
          <a:xfrm>
            <a:off x="9436100" y="2857500"/>
            <a:ext cx="8382000" cy="2425700"/>
          </a:xfrm>
          <a:prstGeom prst="rect">
            <a:avLst/>
          </a:prstGeom>
        </p:spPr>
      </p:pic>
      <p:sp>
        <p:nvSpPr>
          <p:cNvPr id="30" name="Panel 30"/>
          <p:cNvSpPr/>
          <p:nvPr/>
        </p:nvSpPr>
        <p:spPr>
          <a:xfrm>
            <a:off x="304800" y="5435600"/>
            <a:ext cx="8686800" cy="14224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31" name="Panel 31"/>
          <p:cNvSpPr/>
          <p:nvPr/>
        </p:nvSpPr>
        <p:spPr>
          <a:xfrm>
            <a:off x="330200" y="5461000"/>
            <a:ext cx="8636000" cy="13716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32" name="Panel 32"/>
          <p:cNvSpPr/>
          <p:nvPr/>
        </p:nvSpPr>
        <p:spPr>
          <a:xfrm>
            <a:off x="330200" y="5461000"/>
            <a:ext cx="8636000" cy="3048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33" name="Text 33"/>
          <p:cNvSpPr txBox="1"/>
          <p:nvPr/>
        </p:nvSpPr>
        <p:spPr>
          <a:xfrm>
            <a:off x="457200" y="5473700"/>
            <a:ext cx="6985000" cy="2768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680"/>
              </a:lnSpc>
            </a:pPr>
            <a:r>
              <a:rPr lang="en-US" sz="1400" b="1">
                <a:solidFill>
                  <a:srgbClr val="161D2B"/>
                </a:solidFill>
                <a:latin typeface="Arial"/>
              </a:rPr>
              <a:t xml:space="preserve">Service Code (Before)</a:t>
            </a:r>
            <a:endParaRPr sz="1400"/>
          </a:p>
        </p:txBody>
      </p:sp>
      <p:sp>
        <p:nvSpPr>
          <p:cNvPr id="34" name="Text 34"/>
          <p:cNvSpPr txBox="1"/>
          <p:nvPr/>
        </p:nvSpPr>
        <p:spPr>
          <a:xfrm>
            <a:off x="7594600" y="5511800"/>
            <a:ext cx="1270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000"/>
          </a:p>
        </p:txBody>
      </p:sp>
      <p:sp>
        <p:nvSpPr>
          <p:cNvPr id="35" name="Code 35"/>
          <p:cNvSpPr txBox="1"/>
          <p:nvPr/>
        </p:nvSpPr>
        <p:spPr>
          <a:xfrm>
            <a:off x="482600" y="5791200"/>
            <a:ext cx="8255000" cy="1079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600"/>
              </a:lnSpc>
            </a:pPr>
            <a:r>
              <a:rPr lang="en-US" sz="1300">
                <a:solidFill>
                  <a:srgbClr val="64748B"/>
                </a:solidFill>
                <a:latin typeface="Courier New"/>
              </a:rPr>
              <a:t xml:space="preserve">// inside each service (User API unchanged)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0B57D0"/>
                </a:solidFill>
                <a:latin typeface="Courier New"/>
              </a:rPr>
              <a:t xml:space="preserve">if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config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=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=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B57D0"/>
                </a:solidFill>
                <a:latin typeface="Courier New"/>
              </a:rPr>
              <a:t xml:space="preserve">null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: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   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config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=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B57D0"/>
                </a:solidFill>
                <a:latin typeface="Courier New"/>
              </a:rPr>
              <a:t xml:space="preserve">new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F766E"/>
                </a:solidFill>
                <a:latin typeface="Courier New"/>
              </a:rPr>
              <a:t xml:space="preserve">Config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config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load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64748B"/>
                </a:solidFill>
                <a:latin typeface="Courier New"/>
              </a:rPr>
              <a:t xml:space="preserve">// same guard in UserService, OrderService, ReportService</a:t>
            </a:r>
            <a:endParaRPr sz="1300"/>
          </a:p>
        </p:txBody>
      </p:sp>
      <p:sp>
        <p:nvSpPr>
          <p:cNvPr id="36" name="Panel 36"/>
          <p:cNvSpPr/>
          <p:nvPr/>
        </p:nvSpPr>
        <p:spPr>
          <a:xfrm>
            <a:off x="9296400" y="5435600"/>
            <a:ext cx="8686800" cy="14224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37" name="Panel 37"/>
          <p:cNvSpPr/>
          <p:nvPr/>
        </p:nvSpPr>
        <p:spPr>
          <a:xfrm>
            <a:off x="9321800" y="5461000"/>
            <a:ext cx="8636000" cy="13716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38" name="Panel 38"/>
          <p:cNvSpPr/>
          <p:nvPr/>
        </p:nvSpPr>
        <p:spPr>
          <a:xfrm>
            <a:off x="9321800" y="5461000"/>
            <a:ext cx="8636000" cy="3048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39" name="Text 39"/>
          <p:cNvSpPr txBox="1"/>
          <p:nvPr/>
        </p:nvSpPr>
        <p:spPr>
          <a:xfrm>
            <a:off x="9448800" y="5473700"/>
            <a:ext cx="6985000" cy="2768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680"/>
              </a:lnSpc>
            </a:pPr>
            <a:r>
              <a:rPr lang="en-US" sz="1400" b="1">
                <a:solidFill>
                  <a:srgbClr val="161D2B"/>
                </a:solidFill>
                <a:latin typeface="Arial"/>
              </a:rPr>
              <a:t xml:space="preserve">Service Code (After)</a:t>
            </a:r>
            <a:endParaRPr sz="1400"/>
          </a:p>
        </p:txBody>
      </p:sp>
      <p:sp>
        <p:nvSpPr>
          <p:cNvPr id="40" name="Text 40"/>
          <p:cNvSpPr txBox="1"/>
          <p:nvPr/>
        </p:nvSpPr>
        <p:spPr>
          <a:xfrm>
            <a:off x="16586200" y="5511800"/>
            <a:ext cx="1270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000"/>
          </a:p>
        </p:txBody>
      </p:sp>
      <p:sp>
        <p:nvSpPr>
          <p:cNvPr id="41" name="Code 41"/>
          <p:cNvSpPr txBox="1"/>
          <p:nvPr/>
        </p:nvSpPr>
        <p:spPr>
          <a:xfrm>
            <a:off x="9474200" y="5791200"/>
            <a:ext cx="8255000" cy="8763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600"/>
              </a:lnSpc>
            </a:pPr>
            <a:r>
              <a:rPr lang="en-US" sz="1300">
                <a:solidFill>
                  <a:srgbClr val="64748B"/>
                </a:solidFill>
                <a:latin typeface="Courier New"/>
              </a:rPr>
              <a:t xml:space="preserve">// inside each service (User API unchanged)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config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=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F766E"/>
                </a:solidFill>
                <a:latin typeface="Courier New"/>
              </a:rPr>
              <a:t xml:space="preserve">Config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getInstance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config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load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64748B"/>
                </a:solidFill>
                <a:latin typeface="Courier New"/>
              </a:rPr>
              <a:t xml:space="preserve">// same load; guard moved into Config</a:t>
            </a:r>
            <a:endParaRPr sz="1300"/>
          </a:p>
        </p:txBody>
      </p:sp>
      <p:sp>
        <p:nvSpPr>
          <p:cNvPr id="42" name="Panel 42"/>
          <p:cNvSpPr/>
          <p:nvPr/>
        </p:nvSpPr>
        <p:spPr>
          <a:xfrm>
            <a:off x="304800" y="6934200"/>
            <a:ext cx="17678400" cy="30226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43" name="Panel 43"/>
          <p:cNvSpPr/>
          <p:nvPr/>
        </p:nvSpPr>
        <p:spPr>
          <a:xfrm>
            <a:off x="330200" y="6959600"/>
            <a:ext cx="17627600" cy="29718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44" name="Panel 44"/>
          <p:cNvSpPr/>
          <p:nvPr/>
        </p:nvSpPr>
        <p:spPr>
          <a:xfrm>
            <a:off x="330200" y="6959600"/>
            <a:ext cx="17627600" cy="3048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45" name="Text 45"/>
          <p:cNvSpPr txBox="1"/>
          <p:nvPr/>
        </p:nvSpPr>
        <p:spPr>
          <a:xfrm>
            <a:off x="457200" y="6985000"/>
            <a:ext cx="15240000" cy="292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800"/>
              </a:lnSpc>
            </a:pPr>
            <a:r>
              <a:rPr lang="en-US" sz="1500" b="1">
                <a:solidFill>
                  <a:srgbClr val="161D2B"/>
                </a:solidFill>
                <a:latin typeface="Arial"/>
              </a:rPr>
              <a:t xml:space="preserve">Module Code (API boundary)</a:t>
            </a:r>
            <a:endParaRPr sz="1500"/>
          </a:p>
        </p:txBody>
      </p:sp>
      <p:sp>
        <p:nvSpPr>
          <p:cNvPr id="46" name="Text 46"/>
          <p:cNvSpPr txBox="1"/>
          <p:nvPr/>
        </p:nvSpPr>
        <p:spPr>
          <a:xfrm>
            <a:off x="16459200" y="7023100"/>
            <a:ext cx="13335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000"/>
          </a:p>
        </p:txBody>
      </p:sp>
      <p:sp>
        <p:nvSpPr>
          <p:cNvPr id="47" name="Code 47"/>
          <p:cNvSpPr txBox="1"/>
          <p:nvPr/>
        </p:nvSpPr>
        <p:spPr>
          <a:xfrm>
            <a:off x="482600" y="7315200"/>
            <a:ext cx="17322800" cy="157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700"/>
              </a:lnSpc>
            </a:pPr>
            <a:r>
              <a:rPr lang="en-US" sz="1400">
                <a:solidFill>
                  <a:srgbClr val="64748B"/>
                </a:solidFill>
                <a:latin typeface="Courier New"/>
              </a:rPr>
              <a:t xml:space="preserve">// MODULE — Config singleton (owns the lazy init)</a:t>
            </a:r>
            <a:endParaRPr sz="1400"/>
          </a:p>
          <a:p>
            <a:pPr>
              <a:lnSpc>
                <a:spcPts val="1700"/>
              </a:lnSpc>
            </a:pPr>
            <a:r>
              <a:rPr lang="en-US" sz="1400">
                <a:solidFill>
                  <a:srgbClr val="18356F"/>
                </a:solidFill>
                <a:latin typeface="Courier New"/>
              </a:rPr>
              <a:t xml:space="preserve">private</a:t>
            </a:r>
            <a:r>
              <a:rPr lang="en-US" sz="14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400">
                <a:solidFill>
                  <a:srgbClr val="0B57D0"/>
                </a:solidFill>
                <a:latin typeface="Courier New"/>
              </a:rPr>
              <a:t xml:space="preserve">static</a:t>
            </a:r>
            <a:r>
              <a:rPr lang="en-US" sz="14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400">
                <a:solidFill>
                  <a:srgbClr val="18356F"/>
                </a:solidFill>
                <a:latin typeface="Courier New"/>
              </a:rPr>
              <a:t xml:space="preserve">instance</a:t>
            </a:r>
            <a:endParaRPr sz="1400"/>
          </a:p>
          <a:p>
            <a:pPr>
              <a:lnSpc>
                <a:spcPts val="1700"/>
              </a:lnSpc>
            </a:pPr>
            <a:r>
              <a:rPr lang="en-US" sz="1400">
                <a:solidFill>
                  <a:srgbClr val="18356F"/>
                </a:solidFill>
                <a:latin typeface="Courier New"/>
              </a:rPr>
              <a:t xml:space="preserve">private</a:t>
            </a:r>
            <a:r>
              <a:rPr lang="en-US" sz="14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400">
                <a:solidFill>
                  <a:srgbClr val="0F766E"/>
                </a:solidFill>
                <a:latin typeface="Courier New"/>
              </a:rPr>
              <a:t xml:space="preserve">Config</a:t>
            </a:r>
            <a:r>
              <a:rPr lang="en-US" sz="14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400">
                <a:solidFill>
                  <a:srgbClr val="4B5563"/>
                </a:solidFill>
                <a:latin typeface="Courier New"/>
              </a:rPr>
              <a:t xml:space="preserve">)</a:t>
            </a:r>
            <a:r>
              <a:rPr lang="en-US" sz="1400">
                <a:solidFill>
                  <a:srgbClr val="4B5563"/>
                </a:solidFill>
                <a:latin typeface="Courier New"/>
              </a:rPr>
              <a:t xml:space="preserve">:</a:t>
            </a:r>
            <a:r>
              <a:rPr lang="en-US" sz="14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400">
                <a:solidFill>
                  <a:srgbClr val="18356F"/>
                </a:solidFill>
                <a:latin typeface="Courier New"/>
              </a:rPr>
              <a:t xml:space="preserve">load</a:t>
            </a:r>
            <a:r>
              <a:rPr lang="en-US" sz="14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400">
                <a:solidFill>
                  <a:srgbClr val="4B5563"/>
                </a:solidFill>
                <a:latin typeface="Courier New"/>
              </a:rPr>
              <a:t xml:space="preserve">)</a:t>
            </a:r>
            <a:endParaRPr sz="1400"/>
          </a:p>
          <a:p>
            <a:pPr>
              <a:lnSpc>
                <a:spcPts val="1700"/>
              </a:lnSpc>
            </a:pPr>
            <a:r>
              <a:rPr lang="en-US" sz="1400">
                <a:solidFill>
                  <a:srgbClr val="0B57D0"/>
                </a:solidFill>
                <a:latin typeface="Courier New"/>
              </a:rPr>
              <a:t xml:space="preserve">static</a:t>
            </a:r>
            <a:r>
              <a:rPr lang="en-US" sz="14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400">
                <a:solidFill>
                  <a:srgbClr val="18356F"/>
                </a:solidFill>
                <a:latin typeface="Courier New"/>
              </a:rPr>
              <a:t xml:space="preserve">getInstance</a:t>
            </a:r>
            <a:r>
              <a:rPr lang="en-US" sz="14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400">
                <a:solidFill>
                  <a:srgbClr val="4B5563"/>
                </a:solidFill>
                <a:latin typeface="Courier New"/>
              </a:rPr>
              <a:t xml:space="preserve">)</a:t>
            </a:r>
            <a:r>
              <a:rPr lang="en-US" sz="1400">
                <a:solidFill>
                  <a:srgbClr val="4B5563"/>
                </a:solidFill>
                <a:latin typeface="Courier New"/>
              </a:rPr>
              <a:t xml:space="preserve">:</a:t>
            </a:r>
            <a:endParaRPr sz="1400"/>
          </a:p>
          <a:p>
            <a:pPr>
              <a:lnSpc>
                <a:spcPts val="1700"/>
              </a:lnSpc>
            </a:pPr>
            <a:r>
              <a:rPr lang="en-US" sz="1400">
                <a:solidFill>
                  <a:srgbClr val="18356F"/>
                </a:solidFill>
                <a:latin typeface="Courier New"/>
              </a:rPr>
              <a:t xml:space="preserve">    </a:t>
            </a:r>
            <a:r>
              <a:rPr lang="en-US" sz="1400">
                <a:solidFill>
                  <a:srgbClr val="0B57D0"/>
                </a:solidFill>
                <a:latin typeface="Courier New"/>
              </a:rPr>
              <a:t xml:space="preserve">if</a:t>
            </a:r>
            <a:r>
              <a:rPr lang="en-US" sz="14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400">
                <a:solidFill>
                  <a:srgbClr val="18356F"/>
                </a:solidFill>
                <a:latin typeface="Courier New"/>
              </a:rPr>
              <a:t xml:space="preserve">instance</a:t>
            </a:r>
            <a:r>
              <a:rPr lang="en-US" sz="14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400">
                <a:solidFill>
                  <a:srgbClr val="4B5563"/>
                </a:solidFill>
                <a:latin typeface="Courier New"/>
              </a:rPr>
              <a:t xml:space="preserve">=</a:t>
            </a:r>
            <a:r>
              <a:rPr lang="en-US" sz="1400">
                <a:solidFill>
                  <a:srgbClr val="4B5563"/>
                </a:solidFill>
                <a:latin typeface="Courier New"/>
              </a:rPr>
              <a:t xml:space="preserve">=</a:t>
            </a:r>
            <a:r>
              <a:rPr lang="en-US" sz="14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400">
                <a:solidFill>
                  <a:srgbClr val="0B57D0"/>
                </a:solidFill>
                <a:latin typeface="Courier New"/>
              </a:rPr>
              <a:t xml:space="preserve">null</a:t>
            </a:r>
            <a:r>
              <a:rPr lang="en-US" sz="1400">
                <a:solidFill>
                  <a:srgbClr val="4B5563"/>
                </a:solidFill>
                <a:latin typeface="Courier New"/>
              </a:rPr>
              <a:t xml:space="preserve">:</a:t>
            </a:r>
            <a:endParaRPr sz="1400"/>
          </a:p>
          <a:p>
            <a:pPr>
              <a:lnSpc>
                <a:spcPts val="1700"/>
              </a:lnSpc>
            </a:pPr>
            <a:r>
              <a:rPr lang="en-US" sz="1400">
                <a:solidFill>
                  <a:srgbClr val="18356F"/>
                </a:solidFill>
                <a:latin typeface="Courier New"/>
              </a:rPr>
              <a:t xml:space="preserve">        </a:t>
            </a:r>
            <a:r>
              <a:rPr lang="en-US" sz="1400">
                <a:solidFill>
                  <a:srgbClr val="18356F"/>
                </a:solidFill>
                <a:latin typeface="Courier New"/>
              </a:rPr>
              <a:t xml:space="preserve">instance</a:t>
            </a:r>
            <a:r>
              <a:rPr lang="en-US" sz="14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400">
                <a:solidFill>
                  <a:srgbClr val="4B5563"/>
                </a:solidFill>
                <a:latin typeface="Courier New"/>
              </a:rPr>
              <a:t xml:space="preserve">=</a:t>
            </a:r>
            <a:r>
              <a:rPr lang="en-US" sz="14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400">
                <a:solidFill>
                  <a:srgbClr val="0B57D0"/>
                </a:solidFill>
                <a:latin typeface="Courier New"/>
              </a:rPr>
              <a:t xml:space="preserve">new</a:t>
            </a:r>
            <a:r>
              <a:rPr lang="en-US" sz="14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400">
                <a:solidFill>
                  <a:srgbClr val="0F766E"/>
                </a:solidFill>
                <a:latin typeface="Courier New"/>
              </a:rPr>
              <a:t xml:space="preserve">Config</a:t>
            </a:r>
            <a:r>
              <a:rPr lang="en-US" sz="14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400">
                <a:solidFill>
                  <a:srgbClr val="4B5563"/>
                </a:solidFill>
                <a:latin typeface="Courier New"/>
              </a:rPr>
              <a:t xml:space="preserve">)</a:t>
            </a:r>
            <a:endParaRPr sz="1400"/>
          </a:p>
          <a:p>
            <a:pPr>
              <a:lnSpc>
                <a:spcPts val="1700"/>
              </a:lnSpc>
            </a:pPr>
            <a:r>
              <a:rPr lang="en-US" sz="1400">
                <a:solidFill>
                  <a:srgbClr val="18356F"/>
                </a:solidFill>
                <a:latin typeface="Courier New"/>
              </a:rPr>
              <a:t xml:space="preserve">    </a:t>
            </a:r>
            <a:r>
              <a:rPr lang="en-US" sz="1400">
                <a:solidFill>
                  <a:srgbClr val="0B57D0"/>
                </a:solidFill>
                <a:latin typeface="Courier New"/>
              </a:rPr>
              <a:t xml:space="preserve">return</a:t>
            </a:r>
            <a:r>
              <a:rPr lang="en-US" sz="14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400">
                <a:solidFill>
                  <a:srgbClr val="18356F"/>
                </a:solidFill>
                <a:latin typeface="Courier New"/>
              </a:rPr>
              <a:t xml:space="preserve">instance</a:t>
            </a:r>
            <a:endParaRPr sz="1400"/>
          </a:p>
        </p:txBody>
      </p:sp>
      <p:sp>
        <p:nvSpPr>
          <p:cNvPr id="48" name="Text 48"/>
          <p:cNvSpPr txBox="1"/>
          <p:nvPr/>
        </p:nvSpPr>
        <p:spPr>
          <a:xfrm>
            <a:off x="304800" y="10007600"/>
            <a:ext cx="10160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566174"/>
                </a:solidFill>
                <a:latin typeface="Arial"/>
              </a:rPr>
              <a:t xml:space="preserve">Source: https://refactoring.guru/design-patterns/singleton</a:t>
            </a:r>
            <a:endParaRPr sz="1000"/>
          </a:p>
        </p:txBody>
      </p:sp>
      <p:sp>
        <p:nvSpPr>
          <p:cNvPr id="49" name="Text 49"/>
          <p:cNvSpPr txBox="1"/>
          <p:nvPr/>
        </p:nvSpPr>
        <p:spPr>
          <a:xfrm>
            <a:off x="9144000" y="10007600"/>
            <a:ext cx="8890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566174"/>
                </a:solidFill>
                <a:latin typeface="Arial"/>
              </a:rPr>
              <a:t xml:space="preserve">UML: Client box = caller code; hollow triangle = inheritance / realization; dashed open arrow = dependency</a:t>
            </a:r>
            <a:endParaRPr sz="1000"/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 3"/>
          <p:cNvSpPr txBox="1"/>
          <p:nvPr/>
        </p:nvSpPr>
        <p:spPr>
          <a:xfrm>
            <a:off x="304800" y="114300"/>
            <a:ext cx="5842000" cy="7340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5280"/>
              </a:lnSpc>
            </a:pPr>
            <a:r>
              <a:rPr lang="en-US" sz="4400" b="1">
                <a:solidFill>
                  <a:srgbClr val="101319"/>
                </a:solidFill>
                <a:latin typeface="Arial"/>
              </a:rPr>
              <a:t xml:space="preserve">Factory Method</a:t>
            </a:r>
            <a:endParaRPr sz="4400"/>
          </a:p>
        </p:txBody>
      </p:sp>
      <p:sp>
        <p:nvSpPr>
          <p:cNvPr id="4" name="Panel 4"/>
          <p:cNvSpPr/>
          <p:nvPr/>
        </p:nvSpPr>
        <p:spPr>
          <a:xfrm>
            <a:off x="4769866" y="177800"/>
            <a:ext cx="25400" cy="660400"/>
          </a:xfrm>
          <a:prstGeom prst="rect">
            <a:avLst/>
          </a:prstGeom>
          <a:solidFill>
            <a:srgbClr val="858E9E"/>
          </a:soli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4998466" y="165100"/>
            <a:ext cx="12819634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>
                <a:solidFill>
                  <a:srgbClr val="596273"/>
                </a:solidFill>
                <a:latin typeface="Arial"/>
              </a:rPr>
              <a:t xml:space="preserve">Creational Design Pattern</a:t>
            </a:r>
            <a:endParaRPr sz="1700"/>
          </a:p>
        </p:txBody>
      </p:sp>
      <p:sp>
        <p:nvSpPr>
          <p:cNvPr id="6" name="Text 6"/>
          <p:cNvSpPr txBox="1"/>
          <p:nvPr/>
        </p:nvSpPr>
        <p:spPr>
          <a:xfrm>
            <a:off x="4998466" y="469900"/>
            <a:ext cx="12819634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>
                <a:solidFill>
                  <a:srgbClr val="182230"/>
                </a:solidFill>
                <a:latin typeface="Arial"/>
              </a:rPr>
              <a:t xml:space="preserve">Provides an interface for creating objects, but lets subclasses decide which class to instantiate.</a:t>
            </a:r>
            <a:endParaRPr sz="1800"/>
          </a:p>
        </p:txBody>
      </p:sp>
      <p:sp>
        <p:nvSpPr>
          <p:cNvPr id="7" name="Panel 7"/>
          <p:cNvSpPr/>
          <p:nvPr/>
        </p:nvSpPr>
        <p:spPr>
          <a:xfrm>
            <a:off x="304800" y="965200"/>
            <a:ext cx="17678400" cy="304800"/>
          </a:xfrm>
          <a:prstGeom prst="rect">
            <a:avLst/>
          </a:prstGeom>
          <a:solidFill>
            <a:srgbClr val="EDF0F6"/>
          </a:solidFill>
          <a:ln>
            <a:noFill/>
          </a:ln>
        </p:spPr>
      </p:sp>
      <p:sp>
        <p:nvSpPr>
          <p:cNvPr id="8" name="Text 8"/>
          <p:cNvSpPr txBox="1"/>
          <p:nvPr/>
        </p:nvSpPr>
        <p:spPr>
          <a:xfrm>
            <a:off x="431800" y="1003300"/>
            <a:ext cx="158750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374151"/>
                </a:solidFill>
                <a:latin typeface="Arial"/>
              </a:rPr>
              <a:t xml:space="preserve">CASE STUDY: Plane, truck, and ship transport</a:t>
            </a:r>
            <a:endParaRPr sz="1300"/>
          </a:p>
        </p:txBody>
      </p:sp>
      <p:sp>
        <p:nvSpPr>
          <p:cNvPr id="9" name="Text 9"/>
          <p:cNvSpPr txBox="1"/>
          <p:nvPr/>
        </p:nvSpPr>
        <p:spPr>
          <a:xfrm>
            <a:off x="17018000" y="1003300"/>
            <a:ext cx="9525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374151"/>
                </a:solidFill>
                <a:latin typeface="Arial"/>
              </a:rPr>
              <a:t xml:space="preserve">02 / 14</a:t>
            </a:r>
            <a:endParaRPr sz="1300"/>
          </a:p>
        </p:txBody>
      </p:sp>
      <p:sp>
        <p:nvSpPr>
          <p:cNvPr id="10" name="Panel 10"/>
          <p:cNvSpPr/>
          <p:nvPr/>
        </p:nvSpPr>
        <p:spPr>
          <a:xfrm>
            <a:off x="304800" y="1384300"/>
            <a:ext cx="8686800" cy="1041400"/>
          </a:xfrm>
          <a:prstGeom prst="rect">
            <a:avLst/>
          </a:prstGeom>
          <a:solidFill>
            <a:srgbClr val="EFA5AA"/>
          </a:solidFill>
          <a:ln>
            <a:noFill/>
          </a:ln>
        </p:spPr>
      </p:sp>
      <p:sp>
        <p:nvSpPr>
          <p:cNvPr id="11" name="Panel 11"/>
          <p:cNvSpPr/>
          <p:nvPr/>
        </p:nvSpPr>
        <p:spPr>
          <a:xfrm>
            <a:off x="330200" y="1409700"/>
            <a:ext cx="8636000" cy="990600"/>
          </a:xfrm>
          <a:prstGeom prst="rect">
            <a:avLst/>
          </a:prstGeom>
          <a:solidFill>
            <a:srgbClr val="FFE2E3"/>
          </a:solidFill>
          <a:ln>
            <a:noFill/>
          </a:ln>
        </p:spPr>
      </p:sp>
      <p:sp>
        <p:nvSpPr>
          <p:cNvPr id="12" name="Panel 12"/>
          <p:cNvSpPr/>
          <p:nvPr/>
        </p:nvSpPr>
        <p:spPr>
          <a:xfrm>
            <a:off x="431800" y="1473200"/>
            <a:ext cx="63500" cy="228600"/>
          </a:xfrm>
          <a:prstGeom prst="rect">
            <a:avLst/>
          </a:prstGeom>
          <a:solidFill>
            <a:srgbClr val="C5222B"/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596900" y="1422400"/>
            <a:ext cx="8153400" cy="3073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920"/>
              </a:lnSpc>
            </a:pPr>
            <a:r>
              <a:rPr lang="en-US" sz="1600" b="1">
                <a:solidFill>
                  <a:srgbClr val="C5222B"/>
                </a:solidFill>
                <a:latin typeface="Arial"/>
              </a:rPr>
              <a:t xml:space="preserve">Problem</a:t>
            </a:r>
            <a:endParaRPr sz="1600"/>
          </a:p>
        </p:txBody>
      </p:sp>
      <p:sp>
        <p:nvSpPr>
          <p:cNvPr id="14" name="Text 14"/>
          <p:cNvSpPr txBox="1"/>
          <p:nvPr/>
        </p:nvSpPr>
        <p:spPr>
          <a:xfrm>
            <a:off x="520700" y="1651000"/>
            <a:ext cx="8255000" cy="825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192331"/>
                </a:solidFill>
                <a:latin typeface="Arial"/>
              </a:rPr>
              <a:t xml:space="preserve">• Client code needs to create different types of objects (e.g. Plane, Truck, Ship).</a:t>
            </a:r>
            <a:endParaRPr sz="1000"/>
          </a:p>
          <a:p>
            <a:pPr>
              <a:lnSpc>
                <a:spcPts val="1200"/>
              </a:lnSpc>
            </a:pPr>
            <a:r>
              <a:rPr lang="en-US" sz="1000">
                <a:solidFill>
                  <a:srgbClr val="192331"/>
                </a:solidFill>
                <a:latin typeface="Arial"/>
              </a:rPr>
              <a:t xml:space="preserve">• The client contains conditional logic and knows about all concrete classes.</a:t>
            </a:r>
            <a:endParaRPr sz="1000"/>
          </a:p>
          <a:p>
            <a:pPr>
              <a:lnSpc>
                <a:spcPts val="1200"/>
              </a:lnSpc>
            </a:pPr>
            <a:r>
              <a:rPr lang="en-US" sz="1000">
                <a:solidFill>
                  <a:srgbClr val="192331"/>
                </a:solidFill>
                <a:latin typeface="Arial"/>
              </a:rPr>
              <a:t xml:space="preserve">• Adding a new type requires modifying client code (violates Open/Closed Principle).</a:t>
            </a:r>
            <a:endParaRPr sz="1000"/>
          </a:p>
          <a:p>
            <a:pPr>
              <a:lnSpc>
                <a:spcPts val="1200"/>
              </a:lnSpc>
            </a:pPr>
            <a:r>
              <a:rPr lang="en-US" sz="1000">
                <a:solidFill>
                  <a:srgbClr val="192331"/>
                </a:solidFill>
                <a:latin typeface="Arial"/>
              </a:rPr>
              <a:t xml:space="preserve">• Object creation logic is scattered and duplicated across the application.</a:t>
            </a:r>
            <a:endParaRPr sz="1000"/>
          </a:p>
          <a:p>
            <a:pPr>
              <a:lnSpc>
                <a:spcPts val="1200"/>
              </a:lnSpc>
            </a:pPr>
            <a:r>
              <a:rPr lang="en-US" sz="1000">
                <a:solidFill>
                  <a:srgbClr val="192331"/>
                </a:solidFill>
                <a:latin typeface="Arial"/>
              </a:rPr>
              <a:t xml:space="preserve">• Client is tightly coupled to concrete classes.</a:t>
            </a:r>
            <a:endParaRPr sz="1000"/>
          </a:p>
        </p:txBody>
      </p:sp>
      <p:sp>
        <p:nvSpPr>
          <p:cNvPr id="15" name="Panel 15"/>
          <p:cNvSpPr/>
          <p:nvPr/>
        </p:nvSpPr>
        <p:spPr>
          <a:xfrm>
            <a:off x="304800" y="2501900"/>
            <a:ext cx="8686800" cy="28321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16" name="Panel 16"/>
          <p:cNvSpPr/>
          <p:nvPr/>
        </p:nvSpPr>
        <p:spPr>
          <a:xfrm>
            <a:off x="330200" y="2527300"/>
            <a:ext cx="8636000" cy="27813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7" name="Panel 17"/>
          <p:cNvSpPr/>
          <p:nvPr/>
        </p:nvSpPr>
        <p:spPr>
          <a:xfrm>
            <a:off x="330200" y="2527300"/>
            <a:ext cx="8636000" cy="3048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18" name="Text 18"/>
          <p:cNvSpPr txBox="1"/>
          <p:nvPr/>
        </p:nvSpPr>
        <p:spPr>
          <a:xfrm>
            <a:off x="457200" y="2540000"/>
            <a:ext cx="83820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151B27"/>
                </a:solidFill>
                <a:latin typeface="Arial"/>
              </a:rPr>
              <a:t xml:space="preserve">Before (direct coupling)</a:t>
            </a:r>
            <a:endParaRPr sz="1300"/>
          </a:p>
        </p:txBody>
      </p:sp>
      <p:pic>
        <p:nvPicPr>
          <p:cNvPr id="19" name="UML class diagram"/>
          <p:cNvPicPr/>
          <p:nvPr/>
        </p:nvPicPr>
        <p:blipFill>
          <a:blip r:embed="rId2"/>
          <a:stretch>
            <a:fillRect/>
          </a:stretch>
        </p:blipFill>
        <p:spPr>
          <a:xfrm>
            <a:off x="444500" y="2857500"/>
            <a:ext cx="8382000" cy="2425700"/>
          </a:xfrm>
          <a:prstGeom prst="rect">
            <a:avLst/>
          </a:prstGeom>
        </p:spPr>
      </p:pic>
      <p:sp>
        <p:nvSpPr>
          <p:cNvPr id="20" name="Panel 20"/>
          <p:cNvSpPr/>
          <p:nvPr/>
        </p:nvSpPr>
        <p:spPr>
          <a:xfrm>
            <a:off x="9296400" y="1384300"/>
            <a:ext cx="8686800" cy="1041400"/>
          </a:xfrm>
          <a:prstGeom prst="rect">
            <a:avLst/>
          </a:prstGeom>
          <a:solidFill>
            <a:srgbClr val="94D9D1"/>
          </a:solidFill>
          <a:ln>
            <a:noFill/>
          </a:ln>
        </p:spPr>
      </p:sp>
      <p:sp>
        <p:nvSpPr>
          <p:cNvPr id="21" name="Panel 21"/>
          <p:cNvSpPr/>
          <p:nvPr/>
        </p:nvSpPr>
        <p:spPr>
          <a:xfrm>
            <a:off x="9321800" y="1409700"/>
            <a:ext cx="8636000" cy="990600"/>
          </a:xfrm>
          <a:prstGeom prst="rect">
            <a:avLst/>
          </a:prstGeom>
          <a:solidFill>
            <a:srgbClr val="D9F5F0"/>
          </a:solidFill>
          <a:ln>
            <a:noFill/>
          </a:ln>
        </p:spPr>
      </p:sp>
      <p:sp>
        <p:nvSpPr>
          <p:cNvPr id="22" name="Panel 22"/>
          <p:cNvSpPr/>
          <p:nvPr/>
        </p:nvSpPr>
        <p:spPr>
          <a:xfrm>
            <a:off x="9423400" y="1473200"/>
            <a:ext cx="63500" cy="228600"/>
          </a:xfrm>
          <a:prstGeom prst="rect">
            <a:avLst/>
          </a:prstGeom>
          <a:solidFill>
            <a:srgbClr val="007E78"/>
          </a:solidFill>
          <a:ln>
            <a:noFill/>
          </a:ln>
        </p:spPr>
      </p:sp>
      <p:sp>
        <p:nvSpPr>
          <p:cNvPr id="23" name="Text 23"/>
          <p:cNvSpPr txBox="1"/>
          <p:nvPr/>
        </p:nvSpPr>
        <p:spPr>
          <a:xfrm>
            <a:off x="9588500" y="1422400"/>
            <a:ext cx="8153400" cy="3073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920"/>
              </a:lnSpc>
            </a:pPr>
            <a:r>
              <a:rPr lang="en-US" sz="1600" b="1">
                <a:solidFill>
                  <a:srgbClr val="007E78"/>
                </a:solidFill>
                <a:latin typeface="Arial"/>
              </a:rPr>
              <a:t xml:space="preserve">Solution</a:t>
            </a:r>
            <a:endParaRPr sz="1600"/>
          </a:p>
        </p:txBody>
      </p:sp>
      <p:sp>
        <p:nvSpPr>
          <p:cNvPr id="24" name="Text 24"/>
          <p:cNvSpPr txBox="1"/>
          <p:nvPr/>
        </p:nvSpPr>
        <p:spPr>
          <a:xfrm>
            <a:off x="9512300" y="1651000"/>
            <a:ext cx="8255000" cy="825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192331"/>
                </a:solidFill>
                <a:latin typeface="Arial"/>
              </a:rPr>
              <a:t xml:space="preserve">• Define a factory interface/class for creating products (e.g. Transport).</a:t>
            </a:r>
            <a:endParaRPr sz="1000"/>
          </a:p>
          <a:p>
            <a:pPr>
              <a:lnSpc>
                <a:spcPts val="1200"/>
              </a:lnSpc>
            </a:pPr>
            <a:r>
              <a:rPr lang="en-US" sz="1000">
                <a:solidFill>
                  <a:srgbClr val="192331"/>
                </a:solidFill>
                <a:latin typeface="Arial"/>
              </a:rPr>
              <a:t xml:space="preserve">• Concrete factory decides which concrete product to instantiate.</a:t>
            </a:r>
            <a:endParaRPr sz="1000"/>
          </a:p>
          <a:p>
            <a:pPr>
              <a:lnSpc>
                <a:spcPts val="1200"/>
              </a:lnSpc>
            </a:pPr>
            <a:r>
              <a:rPr lang="en-US" sz="1000">
                <a:solidFill>
                  <a:srgbClr val="192331"/>
                </a:solidFill>
                <a:latin typeface="Arial"/>
              </a:rPr>
              <a:t xml:space="preserve">• Client code works with the factory and the product interface, not concrete classes.</a:t>
            </a:r>
            <a:endParaRPr sz="1000"/>
          </a:p>
          <a:p>
            <a:pPr>
              <a:lnSpc>
                <a:spcPts val="1200"/>
              </a:lnSpc>
            </a:pPr>
            <a:r>
              <a:rPr lang="en-US" sz="1000">
                <a:solidFill>
                  <a:srgbClr val="192331"/>
                </a:solidFill>
                <a:latin typeface="Arial"/>
              </a:rPr>
              <a:t xml:space="preserve">• To add a new type, add a new product and update the factory (client code unchanged).</a:t>
            </a:r>
            <a:endParaRPr sz="1000"/>
          </a:p>
          <a:p>
            <a:pPr>
              <a:lnSpc>
                <a:spcPts val="1200"/>
              </a:lnSpc>
            </a:pPr>
            <a:r>
              <a:rPr lang="en-US" sz="1000">
                <a:solidFill>
                  <a:srgbClr val="192331"/>
                </a:solidFill>
                <a:latin typeface="Arial"/>
              </a:rPr>
              <a:t xml:space="preserve">• Centralizes and encapsulates object creation logic.</a:t>
            </a:r>
            <a:endParaRPr sz="1000"/>
          </a:p>
        </p:txBody>
      </p:sp>
      <p:sp>
        <p:nvSpPr>
          <p:cNvPr id="25" name="Panel 25"/>
          <p:cNvSpPr/>
          <p:nvPr/>
        </p:nvSpPr>
        <p:spPr>
          <a:xfrm>
            <a:off x="9296400" y="2501900"/>
            <a:ext cx="8686800" cy="28321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26" name="Panel 26"/>
          <p:cNvSpPr/>
          <p:nvPr/>
        </p:nvSpPr>
        <p:spPr>
          <a:xfrm>
            <a:off x="9321800" y="2527300"/>
            <a:ext cx="8636000" cy="27813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7" name="Panel 27"/>
          <p:cNvSpPr/>
          <p:nvPr/>
        </p:nvSpPr>
        <p:spPr>
          <a:xfrm>
            <a:off x="9321800" y="2527300"/>
            <a:ext cx="8636000" cy="3048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28" name="Text 28"/>
          <p:cNvSpPr txBox="1"/>
          <p:nvPr/>
        </p:nvSpPr>
        <p:spPr>
          <a:xfrm>
            <a:off x="9448800" y="2540000"/>
            <a:ext cx="83820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151B27"/>
                </a:solidFill>
                <a:latin typeface="Arial"/>
              </a:rPr>
              <a:t xml:space="preserve">After (using Factory Method)</a:t>
            </a:r>
            <a:endParaRPr sz="1300"/>
          </a:p>
        </p:txBody>
      </p:sp>
      <p:pic>
        <p:nvPicPr>
          <p:cNvPr id="29" name="UML class diagram"/>
          <p:cNvPicPr/>
          <p:nvPr/>
        </p:nvPicPr>
        <p:blipFill>
          <a:blip r:embed="rId3"/>
          <a:stretch>
            <a:fillRect/>
          </a:stretch>
        </p:blipFill>
        <p:spPr>
          <a:xfrm>
            <a:off x="9436100" y="2857500"/>
            <a:ext cx="8382000" cy="2425700"/>
          </a:xfrm>
          <a:prstGeom prst="rect">
            <a:avLst/>
          </a:prstGeom>
        </p:spPr>
      </p:pic>
      <p:sp>
        <p:nvSpPr>
          <p:cNvPr id="30" name="Panel 30"/>
          <p:cNvSpPr/>
          <p:nvPr/>
        </p:nvSpPr>
        <p:spPr>
          <a:xfrm>
            <a:off x="304800" y="5435600"/>
            <a:ext cx="8686800" cy="45212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31" name="Panel 31"/>
          <p:cNvSpPr/>
          <p:nvPr/>
        </p:nvSpPr>
        <p:spPr>
          <a:xfrm>
            <a:off x="330200" y="5461000"/>
            <a:ext cx="8636000" cy="44704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32" name="Panel 32"/>
          <p:cNvSpPr/>
          <p:nvPr/>
        </p:nvSpPr>
        <p:spPr>
          <a:xfrm>
            <a:off x="330200" y="5461000"/>
            <a:ext cx="8636000" cy="3048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33" name="Text 33"/>
          <p:cNvSpPr txBox="1"/>
          <p:nvPr/>
        </p:nvSpPr>
        <p:spPr>
          <a:xfrm>
            <a:off x="457200" y="5473700"/>
            <a:ext cx="6985000" cy="2768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680"/>
              </a:lnSpc>
            </a:pPr>
            <a:r>
              <a:rPr lang="en-US" sz="1400" b="1">
                <a:solidFill>
                  <a:srgbClr val="161D2B"/>
                </a:solidFill>
                <a:latin typeface="Arial"/>
              </a:rPr>
              <a:t xml:space="preserve">Client Code (Before)</a:t>
            </a:r>
            <a:endParaRPr sz="1400"/>
          </a:p>
        </p:txBody>
      </p:sp>
      <p:sp>
        <p:nvSpPr>
          <p:cNvPr id="34" name="Text 34"/>
          <p:cNvSpPr txBox="1"/>
          <p:nvPr/>
        </p:nvSpPr>
        <p:spPr>
          <a:xfrm>
            <a:off x="7594600" y="5511800"/>
            <a:ext cx="1270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000"/>
          </a:p>
        </p:txBody>
      </p:sp>
      <p:sp>
        <p:nvSpPr>
          <p:cNvPr id="35" name="Code 35"/>
          <p:cNvSpPr txBox="1"/>
          <p:nvPr/>
        </p:nvSpPr>
        <p:spPr>
          <a:xfrm>
            <a:off x="482600" y="5791200"/>
            <a:ext cx="8255000" cy="927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700"/>
              </a:lnSpc>
            </a:pPr>
            <a:r>
              <a:rPr lang="en-US" sz="1400">
                <a:solidFill>
                  <a:srgbClr val="18356F"/>
                </a:solidFill>
                <a:latin typeface="Courier New"/>
              </a:rPr>
              <a:t xml:space="preserve">plane</a:t>
            </a:r>
            <a:r>
              <a:rPr lang="en-US" sz="14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400">
                <a:solidFill>
                  <a:srgbClr val="4B5563"/>
                </a:solidFill>
                <a:latin typeface="Courier New"/>
              </a:rPr>
              <a:t xml:space="preserve">=</a:t>
            </a:r>
            <a:r>
              <a:rPr lang="en-US" sz="14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400">
                <a:solidFill>
                  <a:srgbClr val="0B57D0"/>
                </a:solidFill>
                <a:latin typeface="Courier New"/>
              </a:rPr>
              <a:t xml:space="preserve">new</a:t>
            </a:r>
            <a:r>
              <a:rPr lang="en-US" sz="14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400">
                <a:solidFill>
                  <a:srgbClr val="0F766E"/>
                </a:solidFill>
                <a:latin typeface="Courier New"/>
              </a:rPr>
              <a:t xml:space="preserve">Plane</a:t>
            </a:r>
            <a:r>
              <a:rPr lang="en-US" sz="14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400">
                <a:solidFill>
                  <a:srgbClr val="4B5563"/>
                </a:solidFill>
                <a:latin typeface="Courier New"/>
              </a:rPr>
              <a:t xml:space="preserve">)</a:t>
            </a:r>
            <a:r>
              <a:rPr lang="en-US" sz="1400">
                <a:solidFill>
                  <a:srgbClr val="4B5563"/>
                </a:solidFill>
                <a:latin typeface="Courier New"/>
              </a:rPr>
              <a:t xml:space="preserve">;</a:t>
            </a:r>
            <a:r>
              <a:rPr lang="en-US" sz="14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400">
                <a:solidFill>
                  <a:srgbClr val="18356F"/>
                </a:solidFill>
                <a:latin typeface="Courier New"/>
              </a:rPr>
              <a:t xml:space="preserve">plane</a:t>
            </a:r>
            <a:r>
              <a:rPr lang="en-US" sz="14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400">
                <a:solidFill>
                  <a:srgbClr val="18356F"/>
                </a:solidFill>
                <a:latin typeface="Courier New"/>
              </a:rPr>
              <a:t xml:space="preserve">fly</a:t>
            </a:r>
            <a:r>
              <a:rPr lang="en-US" sz="14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400">
                <a:solidFill>
                  <a:srgbClr val="4B5563"/>
                </a:solidFill>
                <a:latin typeface="Courier New"/>
              </a:rPr>
              <a:t xml:space="preserve">)</a:t>
            </a:r>
            <a:endParaRPr sz="1400"/>
          </a:p>
          <a:p>
            <a:pPr>
              <a:lnSpc>
                <a:spcPts val="1700"/>
              </a:lnSpc>
            </a:pPr>
            <a:r>
              <a:rPr lang="en-US" sz="1400">
                <a:solidFill>
                  <a:srgbClr val="18356F"/>
                </a:solidFill>
                <a:latin typeface="Courier New"/>
              </a:rPr>
              <a:t xml:space="preserve">truck</a:t>
            </a:r>
            <a:r>
              <a:rPr lang="en-US" sz="14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400">
                <a:solidFill>
                  <a:srgbClr val="4B5563"/>
                </a:solidFill>
                <a:latin typeface="Courier New"/>
              </a:rPr>
              <a:t xml:space="preserve">=</a:t>
            </a:r>
            <a:r>
              <a:rPr lang="en-US" sz="14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400">
                <a:solidFill>
                  <a:srgbClr val="0B57D0"/>
                </a:solidFill>
                <a:latin typeface="Courier New"/>
              </a:rPr>
              <a:t xml:space="preserve">new</a:t>
            </a:r>
            <a:r>
              <a:rPr lang="en-US" sz="14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400">
                <a:solidFill>
                  <a:srgbClr val="0F766E"/>
                </a:solidFill>
                <a:latin typeface="Courier New"/>
              </a:rPr>
              <a:t xml:space="preserve">Truck</a:t>
            </a:r>
            <a:r>
              <a:rPr lang="en-US" sz="14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400">
                <a:solidFill>
                  <a:srgbClr val="4B5563"/>
                </a:solidFill>
                <a:latin typeface="Courier New"/>
              </a:rPr>
              <a:t xml:space="preserve">)</a:t>
            </a:r>
            <a:r>
              <a:rPr lang="en-US" sz="1400">
                <a:solidFill>
                  <a:srgbClr val="4B5563"/>
                </a:solidFill>
                <a:latin typeface="Courier New"/>
              </a:rPr>
              <a:t xml:space="preserve">;</a:t>
            </a:r>
            <a:r>
              <a:rPr lang="en-US" sz="14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400">
                <a:solidFill>
                  <a:srgbClr val="18356F"/>
                </a:solidFill>
                <a:latin typeface="Courier New"/>
              </a:rPr>
              <a:t xml:space="preserve">truck</a:t>
            </a:r>
            <a:r>
              <a:rPr lang="en-US" sz="14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400">
                <a:solidFill>
                  <a:srgbClr val="18356F"/>
                </a:solidFill>
                <a:latin typeface="Courier New"/>
              </a:rPr>
              <a:t xml:space="preserve">drive</a:t>
            </a:r>
            <a:r>
              <a:rPr lang="en-US" sz="14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400">
                <a:solidFill>
                  <a:srgbClr val="4B5563"/>
                </a:solidFill>
                <a:latin typeface="Courier New"/>
              </a:rPr>
              <a:t xml:space="preserve">)</a:t>
            </a:r>
            <a:endParaRPr sz="1400"/>
          </a:p>
          <a:p>
            <a:pPr>
              <a:lnSpc>
                <a:spcPts val="1700"/>
              </a:lnSpc>
            </a:pPr>
            <a:r>
              <a:rPr lang="en-US" sz="1400">
                <a:solidFill>
                  <a:srgbClr val="18356F"/>
                </a:solidFill>
                <a:latin typeface="Courier New"/>
              </a:rPr>
              <a:t xml:space="preserve">ship</a:t>
            </a:r>
            <a:r>
              <a:rPr lang="en-US" sz="14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400">
                <a:solidFill>
                  <a:srgbClr val="4B5563"/>
                </a:solidFill>
                <a:latin typeface="Courier New"/>
              </a:rPr>
              <a:t xml:space="preserve">=</a:t>
            </a:r>
            <a:r>
              <a:rPr lang="en-US" sz="14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400">
                <a:solidFill>
                  <a:srgbClr val="0B57D0"/>
                </a:solidFill>
                <a:latin typeface="Courier New"/>
              </a:rPr>
              <a:t xml:space="preserve">new</a:t>
            </a:r>
            <a:r>
              <a:rPr lang="en-US" sz="14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400">
                <a:solidFill>
                  <a:srgbClr val="0F766E"/>
                </a:solidFill>
                <a:latin typeface="Courier New"/>
              </a:rPr>
              <a:t xml:space="preserve">Ship</a:t>
            </a:r>
            <a:r>
              <a:rPr lang="en-US" sz="14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400">
                <a:solidFill>
                  <a:srgbClr val="4B5563"/>
                </a:solidFill>
                <a:latin typeface="Courier New"/>
              </a:rPr>
              <a:t xml:space="preserve">)</a:t>
            </a:r>
            <a:r>
              <a:rPr lang="en-US" sz="1400">
                <a:solidFill>
                  <a:srgbClr val="4B5563"/>
                </a:solidFill>
                <a:latin typeface="Courier New"/>
              </a:rPr>
              <a:t xml:space="preserve">;</a:t>
            </a:r>
            <a:r>
              <a:rPr lang="en-US" sz="14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400">
                <a:solidFill>
                  <a:srgbClr val="18356F"/>
                </a:solidFill>
                <a:latin typeface="Courier New"/>
              </a:rPr>
              <a:t xml:space="preserve">ship</a:t>
            </a:r>
            <a:r>
              <a:rPr lang="en-US" sz="14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400">
                <a:solidFill>
                  <a:srgbClr val="18356F"/>
                </a:solidFill>
                <a:latin typeface="Courier New"/>
              </a:rPr>
              <a:t xml:space="preserve">sail</a:t>
            </a:r>
            <a:r>
              <a:rPr lang="en-US" sz="14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400">
                <a:solidFill>
                  <a:srgbClr val="4B5563"/>
                </a:solidFill>
                <a:latin typeface="Courier New"/>
              </a:rPr>
              <a:t xml:space="preserve">)</a:t>
            </a:r>
            <a:endParaRPr sz="1400"/>
          </a:p>
          <a:p>
            <a:pPr>
              <a:lnSpc>
                <a:spcPts val="1700"/>
              </a:lnSpc>
            </a:pPr>
            <a:r>
              <a:rPr lang="en-US" sz="1400">
                <a:solidFill>
                  <a:srgbClr val="64748B"/>
                </a:solidFill>
                <a:latin typeface="Courier New"/>
              </a:rPr>
              <a:t xml:space="preserve">// three types; three different method names</a:t>
            </a:r>
            <a:endParaRPr sz="1400"/>
          </a:p>
        </p:txBody>
      </p:sp>
      <p:sp>
        <p:nvSpPr>
          <p:cNvPr id="36" name="Panel 36"/>
          <p:cNvSpPr/>
          <p:nvPr/>
        </p:nvSpPr>
        <p:spPr>
          <a:xfrm>
            <a:off x="9296400" y="5435600"/>
            <a:ext cx="8686800" cy="18034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37" name="Panel 37"/>
          <p:cNvSpPr/>
          <p:nvPr/>
        </p:nvSpPr>
        <p:spPr>
          <a:xfrm>
            <a:off x="9321800" y="5461000"/>
            <a:ext cx="8636000" cy="17526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38" name="Panel 38"/>
          <p:cNvSpPr/>
          <p:nvPr/>
        </p:nvSpPr>
        <p:spPr>
          <a:xfrm>
            <a:off x="9321800" y="5461000"/>
            <a:ext cx="8636000" cy="3048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39" name="Text 39"/>
          <p:cNvSpPr txBox="1"/>
          <p:nvPr/>
        </p:nvSpPr>
        <p:spPr>
          <a:xfrm>
            <a:off x="9448800" y="5473700"/>
            <a:ext cx="6985000" cy="2768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680"/>
              </a:lnSpc>
            </a:pPr>
            <a:r>
              <a:rPr lang="en-US" sz="1400" b="1">
                <a:solidFill>
                  <a:srgbClr val="161D2B"/>
                </a:solidFill>
                <a:latin typeface="Arial"/>
              </a:rPr>
              <a:t xml:space="preserve">Client Code (After)</a:t>
            </a:r>
            <a:endParaRPr sz="1400"/>
          </a:p>
        </p:txBody>
      </p:sp>
      <p:sp>
        <p:nvSpPr>
          <p:cNvPr id="40" name="Text 40"/>
          <p:cNvSpPr txBox="1"/>
          <p:nvPr/>
        </p:nvSpPr>
        <p:spPr>
          <a:xfrm>
            <a:off x="16586200" y="5511800"/>
            <a:ext cx="1270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000"/>
          </a:p>
        </p:txBody>
      </p:sp>
      <p:sp>
        <p:nvSpPr>
          <p:cNvPr id="41" name="Code 41"/>
          <p:cNvSpPr txBox="1"/>
          <p:nvPr/>
        </p:nvSpPr>
        <p:spPr>
          <a:xfrm>
            <a:off x="9474200" y="5791200"/>
            <a:ext cx="8255000" cy="1079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600"/>
              </a:lnSpc>
            </a:pP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fleet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=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[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factory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create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B14747"/>
                </a:solidFill>
                <a:latin typeface="Courier New"/>
              </a:rPr>
              <a:t xml:space="preserve">"plane"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,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        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factory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create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B14747"/>
                </a:solidFill>
                <a:latin typeface="Courier New"/>
              </a:rPr>
              <a:t xml:space="preserve">"truck"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,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        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factory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create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B14747"/>
                </a:solidFill>
                <a:latin typeface="Courier New"/>
              </a:rPr>
              <a:t xml:space="preserve">"ship"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]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0B57D0"/>
                </a:solidFill>
                <a:latin typeface="Courier New"/>
              </a:rPr>
              <a:t xml:space="preserve">for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t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B57D0"/>
                </a:solidFill>
                <a:latin typeface="Courier New"/>
              </a:rPr>
              <a:t xml:space="preserve">in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fleet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: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t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transport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64748B"/>
                </a:solidFill>
                <a:latin typeface="Courier New"/>
              </a:rPr>
              <a:t xml:space="preserve">// same three results; one Transport method</a:t>
            </a:r>
            <a:endParaRPr sz="1300"/>
          </a:p>
        </p:txBody>
      </p:sp>
      <p:sp>
        <p:nvSpPr>
          <p:cNvPr id="42" name="Panel 42"/>
          <p:cNvSpPr/>
          <p:nvPr/>
        </p:nvSpPr>
        <p:spPr>
          <a:xfrm>
            <a:off x="9296400" y="7315200"/>
            <a:ext cx="8686800" cy="26416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43" name="Panel 43"/>
          <p:cNvSpPr/>
          <p:nvPr/>
        </p:nvSpPr>
        <p:spPr>
          <a:xfrm>
            <a:off x="9321800" y="7340600"/>
            <a:ext cx="8636000" cy="25908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44" name="Panel 44"/>
          <p:cNvSpPr/>
          <p:nvPr/>
        </p:nvSpPr>
        <p:spPr>
          <a:xfrm>
            <a:off x="9321800" y="7340600"/>
            <a:ext cx="8636000" cy="3048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45" name="Text 45"/>
          <p:cNvSpPr txBox="1"/>
          <p:nvPr/>
        </p:nvSpPr>
        <p:spPr>
          <a:xfrm>
            <a:off x="9448800" y="7366000"/>
            <a:ext cx="6604000" cy="2768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680"/>
              </a:lnSpc>
            </a:pPr>
            <a:r>
              <a:rPr lang="en-US" sz="1400" b="1">
                <a:solidFill>
                  <a:srgbClr val="161D2B"/>
                </a:solidFill>
                <a:latin typeface="Arial"/>
              </a:rPr>
              <a:t xml:space="preserve">Module Code (API boundary)</a:t>
            </a:r>
            <a:endParaRPr sz="1400"/>
          </a:p>
        </p:txBody>
      </p:sp>
      <p:sp>
        <p:nvSpPr>
          <p:cNvPr id="46" name="Text 46"/>
          <p:cNvSpPr txBox="1"/>
          <p:nvPr/>
        </p:nvSpPr>
        <p:spPr>
          <a:xfrm>
            <a:off x="16586200" y="7404100"/>
            <a:ext cx="1270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000"/>
          </a:p>
        </p:txBody>
      </p:sp>
      <p:sp>
        <p:nvSpPr>
          <p:cNvPr id="47" name="Code 47"/>
          <p:cNvSpPr txBox="1"/>
          <p:nvPr/>
        </p:nvSpPr>
        <p:spPr>
          <a:xfrm>
            <a:off x="9474200" y="7670800"/>
            <a:ext cx="8255000" cy="1206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00"/>
              </a:lnSpc>
            </a:pPr>
            <a:r>
              <a:rPr lang="en-US" sz="1200">
                <a:solidFill>
                  <a:srgbClr val="64748B"/>
                </a:solidFill>
                <a:latin typeface="Courier New"/>
              </a:rPr>
              <a:t xml:space="preserve">// MODULE — creation API for client developers</a:t>
            </a:r>
            <a:endParaRPr sz="1200"/>
          </a:p>
          <a:p>
            <a:pPr>
              <a:lnSpc>
                <a:spcPts val="1500"/>
              </a:lnSpc>
            </a:pPr>
            <a:r>
              <a:rPr lang="en-US" sz="1200">
                <a:solidFill>
                  <a:srgbClr val="64748B"/>
                </a:solidFill>
                <a:latin typeface="Courier New"/>
              </a:rPr>
              <a:t xml:space="preserve">// TransportFactory.create(type)</a:t>
            </a:r>
            <a:endParaRPr sz="1200"/>
          </a:p>
          <a:p>
            <a:pPr>
              <a:lnSpc>
                <a:spcPts val="1500"/>
              </a:lnSpc>
            </a:pPr>
            <a:r>
              <a:rPr lang="en-US" sz="1200">
                <a:solidFill>
                  <a:srgbClr val="0B57D0"/>
                </a:solidFill>
                <a:latin typeface="Courier New"/>
              </a:rPr>
              <a:t xml:space="preserve">if</a:t>
            </a:r>
            <a:r>
              <a:rPr lang="en-US" sz="12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200">
                <a:solidFill>
                  <a:srgbClr val="18356F"/>
                </a:solidFill>
                <a:latin typeface="Courier New"/>
              </a:rPr>
              <a:t xml:space="preserve">type</a:t>
            </a:r>
            <a:r>
              <a:rPr lang="en-US" sz="12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200">
                <a:solidFill>
                  <a:srgbClr val="4B5563"/>
                </a:solidFill>
                <a:latin typeface="Courier New"/>
              </a:rPr>
              <a:t xml:space="preserve">=</a:t>
            </a:r>
            <a:r>
              <a:rPr lang="en-US" sz="1200">
                <a:solidFill>
                  <a:srgbClr val="4B5563"/>
                </a:solidFill>
                <a:latin typeface="Courier New"/>
              </a:rPr>
              <a:t xml:space="preserve">=</a:t>
            </a:r>
            <a:r>
              <a:rPr lang="en-US" sz="12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200">
                <a:solidFill>
                  <a:srgbClr val="B14747"/>
                </a:solidFill>
                <a:latin typeface="Courier New"/>
              </a:rPr>
              <a:t xml:space="preserve">"plane"</a:t>
            </a:r>
            <a:r>
              <a:rPr lang="en-US" sz="1200">
                <a:solidFill>
                  <a:srgbClr val="4B5563"/>
                </a:solidFill>
                <a:latin typeface="Courier New"/>
              </a:rPr>
              <a:t xml:space="preserve">:</a:t>
            </a:r>
            <a:r>
              <a:rPr lang="en-US" sz="12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200">
                <a:solidFill>
                  <a:srgbClr val="0B57D0"/>
                </a:solidFill>
                <a:latin typeface="Courier New"/>
              </a:rPr>
              <a:t xml:space="preserve">return</a:t>
            </a:r>
            <a:r>
              <a:rPr lang="en-US" sz="12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200">
                <a:solidFill>
                  <a:srgbClr val="0B57D0"/>
                </a:solidFill>
                <a:latin typeface="Courier New"/>
              </a:rPr>
              <a:t xml:space="preserve">new</a:t>
            </a:r>
            <a:r>
              <a:rPr lang="en-US" sz="12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200">
                <a:solidFill>
                  <a:srgbClr val="0F766E"/>
                </a:solidFill>
                <a:latin typeface="Courier New"/>
              </a:rPr>
              <a:t xml:space="preserve">Plane</a:t>
            </a:r>
            <a:r>
              <a:rPr lang="en-US" sz="12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200">
                <a:solidFill>
                  <a:srgbClr val="4B5563"/>
                </a:solidFill>
                <a:latin typeface="Courier New"/>
              </a:rPr>
              <a:t xml:space="preserve">)</a:t>
            </a:r>
            <a:endParaRPr sz="1200"/>
          </a:p>
          <a:p>
            <a:pPr>
              <a:lnSpc>
                <a:spcPts val="1500"/>
              </a:lnSpc>
            </a:pPr>
            <a:r>
              <a:rPr lang="en-US" sz="1200">
                <a:solidFill>
                  <a:srgbClr val="0B57D0"/>
                </a:solidFill>
                <a:latin typeface="Courier New"/>
              </a:rPr>
              <a:t xml:space="preserve">elif</a:t>
            </a:r>
            <a:r>
              <a:rPr lang="en-US" sz="12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200">
                <a:solidFill>
                  <a:srgbClr val="18356F"/>
                </a:solidFill>
                <a:latin typeface="Courier New"/>
              </a:rPr>
              <a:t xml:space="preserve">type</a:t>
            </a:r>
            <a:r>
              <a:rPr lang="en-US" sz="12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200">
                <a:solidFill>
                  <a:srgbClr val="4B5563"/>
                </a:solidFill>
                <a:latin typeface="Courier New"/>
              </a:rPr>
              <a:t xml:space="preserve">=</a:t>
            </a:r>
            <a:r>
              <a:rPr lang="en-US" sz="1200">
                <a:solidFill>
                  <a:srgbClr val="4B5563"/>
                </a:solidFill>
                <a:latin typeface="Courier New"/>
              </a:rPr>
              <a:t xml:space="preserve">=</a:t>
            </a:r>
            <a:r>
              <a:rPr lang="en-US" sz="12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200">
                <a:solidFill>
                  <a:srgbClr val="B14747"/>
                </a:solidFill>
                <a:latin typeface="Courier New"/>
              </a:rPr>
              <a:t xml:space="preserve">"truck"</a:t>
            </a:r>
            <a:r>
              <a:rPr lang="en-US" sz="1200">
                <a:solidFill>
                  <a:srgbClr val="4B5563"/>
                </a:solidFill>
                <a:latin typeface="Courier New"/>
              </a:rPr>
              <a:t xml:space="preserve">:</a:t>
            </a:r>
            <a:r>
              <a:rPr lang="en-US" sz="12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200">
                <a:solidFill>
                  <a:srgbClr val="0B57D0"/>
                </a:solidFill>
                <a:latin typeface="Courier New"/>
              </a:rPr>
              <a:t xml:space="preserve">return</a:t>
            </a:r>
            <a:r>
              <a:rPr lang="en-US" sz="12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200">
                <a:solidFill>
                  <a:srgbClr val="0B57D0"/>
                </a:solidFill>
                <a:latin typeface="Courier New"/>
              </a:rPr>
              <a:t xml:space="preserve">new</a:t>
            </a:r>
            <a:r>
              <a:rPr lang="en-US" sz="12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200">
                <a:solidFill>
                  <a:srgbClr val="0F766E"/>
                </a:solidFill>
                <a:latin typeface="Courier New"/>
              </a:rPr>
              <a:t xml:space="preserve">Truck</a:t>
            </a:r>
            <a:r>
              <a:rPr lang="en-US" sz="12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200">
                <a:solidFill>
                  <a:srgbClr val="4B5563"/>
                </a:solidFill>
                <a:latin typeface="Courier New"/>
              </a:rPr>
              <a:t xml:space="preserve">)</a:t>
            </a:r>
            <a:endParaRPr sz="1200"/>
          </a:p>
          <a:p>
            <a:pPr>
              <a:lnSpc>
                <a:spcPts val="1500"/>
              </a:lnSpc>
            </a:pPr>
            <a:r>
              <a:rPr lang="en-US" sz="1200">
                <a:solidFill>
                  <a:srgbClr val="0B57D0"/>
                </a:solidFill>
                <a:latin typeface="Courier New"/>
              </a:rPr>
              <a:t xml:space="preserve">elif</a:t>
            </a:r>
            <a:r>
              <a:rPr lang="en-US" sz="12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200">
                <a:solidFill>
                  <a:srgbClr val="18356F"/>
                </a:solidFill>
                <a:latin typeface="Courier New"/>
              </a:rPr>
              <a:t xml:space="preserve">type</a:t>
            </a:r>
            <a:r>
              <a:rPr lang="en-US" sz="12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200">
                <a:solidFill>
                  <a:srgbClr val="4B5563"/>
                </a:solidFill>
                <a:latin typeface="Courier New"/>
              </a:rPr>
              <a:t xml:space="preserve">=</a:t>
            </a:r>
            <a:r>
              <a:rPr lang="en-US" sz="1200">
                <a:solidFill>
                  <a:srgbClr val="4B5563"/>
                </a:solidFill>
                <a:latin typeface="Courier New"/>
              </a:rPr>
              <a:t xml:space="preserve">=</a:t>
            </a:r>
            <a:r>
              <a:rPr lang="en-US" sz="12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200">
                <a:solidFill>
                  <a:srgbClr val="B14747"/>
                </a:solidFill>
                <a:latin typeface="Courier New"/>
              </a:rPr>
              <a:t xml:space="preserve">"ship"</a:t>
            </a:r>
            <a:r>
              <a:rPr lang="en-US" sz="1200">
                <a:solidFill>
                  <a:srgbClr val="4B5563"/>
                </a:solidFill>
                <a:latin typeface="Courier New"/>
              </a:rPr>
              <a:t xml:space="preserve">:</a:t>
            </a:r>
            <a:r>
              <a:rPr lang="en-US" sz="12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200">
                <a:solidFill>
                  <a:srgbClr val="0B57D0"/>
                </a:solidFill>
                <a:latin typeface="Courier New"/>
              </a:rPr>
              <a:t xml:space="preserve">return</a:t>
            </a:r>
            <a:r>
              <a:rPr lang="en-US" sz="12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200">
                <a:solidFill>
                  <a:srgbClr val="0B57D0"/>
                </a:solidFill>
                <a:latin typeface="Courier New"/>
              </a:rPr>
              <a:t xml:space="preserve">new</a:t>
            </a:r>
            <a:r>
              <a:rPr lang="en-US" sz="12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200">
                <a:solidFill>
                  <a:srgbClr val="0F766E"/>
                </a:solidFill>
                <a:latin typeface="Courier New"/>
              </a:rPr>
              <a:t xml:space="preserve">Ship</a:t>
            </a:r>
            <a:r>
              <a:rPr lang="en-US" sz="12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200">
                <a:solidFill>
                  <a:srgbClr val="4B5563"/>
                </a:solidFill>
                <a:latin typeface="Courier New"/>
              </a:rPr>
              <a:t xml:space="preserve">)</a:t>
            </a:r>
            <a:endParaRPr sz="1200"/>
          </a:p>
          <a:p>
            <a:pPr>
              <a:lnSpc>
                <a:spcPts val="1500"/>
              </a:lnSpc>
            </a:pPr>
            <a:r>
              <a:rPr lang="en-US" sz="1200">
                <a:solidFill>
                  <a:srgbClr val="64748B"/>
                </a:solidFill>
                <a:latin typeface="Courier New"/>
              </a:rPr>
              <a:t xml:space="preserve">// Plane/Truck/Ship implement Transport.transport()</a:t>
            </a:r>
            <a:endParaRPr sz="1200"/>
          </a:p>
        </p:txBody>
      </p:sp>
      <p:sp>
        <p:nvSpPr>
          <p:cNvPr id="48" name="Text 48"/>
          <p:cNvSpPr txBox="1"/>
          <p:nvPr/>
        </p:nvSpPr>
        <p:spPr>
          <a:xfrm>
            <a:off x="304800" y="10007600"/>
            <a:ext cx="10160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566174"/>
                </a:solidFill>
                <a:latin typeface="Arial"/>
              </a:rPr>
              <a:t xml:space="preserve">Source: https://refactoring.guru/design-patterns/factory-method</a:t>
            </a:r>
            <a:endParaRPr sz="1000"/>
          </a:p>
        </p:txBody>
      </p:sp>
      <p:sp>
        <p:nvSpPr>
          <p:cNvPr id="49" name="Text 49"/>
          <p:cNvSpPr txBox="1"/>
          <p:nvPr/>
        </p:nvSpPr>
        <p:spPr>
          <a:xfrm>
            <a:off x="9144000" y="10007600"/>
            <a:ext cx="8890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566174"/>
                </a:solidFill>
                <a:latin typeface="Arial"/>
              </a:rPr>
              <a:t xml:space="preserve">UML: Client box = caller code; hollow triangle = inheritance / realization; dashed open arrow = dependency</a:t>
            </a:r>
            <a:endParaRPr sz="1000"/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 3"/>
          <p:cNvSpPr txBox="1"/>
          <p:nvPr/>
        </p:nvSpPr>
        <p:spPr>
          <a:xfrm>
            <a:off x="304800" y="114300"/>
            <a:ext cx="5842000" cy="6578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4680"/>
              </a:lnSpc>
            </a:pPr>
            <a:r>
              <a:rPr lang="en-US" sz="3900" b="1">
                <a:solidFill>
                  <a:srgbClr val="101319"/>
                </a:solidFill>
                <a:latin typeface="Arial"/>
              </a:rPr>
              <a:t xml:space="preserve">Abstract Factory</a:t>
            </a:r>
            <a:endParaRPr sz="3900"/>
          </a:p>
        </p:txBody>
      </p:sp>
      <p:sp>
        <p:nvSpPr>
          <p:cNvPr id="4" name="Panel 4"/>
          <p:cNvSpPr/>
          <p:nvPr/>
        </p:nvSpPr>
        <p:spPr>
          <a:xfrm>
            <a:off x="4545254" y="177800"/>
            <a:ext cx="25400" cy="660400"/>
          </a:xfrm>
          <a:prstGeom prst="rect">
            <a:avLst/>
          </a:prstGeom>
          <a:solidFill>
            <a:srgbClr val="858E9E"/>
          </a:soli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4773854" y="165100"/>
            <a:ext cx="13044246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>
                <a:solidFill>
                  <a:srgbClr val="596273"/>
                </a:solidFill>
                <a:latin typeface="Arial"/>
              </a:rPr>
              <a:t xml:space="preserve">Creational Design Pattern</a:t>
            </a:r>
            <a:endParaRPr sz="1700"/>
          </a:p>
        </p:txBody>
      </p:sp>
      <p:sp>
        <p:nvSpPr>
          <p:cNvPr id="6" name="Text 6"/>
          <p:cNvSpPr txBox="1"/>
          <p:nvPr/>
        </p:nvSpPr>
        <p:spPr>
          <a:xfrm>
            <a:off x="4773854" y="469900"/>
            <a:ext cx="13044246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>
                <a:solidFill>
                  <a:srgbClr val="182230"/>
                </a:solidFill>
                <a:latin typeface="Arial"/>
              </a:rPr>
              <a:t xml:space="preserve">Create related product families through a factory interface.</a:t>
            </a:r>
            <a:endParaRPr sz="1800"/>
          </a:p>
        </p:txBody>
      </p:sp>
      <p:sp>
        <p:nvSpPr>
          <p:cNvPr id="7" name="Panel 7"/>
          <p:cNvSpPr/>
          <p:nvPr/>
        </p:nvSpPr>
        <p:spPr>
          <a:xfrm>
            <a:off x="304800" y="965200"/>
            <a:ext cx="17678400" cy="304800"/>
          </a:xfrm>
          <a:prstGeom prst="rect">
            <a:avLst/>
          </a:prstGeom>
          <a:solidFill>
            <a:srgbClr val="EDF0F6"/>
          </a:solidFill>
          <a:ln>
            <a:noFill/>
          </a:ln>
        </p:spPr>
      </p:sp>
      <p:sp>
        <p:nvSpPr>
          <p:cNvPr id="8" name="Text 8"/>
          <p:cNvSpPr txBox="1"/>
          <p:nvPr/>
        </p:nvSpPr>
        <p:spPr>
          <a:xfrm>
            <a:off x="431800" y="1003300"/>
            <a:ext cx="158750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374151"/>
                </a:solidFill>
                <a:latin typeface="Arial"/>
              </a:rPr>
              <a:t xml:space="preserve">CASE STUDY: UPS and DHL transport families</a:t>
            </a:r>
            <a:endParaRPr sz="1300"/>
          </a:p>
        </p:txBody>
      </p:sp>
      <p:sp>
        <p:nvSpPr>
          <p:cNvPr id="9" name="Text 9"/>
          <p:cNvSpPr txBox="1"/>
          <p:nvPr/>
        </p:nvSpPr>
        <p:spPr>
          <a:xfrm>
            <a:off x="17018000" y="1003300"/>
            <a:ext cx="9525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374151"/>
                </a:solidFill>
                <a:latin typeface="Arial"/>
              </a:rPr>
              <a:t xml:space="preserve">03 / 14</a:t>
            </a:r>
            <a:endParaRPr sz="1300"/>
          </a:p>
        </p:txBody>
      </p:sp>
      <p:sp>
        <p:nvSpPr>
          <p:cNvPr id="10" name="Panel 10"/>
          <p:cNvSpPr/>
          <p:nvPr/>
        </p:nvSpPr>
        <p:spPr>
          <a:xfrm>
            <a:off x="304800" y="1384300"/>
            <a:ext cx="8686800" cy="660400"/>
          </a:xfrm>
          <a:prstGeom prst="rect">
            <a:avLst/>
          </a:prstGeom>
          <a:solidFill>
            <a:srgbClr val="EFA5AA"/>
          </a:solidFill>
          <a:ln>
            <a:noFill/>
          </a:ln>
        </p:spPr>
      </p:sp>
      <p:sp>
        <p:nvSpPr>
          <p:cNvPr id="11" name="Panel 11"/>
          <p:cNvSpPr/>
          <p:nvPr/>
        </p:nvSpPr>
        <p:spPr>
          <a:xfrm>
            <a:off x="330200" y="1409700"/>
            <a:ext cx="8636000" cy="609600"/>
          </a:xfrm>
          <a:prstGeom prst="rect">
            <a:avLst/>
          </a:prstGeom>
          <a:solidFill>
            <a:srgbClr val="FFE2E3"/>
          </a:solidFill>
          <a:ln>
            <a:noFill/>
          </a:ln>
        </p:spPr>
      </p:sp>
      <p:sp>
        <p:nvSpPr>
          <p:cNvPr id="12" name="Panel 12"/>
          <p:cNvSpPr/>
          <p:nvPr/>
        </p:nvSpPr>
        <p:spPr>
          <a:xfrm>
            <a:off x="431800" y="1473200"/>
            <a:ext cx="63500" cy="228600"/>
          </a:xfrm>
          <a:prstGeom prst="rect">
            <a:avLst/>
          </a:prstGeom>
          <a:solidFill>
            <a:srgbClr val="C5222B"/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596900" y="1422400"/>
            <a:ext cx="8153400" cy="3073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920"/>
              </a:lnSpc>
            </a:pPr>
            <a:r>
              <a:rPr lang="en-US" sz="1600" b="1">
                <a:solidFill>
                  <a:srgbClr val="C5222B"/>
                </a:solidFill>
                <a:latin typeface="Arial"/>
              </a:rPr>
              <a:t xml:space="preserve">Problem</a:t>
            </a:r>
            <a:endParaRPr sz="1600"/>
          </a:p>
        </p:txBody>
      </p:sp>
      <p:sp>
        <p:nvSpPr>
          <p:cNvPr id="14" name="Text 14"/>
          <p:cNvSpPr txBox="1"/>
          <p:nvPr/>
        </p:nvSpPr>
        <p:spPr>
          <a:xfrm>
            <a:off x="520700" y="1600200"/>
            <a:ext cx="8255000" cy="2413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400"/>
              </a:lnSpc>
            </a:pPr>
            <a:r>
              <a:rPr lang="en-US" sz="1200">
                <a:solidFill>
                  <a:srgbClr val="192331"/>
                </a:solidFill>
                <a:latin typeface="Arial"/>
              </a:rPr>
              <a:t xml:space="preserve">Client news every carrier concrete and calls drive / sail / fly separately.</a:t>
            </a:r>
            <a:endParaRPr sz="1200"/>
          </a:p>
        </p:txBody>
      </p:sp>
      <p:sp>
        <p:nvSpPr>
          <p:cNvPr id="15" name="Panel 15"/>
          <p:cNvSpPr/>
          <p:nvPr/>
        </p:nvSpPr>
        <p:spPr>
          <a:xfrm>
            <a:off x="304800" y="2120900"/>
            <a:ext cx="8686800" cy="32131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16" name="Panel 16"/>
          <p:cNvSpPr/>
          <p:nvPr/>
        </p:nvSpPr>
        <p:spPr>
          <a:xfrm>
            <a:off x="330200" y="2146300"/>
            <a:ext cx="8636000" cy="31623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7" name="Panel 17"/>
          <p:cNvSpPr/>
          <p:nvPr/>
        </p:nvSpPr>
        <p:spPr>
          <a:xfrm>
            <a:off x="330200" y="2146300"/>
            <a:ext cx="8636000" cy="3048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18" name="Text 18"/>
          <p:cNvSpPr txBox="1"/>
          <p:nvPr/>
        </p:nvSpPr>
        <p:spPr>
          <a:xfrm>
            <a:off x="457200" y="2159000"/>
            <a:ext cx="83820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151B27"/>
                </a:solidFill>
                <a:latin typeface="Arial"/>
              </a:rPr>
              <a:t xml:space="preserve">Before (direct coupling)</a:t>
            </a:r>
            <a:endParaRPr sz="1300"/>
          </a:p>
        </p:txBody>
      </p:sp>
      <p:pic>
        <p:nvPicPr>
          <p:cNvPr id="19" name="UML class diagram"/>
          <p:cNvPicPr/>
          <p:nvPr/>
        </p:nvPicPr>
        <p:blipFill>
          <a:blip r:embed="rId2"/>
          <a:stretch>
            <a:fillRect/>
          </a:stretch>
        </p:blipFill>
        <p:spPr>
          <a:xfrm>
            <a:off x="444500" y="2476500"/>
            <a:ext cx="8382000" cy="2806700"/>
          </a:xfrm>
          <a:prstGeom prst="rect">
            <a:avLst/>
          </a:prstGeom>
        </p:spPr>
      </p:pic>
      <p:sp>
        <p:nvSpPr>
          <p:cNvPr id="20" name="Panel 20"/>
          <p:cNvSpPr/>
          <p:nvPr/>
        </p:nvSpPr>
        <p:spPr>
          <a:xfrm>
            <a:off x="9296400" y="1384300"/>
            <a:ext cx="8686800" cy="660400"/>
          </a:xfrm>
          <a:prstGeom prst="rect">
            <a:avLst/>
          </a:prstGeom>
          <a:solidFill>
            <a:srgbClr val="94D9D1"/>
          </a:solidFill>
          <a:ln>
            <a:noFill/>
          </a:ln>
        </p:spPr>
      </p:sp>
      <p:sp>
        <p:nvSpPr>
          <p:cNvPr id="21" name="Panel 21"/>
          <p:cNvSpPr/>
          <p:nvPr/>
        </p:nvSpPr>
        <p:spPr>
          <a:xfrm>
            <a:off x="9321800" y="1409700"/>
            <a:ext cx="8636000" cy="609600"/>
          </a:xfrm>
          <a:prstGeom prst="rect">
            <a:avLst/>
          </a:prstGeom>
          <a:solidFill>
            <a:srgbClr val="D9F5F0"/>
          </a:solidFill>
          <a:ln>
            <a:noFill/>
          </a:ln>
        </p:spPr>
      </p:sp>
      <p:sp>
        <p:nvSpPr>
          <p:cNvPr id="22" name="Panel 22"/>
          <p:cNvSpPr/>
          <p:nvPr/>
        </p:nvSpPr>
        <p:spPr>
          <a:xfrm>
            <a:off x="9423400" y="1473200"/>
            <a:ext cx="63500" cy="228600"/>
          </a:xfrm>
          <a:prstGeom prst="rect">
            <a:avLst/>
          </a:prstGeom>
          <a:solidFill>
            <a:srgbClr val="007E78"/>
          </a:solidFill>
          <a:ln>
            <a:noFill/>
          </a:ln>
        </p:spPr>
      </p:sp>
      <p:sp>
        <p:nvSpPr>
          <p:cNvPr id="23" name="Text 23"/>
          <p:cNvSpPr txBox="1"/>
          <p:nvPr/>
        </p:nvSpPr>
        <p:spPr>
          <a:xfrm>
            <a:off x="9588500" y="1422400"/>
            <a:ext cx="8153400" cy="3073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920"/>
              </a:lnSpc>
            </a:pPr>
            <a:r>
              <a:rPr lang="en-US" sz="1600" b="1">
                <a:solidFill>
                  <a:srgbClr val="007E78"/>
                </a:solidFill>
                <a:latin typeface="Arial"/>
              </a:rPr>
              <a:t xml:space="preserve">Solution</a:t>
            </a:r>
            <a:endParaRPr sz="1600"/>
          </a:p>
        </p:txBody>
      </p:sp>
      <p:sp>
        <p:nvSpPr>
          <p:cNvPr id="24" name="Text 24"/>
          <p:cNvSpPr txBox="1"/>
          <p:nvPr/>
        </p:nvSpPr>
        <p:spPr>
          <a:xfrm>
            <a:off x="9512300" y="1600200"/>
            <a:ext cx="8255000" cy="2413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400"/>
              </a:lnSpc>
            </a:pPr>
            <a:r>
              <a:rPr lang="en-US" sz="1200">
                <a:solidFill>
                  <a:srgbClr val="192331"/>
                </a:solidFill>
                <a:latin typeface="Arial"/>
              </a:rPr>
              <a:t xml:space="preserve">Pick a family factory; create as Transport; one transport() loop.</a:t>
            </a:r>
            <a:endParaRPr sz="1200"/>
          </a:p>
        </p:txBody>
      </p:sp>
      <p:sp>
        <p:nvSpPr>
          <p:cNvPr id="25" name="Panel 25"/>
          <p:cNvSpPr/>
          <p:nvPr/>
        </p:nvSpPr>
        <p:spPr>
          <a:xfrm>
            <a:off x="9296400" y="2120900"/>
            <a:ext cx="8686800" cy="32131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26" name="Panel 26"/>
          <p:cNvSpPr/>
          <p:nvPr/>
        </p:nvSpPr>
        <p:spPr>
          <a:xfrm>
            <a:off x="9321800" y="2146300"/>
            <a:ext cx="8636000" cy="31623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7" name="Panel 27"/>
          <p:cNvSpPr/>
          <p:nvPr/>
        </p:nvSpPr>
        <p:spPr>
          <a:xfrm>
            <a:off x="9321800" y="2146300"/>
            <a:ext cx="8636000" cy="3048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28" name="Text 28"/>
          <p:cNvSpPr txBox="1"/>
          <p:nvPr/>
        </p:nvSpPr>
        <p:spPr>
          <a:xfrm>
            <a:off x="9448800" y="2159000"/>
            <a:ext cx="83820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151B27"/>
                </a:solidFill>
                <a:latin typeface="Arial"/>
              </a:rPr>
              <a:t xml:space="preserve">After (using Abstract Factory)</a:t>
            </a:r>
            <a:endParaRPr sz="1300"/>
          </a:p>
        </p:txBody>
      </p:sp>
      <p:pic>
        <p:nvPicPr>
          <p:cNvPr id="29" name="UML class diagram"/>
          <p:cNvPicPr/>
          <p:nvPr/>
        </p:nvPicPr>
        <p:blipFill>
          <a:blip r:embed="rId3"/>
          <a:stretch>
            <a:fillRect/>
          </a:stretch>
        </p:blipFill>
        <p:spPr>
          <a:xfrm>
            <a:off x="9436100" y="2476500"/>
            <a:ext cx="8382000" cy="2806700"/>
          </a:xfrm>
          <a:prstGeom prst="rect">
            <a:avLst/>
          </a:prstGeom>
        </p:spPr>
      </p:pic>
      <p:sp>
        <p:nvSpPr>
          <p:cNvPr id="30" name="Panel 30"/>
          <p:cNvSpPr/>
          <p:nvPr/>
        </p:nvSpPr>
        <p:spPr>
          <a:xfrm>
            <a:off x="304800" y="5435600"/>
            <a:ext cx="8686800" cy="45212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31" name="Panel 31"/>
          <p:cNvSpPr/>
          <p:nvPr/>
        </p:nvSpPr>
        <p:spPr>
          <a:xfrm>
            <a:off x="330200" y="5461000"/>
            <a:ext cx="8636000" cy="44704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32" name="Panel 32"/>
          <p:cNvSpPr/>
          <p:nvPr/>
        </p:nvSpPr>
        <p:spPr>
          <a:xfrm>
            <a:off x="330200" y="5461000"/>
            <a:ext cx="8636000" cy="3048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33" name="Text 33"/>
          <p:cNvSpPr txBox="1"/>
          <p:nvPr/>
        </p:nvSpPr>
        <p:spPr>
          <a:xfrm>
            <a:off x="457200" y="5473700"/>
            <a:ext cx="6985000" cy="2768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680"/>
              </a:lnSpc>
            </a:pPr>
            <a:r>
              <a:rPr lang="en-US" sz="1400" b="1">
                <a:solidFill>
                  <a:srgbClr val="161D2B"/>
                </a:solidFill>
                <a:latin typeface="Arial"/>
              </a:rPr>
              <a:t xml:space="preserve">Client Code (Before)</a:t>
            </a:r>
            <a:endParaRPr sz="1400"/>
          </a:p>
        </p:txBody>
      </p:sp>
      <p:sp>
        <p:nvSpPr>
          <p:cNvPr id="34" name="Text 34"/>
          <p:cNvSpPr txBox="1"/>
          <p:nvPr/>
        </p:nvSpPr>
        <p:spPr>
          <a:xfrm>
            <a:off x="7594600" y="5511800"/>
            <a:ext cx="1270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000"/>
          </a:p>
        </p:txBody>
      </p:sp>
      <p:sp>
        <p:nvSpPr>
          <p:cNvPr id="35" name="Code 35"/>
          <p:cNvSpPr txBox="1"/>
          <p:nvPr/>
        </p:nvSpPr>
        <p:spPr>
          <a:xfrm>
            <a:off x="482600" y="5816600"/>
            <a:ext cx="8255000" cy="12827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600"/>
              </a:lnSpc>
            </a:pP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dt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=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B57D0"/>
                </a:solidFill>
                <a:latin typeface="Courier New"/>
              </a:rPr>
              <a:t xml:space="preserve">new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F766E"/>
                </a:solidFill>
                <a:latin typeface="Courier New"/>
              </a:rPr>
              <a:t xml:space="preserve">DHLTruck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;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dt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drive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ds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=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B57D0"/>
                </a:solidFill>
                <a:latin typeface="Courier New"/>
              </a:rPr>
              <a:t xml:space="preserve">new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F766E"/>
                </a:solidFill>
                <a:latin typeface="Courier New"/>
              </a:rPr>
              <a:t xml:space="preserve">DHLShip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;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 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ds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sail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dp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=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B57D0"/>
                </a:solidFill>
                <a:latin typeface="Courier New"/>
              </a:rPr>
              <a:t xml:space="preserve">new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F766E"/>
                </a:solidFill>
                <a:latin typeface="Courier New"/>
              </a:rPr>
              <a:t xml:space="preserve">DHLPlane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;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dp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fly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ut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=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B57D0"/>
                </a:solidFill>
                <a:latin typeface="Courier New"/>
              </a:rPr>
              <a:t xml:space="preserve">new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F766E"/>
                </a:solidFill>
                <a:latin typeface="Courier New"/>
              </a:rPr>
              <a:t xml:space="preserve">UPSTruck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;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ut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drive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us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=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B57D0"/>
                </a:solidFill>
                <a:latin typeface="Courier New"/>
              </a:rPr>
              <a:t xml:space="preserve">new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F766E"/>
                </a:solidFill>
                <a:latin typeface="Courier New"/>
              </a:rPr>
              <a:t xml:space="preserve">UPSShip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;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 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us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sail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up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=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B57D0"/>
                </a:solidFill>
                <a:latin typeface="Courier New"/>
              </a:rPr>
              <a:t xml:space="preserve">new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F766E"/>
                </a:solidFill>
                <a:latin typeface="Courier New"/>
              </a:rPr>
              <a:t xml:space="preserve">UPSPlane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;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up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fly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endParaRPr sz="1300"/>
          </a:p>
        </p:txBody>
      </p:sp>
      <p:sp>
        <p:nvSpPr>
          <p:cNvPr id="36" name="Panel 36"/>
          <p:cNvSpPr/>
          <p:nvPr/>
        </p:nvSpPr>
        <p:spPr>
          <a:xfrm>
            <a:off x="9296400" y="5435600"/>
            <a:ext cx="8686800" cy="45212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37" name="Panel 37"/>
          <p:cNvSpPr/>
          <p:nvPr/>
        </p:nvSpPr>
        <p:spPr>
          <a:xfrm>
            <a:off x="9321800" y="5461000"/>
            <a:ext cx="8636000" cy="44704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38" name="Panel 38"/>
          <p:cNvSpPr/>
          <p:nvPr/>
        </p:nvSpPr>
        <p:spPr>
          <a:xfrm>
            <a:off x="9321800" y="5461000"/>
            <a:ext cx="8636000" cy="3048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39" name="Text 39"/>
          <p:cNvSpPr txBox="1"/>
          <p:nvPr/>
        </p:nvSpPr>
        <p:spPr>
          <a:xfrm>
            <a:off x="9448800" y="5473700"/>
            <a:ext cx="6985000" cy="2768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680"/>
              </a:lnSpc>
            </a:pPr>
            <a:r>
              <a:rPr lang="en-US" sz="1400" b="1">
                <a:solidFill>
                  <a:srgbClr val="161D2B"/>
                </a:solidFill>
                <a:latin typeface="Arial"/>
              </a:rPr>
              <a:t xml:space="preserve">Client Code (After)</a:t>
            </a:r>
            <a:endParaRPr sz="1400"/>
          </a:p>
        </p:txBody>
      </p:sp>
      <p:sp>
        <p:nvSpPr>
          <p:cNvPr id="40" name="Text 40"/>
          <p:cNvSpPr txBox="1"/>
          <p:nvPr/>
        </p:nvSpPr>
        <p:spPr>
          <a:xfrm>
            <a:off x="16586200" y="5511800"/>
            <a:ext cx="1270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000"/>
          </a:p>
        </p:txBody>
      </p:sp>
      <p:sp>
        <p:nvSpPr>
          <p:cNvPr id="41" name="Code 41"/>
          <p:cNvSpPr txBox="1"/>
          <p:nvPr/>
        </p:nvSpPr>
        <p:spPr>
          <a:xfrm>
            <a:off x="9474200" y="5816600"/>
            <a:ext cx="8255000" cy="12827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600"/>
              </a:lnSpc>
            </a:pP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dhl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=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B57D0"/>
                </a:solidFill>
                <a:latin typeface="Courier New"/>
              </a:rPr>
              <a:t xml:space="preserve">new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F766E"/>
                </a:solidFill>
                <a:latin typeface="Courier New"/>
              </a:rPr>
              <a:t xml:space="preserve">DHLFactory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dp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=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dhl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createPlane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;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ds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=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dhl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createShip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;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dt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=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dhl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createTruck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ups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=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B57D0"/>
                </a:solidFill>
                <a:latin typeface="Courier New"/>
              </a:rPr>
              <a:t xml:space="preserve">new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F766E"/>
                </a:solidFill>
                <a:latin typeface="Courier New"/>
              </a:rPr>
              <a:t xml:space="preserve">UPSFactory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up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=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ups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createPlane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;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us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=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ups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createShip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;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ut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=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ups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createTruck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fleet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=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[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dp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,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ds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,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dt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,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up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,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us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,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ut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]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0B57D0"/>
                </a:solidFill>
                <a:latin typeface="Courier New"/>
              </a:rPr>
              <a:t xml:space="preserve">for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t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B57D0"/>
                </a:solidFill>
                <a:latin typeface="Courier New"/>
              </a:rPr>
              <a:t xml:space="preserve">in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fleet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: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t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transport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endParaRPr sz="1300"/>
          </a:p>
        </p:txBody>
      </p:sp>
      <p:sp>
        <p:nvSpPr>
          <p:cNvPr id="42" name="Text 42"/>
          <p:cNvSpPr txBox="1"/>
          <p:nvPr/>
        </p:nvSpPr>
        <p:spPr>
          <a:xfrm>
            <a:off x="304800" y="10007600"/>
            <a:ext cx="10160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566174"/>
                </a:solidFill>
                <a:latin typeface="Arial"/>
              </a:rPr>
              <a:t xml:space="preserve">Source: https://refactoring.guru/design-patterns/abstract-factory</a:t>
            </a:r>
            <a:endParaRPr sz="1000"/>
          </a:p>
        </p:txBody>
      </p:sp>
      <p:sp>
        <p:nvSpPr>
          <p:cNvPr id="43" name="Text 43"/>
          <p:cNvSpPr txBox="1"/>
          <p:nvPr/>
        </p:nvSpPr>
        <p:spPr>
          <a:xfrm>
            <a:off x="9144000" y="10007600"/>
            <a:ext cx="8890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566174"/>
                </a:solidFill>
                <a:latin typeface="Arial"/>
              </a:rPr>
              <a:t xml:space="preserve">UML: Client box = caller code; hollow triangle = inheritance / realization; dashed open arrow = dependency</a:t>
            </a:r>
            <a:endParaRPr sz="1000"/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 3"/>
          <p:cNvSpPr txBox="1"/>
          <p:nvPr/>
        </p:nvSpPr>
        <p:spPr>
          <a:xfrm>
            <a:off x="304800" y="114300"/>
            <a:ext cx="5842000" cy="7340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5280"/>
              </a:lnSpc>
            </a:pPr>
            <a:r>
              <a:rPr lang="en-US" sz="4400" b="1">
                <a:solidFill>
                  <a:srgbClr val="101319"/>
                </a:solidFill>
                <a:latin typeface="Arial"/>
              </a:rPr>
              <a:t xml:space="preserve">Builder</a:t>
            </a:r>
            <a:endParaRPr sz="4400"/>
          </a:p>
        </p:txBody>
      </p:sp>
      <p:sp>
        <p:nvSpPr>
          <p:cNvPr id="4" name="Panel 4"/>
          <p:cNvSpPr/>
          <p:nvPr/>
        </p:nvSpPr>
        <p:spPr>
          <a:xfrm>
            <a:off x="2534666" y="177800"/>
            <a:ext cx="25400" cy="660400"/>
          </a:xfrm>
          <a:prstGeom prst="rect">
            <a:avLst/>
          </a:prstGeom>
          <a:solidFill>
            <a:srgbClr val="858E9E"/>
          </a:soli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2763266" y="165100"/>
            <a:ext cx="15054834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>
                <a:solidFill>
                  <a:srgbClr val="596273"/>
                </a:solidFill>
                <a:latin typeface="Arial"/>
              </a:rPr>
              <a:t xml:space="preserve">Creational Design Pattern</a:t>
            </a:r>
            <a:endParaRPr sz="1700"/>
          </a:p>
        </p:txBody>
      </p:sp>
      <p:sp>
        <p:nvSpPr>
          <p:cNvPr id="6" name="Text 6"/>
          <p:cNvSpPr txBox="1"/>
          <p:nvPr/>
        </p:nvSpPr>
        <p:spPr>
          <a:xfrm>
            <a:off x="2763266" y="469900"/>
            <a:ext cx="15054834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>
                <a:solidFill>
                  <a:srgbClr val="182230"/>
                </a:solidFill>
                <a:latin typeface="Arial"/>
              </a:rPr>
              <a:t xml:space="preserve">Separate construction steps from the representation being assembled.</a:t>
            </a:r>
            <a:endParaRPr sz="1800"/>
          </a:p>
        </p:txBody>
      </p:sp>
      <p:sp>
        <p:nvSpPr>
          <p:cNvPr id="7" name="Panel 7"/>
          <p:cNvSpPr/>
          <p:nvPr/>
        </p:nvSpPr>
        <p:spPr>
          <a:xfrm>
            <a:off x="304800" y="965200"/>
            <a:ext cx="17678400" cy="304800"/>
          </a:xfrm>
          <a:prstGeom prst="rect">
            <a:avLst/>
          </a:prstGeom>
          <a:solidFill>
            <a:srgbClr val="EDF0F6"/>
          </a:solidFill>
          <a:ln>
            <a:noFill/>
          </a:ln>
        </p:spPr>
      </p:sp>
      <p:sp>
        <p:nvSpPr>
          <p:cNvPr id="8" name="Text 8"/>
          <p:cNvSpPr txBox="1"/>
          <p:nvPr/>
        </p:nvSpPr>
        <p:spPr>
          <a:xfrm>
            <a:off x="431800" y="1003300"/>
            <a:ext cx="158750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374151"/>
                </a:solidFill>
                <a:latin typeface="Arial"/>
              </a:rPr>
              <a:t xml:space="preserve">CASE STUDY: Houses with optional features</a:t>
            </a:r>
            <a:endParaRPr sz="1300"/>
          </a:p>
        </p:txBody>
      </p:sp>
      <p:sp>
        <p:nvSpPr>
          <p:cNvPr id="9" name="Text 9"/>
          <p:cNvSpPr txBox="1"/>
          <p:nvPr/>
        </p:nvSpPr>
        <p:spPr>
          <a:xfrm>
            <a:off x="17018000" y="1003300"/>
            <a:ext cx="9525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374151"/>
                </a:solidFill>
                <a:latin typeface="Arial"/>
              </a:rPr>
              <a:t xml:space="preserve">04 / 14</a:t>
            </a:r>
            <a:endParaRPr sz="1300"/>
          </a:p>
        </p:txBody>
      </p:sp>
      <p:sp>
        <p:nvSpPr>
          <p:cNvPr id="10" name="Panel 10"/>
          <p:cNvSpPr/>
          <p:nvPr/>
        </p:nvSpPr>
        <p:spPr>
          <a:xfrm>
            <a:off x="304800" y="1384300"/>
            <a:ext cx="8686800" cy="1041400"/>
          </a:xfrm>
          <a:prstGeom prst="rect">
            <a:avLst/>
          </a:prstGeom>
          <a:solidFill>
            <a:srgbClr val="EFA5AA"/>
          </a:solidFill>
          <a:ln>
            <a:noFill/>
          </a:ln>
        </p:spPr>
      </p:sp>
      <p:sp>
        <p:nvSpPr>
          <p:cNvPr id="11" name="Panel 11"/>
          <p:cNvSpPr/>
          <p:nvPr/>
        </p:nvSpPr>
        <p:spPr>
          <a:xfrm>
            <a:off x="330200" y="1409700"/>
            <a:ext cx="8636000" cy="990600"/>
          </a:xfrm>
          <a:prstGeom prst="rect">
            <a:avLst/>
          </a:prstGeom>
          <a:solidFill>
            <a:srgbClr val="FFE2E3"/>
          </a:solidFill>
          <a:ln>
            <a:noFill/>
          </a:ln>
        </p:spPr>
      </p:sp>
      <p:sp>
        <p:nvSpPr>
          <p:cNvPr id="12" name="Panel 12"/>
          <p:cNvSpPr/>
          <p:nvPr/>
        </p:nvSpPr>
        <p:spPr>
          <a:xfrm>
            <a:off x="431800" y="1473200"/>
            <a:ext cx="63500" cy="228600"/>
          </a:xfrm>
          <a:prstGeom prst="rect">
            <a:avLst/>
          </a:prstGeom>
          <a:solidFill>
            <a:srgbClr val="C5222B"/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596900" y="1422400"/>
            <a:ext cx="8153400" cy="3073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920"/>
              </a:lnSpc>
            </a:pPr>
            <a:r>
              <a:rPr lang="en-US" sz="1600" b="1">
                <a:solidFill>
                  <a:srgbClr val="C5222B"/>
                </a:solidFill>
                <a:latin typeface="Arial"/>
              </a:rPr>
              <a:t xml:space="preserve">Problem</a:t>
            </a:r>
            <a:endParaRPr sz="1600"/>
          </a:p>
        </p:txBody>
      </p:sp>
      <p:sp>
        <p:nvSpPr>
          <p:cNvPr id="14" name="Text 14"/>
          <p:cNvSpPr txBox="1"/>
          <p:nvPr/>
        </p:nvSpPr>
        <p:spPr>
          <a:xfrm>
            <a:off x="520700" y="1651000"/>
            <a:ext cx="8255000" cy="5207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192331"/>
                </a:solidFill>
                <a:latin typeface="Arial"/>
              </a:rPr>
              <a:t xml:space="preserve">• House grows telescoping constructors (rooms/doors/windows + pool/trees/…).</a:t>
            </a:r>
            <a:endParaRPr sz="1000"/>
          </a:p>
          <a:p>
            <a:pPr>
              <a:lnSpc>
                <a:spcPts val="1200"/>
              </a:lnSpc>
            </a:pPr>
            <a:r>
              <a:rPr lang="en-US" sz="1000">
                <a:solidFill>
                  <a:srgbClr val="192331"/>
                </a:solidFill>
                <a:latin typeface="Arial"/>
              </a:rPr>
              <a:t xml:space="preserve">• Client passes long positional bool lists—unclear which flag is which.</a:t>
            </a:r>
            <a:endParaRPr sz="1000"/>
          </a:p>
          <a:p>
            <a:pPr>
              <a:lnSpc>
                <a:spcPts val="1200"/>
              </a:lnSpc>
            </a:pPr>
            <a:r>
              <a:rPr lang="en-US" sz="1000">
                <a:solidFill>
                  <a:srgbClr val="192331"/>
                </a:solidFill>
                <a:latin typeface="Arial"/>
              </a:rPr>
              <a:t xml:space="preserve">• Adding a feature forces new overloads and updates every call site.</a:t>
            </a:r>
            <a:endParaRPr sz="1000"/>
          </a:p>
        </p:txBody>
      </p:sp>
      <p:sp>
        <p:nvSpPr>
          <p:cNvPr id="15" name="Panel 15"/>
          <p:cNvSpPr/>
          <p:nvPr/>
        </p:nvSpPr>
        <p:spPr>
          <a:xfrm>
            <a:off x="304800" y="2501900"/>
            <a:ext cx="8686800" cy="28321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16" name="Panel 16"/>
          <p:cNvSpPr/>
          <p:nvPr/>
        </p:nvSpPr>
        <p:spPr>
          <a:xfrm>
            <a:off x="330200" y="2527300"/>
            <a:ext cx="8636000" cy="27813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7" name="Panel 17"/>
          <p:cNvSpPr/>
          <p:nvPr/>
        </p:nvSpPr>
        <p:spPr>
          <a:xfrm>
            <a:off x="330200" y="2527300"/>
            <a:ext cx="8636000" cy="3048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18" name="Text 18"/>
          <p:cNvSpPr txBox="1"/>
          <p:nvPr/>
        </p:nvSpPr>
        <p:spPr>
          <a:xfrm>
            <a:off x="457200" y="2540000"/>
            <a:ext cx="83820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151B27"/>
                </a:solidFill>
                <a:latin typeface="Arial"/>
              </a:rPr>
              <a:t xml:space="preserve">Before (direct coupling)</a:t>
            </a:r>
            <a:endParaRPr sz="1300"/>
          </a:p>
        </p:txBody>
      </p:sp>
      <p:pic>
        <p:nvPicPr>
          <p:cNvPr id="19" name="UML class diagram"/>
          <p:cNvPicPr/>
          <p:nvPr/>
        </p:nvPicPr>
        <p:blipFill>
          <a:blip r:embed="rId2"/>
          <a:stretch>
            <a:fillRect/>
          </a:stretch>
        </p:blipFill>
        <p:spPr>
          <a:xfrm>
            <a:off x="444500" y="2857500"/>
            <a:ext cx="8382000" cy="2425700"/>
          </a:xfrm>
          <a:prstGeom prst="rect">
            <a:avLst/>
          </a:prstGeom>
        </p:spPr>
      </p:pic>
      <p:sp>
        <p:nvSpPr>
          <p:cNvPr id="20" name="Panel 20"/>
          <p:cNvSpPr/>
          <p:nvPr/>
        </p:nvSpPr>
        <p:spPr>
          <a:xfrm>
            <a:off x="9296400" y="1384300"/>
            <a:ext cx="8686800" cy="1041400"/>
          </a:xfrm>
          <a:prstGeom prst="rect">
            <a:avLst/>
          </a:prstGeom>
          <a:solidFill>
            <a:srgbClr val="94D9D1"/>
          </a:solidFill>
          <a:ln>
            <a:noFill/>
          </a:ln>
        </p:spPr>
      </p:sp>
      <p:sp>
        <p:nvSpPr>
          <p:cNvPr id="21" name="Panel 21"/>
          <p:cNvSpPr/>
          <p:nvPr/>
        </p:nvSpPr>
        <p:spPr>
          <a:xfrm>
            <a:off x="9321800" y="1409700"/>
            <a:ext cx="8636000" cy="990600"/>
          </a:xfrm>
          <a:prstGeom prst="rect">
            <a:avLst/>
          </a:prstGeom>
          <a:solidFill>
            <a:srgbClr val="D9F5F0"/>
          </a:solidFill>
          <a:ln>
            <a:noFill/>
          </a:ln>
        </p:spPr>
      </p:sp>
      <p:sp>
        <p:nvSpPr>
          <p:cNvPr id="22" name="Panel 22"/>
          <p:cNvSpPr/>
          <p:nvPr/>
        </p:nvSpPr>
        <p:spPr>
          <a:xfrm>
            <a:off x="9423400" y="1473200"/>
            <a:ext cx="63500" cy="228600"/>
          </a:xfrm>
          <a:prstGeom prst="rect">
            <a:avLst/>
          </a:prstGeom>
          <a:solidFill>
            <a:srgbClr val="007E78"/>
          </a:solidFill>
          <a:ln>
            <a:noFill/>
          </a:ln>
        </p:spPr>
      </p:sp>
      <p:sp>
        <p:nvSpPr>
          <p:cNvPr id="23" name="Text 23"/>
          <p:cNvSpPr txBox="1"/>
          <p:nvPr/>
        </p:nvSpPr>
        <p:spPr>
          <a:xfrm>
            <a:off x="9588500" y="1422400"/>
            <a:ext cx="8153400" cy="3073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920"/>
              </a:lnSpc>
            </a:pPr>
            <a:r>
              <a:rPr lang="en-US" sz="1600" b="1">
                <a:solidFill>
                  <a:srgbClr val="007E78"/>
                </a:solidFill>
                <a:latin typeface="Arial"/>
              </a:rPr>
              <a:t xml:space="preserve">Solution</a:t>
            </a:r>
            <a:endParaRPr sz="1600"/>
          </a:p>
        </p:txBody>
      </p:sp>
      <p:sp>
        <p:nvSpPr>
          <p:cNvPr id="24" name="Text 24"/>
          <p:cNvSpPr txBox="1"/>
          <p:nvPr/>
        </p:nvSpPr>
        <p:spPr>
          <a:xfrm>
            <a:off x="9512300" y="1651000"/>
            <a:ext cx="8255000" cy="5207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192331"/>
                </a:solidFill>
                <a:latin typeface="Arial"/>
              </a:rPr>
              <a:t xml:space="preserve">• HouseBuilder names each step; ConcreteHouseBuilder adds extras.</a:t>
            </a:r>
            <a:endParaRPr sz="1000"/>
          </a:p>
          <a:p>
            <a:pPr>
              <a:lnSpc>
                <a:spcPts val="1200"/>
              </a:lnSpc>
            </a:pPr>
            <a:r>
              <a:rPr lang="en-US" sz="1000">
                <a:solidFill>
                  <a:srgbClr val="192331"/>
                </a:solidFill>
                <a:latin typeface="Arial"/>
              </a:rPr>
              <a:t xml:space="preserve">• HouseDirector encodes recipes (simple / family); Client can also chain steps.</a:t>
            </a:r>
            <a:endParaRPr sz="1000"/>
          </a:p>
          <a:p>
            <a:pPr>
              <a:lnSpc>
                <a:spcPts val="1200"/>
              </a:lnSpc>
            </a:pPr>
            <a:r>
              <a:rPr lang="en-US" sz="1000">
                <a:solidFill>
                  <a:srgbClr val="192331"/>
                </a:solidFill>
                <a:latin typeface="Arial"/>
              </a:rPr>
              <a:t xml:space="preserve">• Same houses; readable construction; product is House.</a:t>
            </a:r>
            <a:endParaRPr sz="1000"/>
          </a:p>
        </p:txBody>
      </p:sp>
      <p:sp>
        <p:nvSpPr>
          <p:cNvPr id="25" name="Panel 25"/>
          <p:cNvSpPr/>
          <p:nvPr/>
        </p:nvSpPr>
        <p:spPr>
          <a:xfrm>
            <a:off x="9296400" y="2501900"/>
            <a:ext cx="8686800" cy="28321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26" name="Panel 26"/>
          <p:cNvSpPr/>
          <p:nvPr/>
        </p:nvSpPr>
        <p:spPr>
          <a:xfrm>
            <a:off x="9321800" y="2527300"/>
            <a:ext cx="8636000" cy="27813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7" name="Panel 27"/>
          <p:cNvSpPr/>
          <p:nvPr/>
        </p:nvSpPr>
        <p:spPr>
          <a:xfrm>
            <a:off x="9321800" y="2527300"/>
            <a:ext cx="8636000" cy="3048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28" name="Text 28"/>
          <p:cNvSpPr txBox="1"/>
          <p:nvPr/>
        </p:nvSpPr>
        <p:spPr>
          <a:xfrm>
            <a:off x="9448800" y="2540000"/>
            <a:ext cx="83820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151B27"/>
                </a:solidFill>
                <a:latin typeface="Arial"/>
              </a:rPr>
              <a:t xml:space="preserve">After (using Builder)</a:t>
            </a:r>
            <a:endParaRPr sz="1300"/>
          </a:p>
        </p:txBody>
      </p:sp>
      <p:pic>
        <p:nvPicPr>
          <p:cNvPr id="29" name="UML class diagram"/>
          <p:cNvPicPr/>
          <p:nvPr/>
        </p:nvPicPr>
        <p:blipFill>
          <a:blip r:embed="rId3"/>
          <a:stretch>
            <a:fillRect/>
          </a:stretch>
        </p:blipFill>
        <p:spPr>
          <a:xfrm>
            <a:off x="9436100" y="2857500"/>
            <a:ext cx="8382000" cy="2425700"/>
          </a:xfrm>
          <a:prstGeom prst="rect">
            <a:avLst/>
          </a:prstGeom>
        </p:spPr>
      </p:pic>
      <p:sp>
        <p:nvSpPr>
          <p:cNvPr id="30" name="Panel 30"/>
          <p:cNvSpPr/>
          <p:nvPr/>
        </p:nvSpPr>
        <p:spPr>
          <a:xfrm>
            <a:off x="304800" y="5435600"/>
            <a:ext cx="8686800" cy="45212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31" name="Panel 31"/>
          <p:cNvSpPr/>
          <p:nvPr/>
        </p:nvSpPr>
        <p:spPr>
          <a:xfrm>
            <a:off x="330200" y="5461000"/>
            <a:ext cx="8636000" cy="44704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32" name="Panel 32"/>
          <p:cNvSpPr/>
          <p:nvPr/>
        </p:nvSpPr>
        <p:spPr>
          <a:xfrm>
            <a:off x="330200" y="5461000"/>
            <a:ext cx="8636000" cy="3048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33" name="Text 33"/>
          <p:cNvSpPr txBox="1"/>
          <p:nvPr/>
        </p:nvSpPr>
        <p:spPr>
          <a:xfrm>
            <a:off x="457200" y="5473700"/>
            <a:ext cx="6985000" cy="2768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680"/>
              </a:lnSpc>
            </a:pPr>
            <a:r>
              <a:rPr lang="en-US" sz="1400" b="1">
                <a:solidFill>
                  <a:srgbClr val="161D2B"/>
                </a:solidFill>
                <a:latin typeface="Arial"/>
              </a:rPr>
              <a:t xml:space="preserve">Client Code (Before)</a:t>
            </a:r>
            <a:endParaRPr sz="1400"/>
          </a:p>
        </p:txBody>
      </p:sp>
      <p:sp>
        <p:nvSpPr>
          <p:cNvPr id="34" name="Text 34"/>
          <p:cNvSpPr txBox="1"/>
          <p:nvPr/>
        </p:nvSpPr>
        <p:spPr>
          <a:xfrm>
            <a:off x="7594600" y="5511800"/>
            <a:ext cx="1270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000"/>
          </a:p>
        </p:txBody>
      </p:sp>
      <p:sp>
        <p:nvSpPr>
          <p:cNvPr id="35" name="Code 35"/>
          <p:cNvSpPr txBox="1"/>
          <p:nvPr/>
        </p:nvSpPr>
        <p:spPr>
          <a:xfrm>
            <a:off x="482600" y="5816600"/>
            <a:ext cx="8255000" cy="12827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600"/>
              </a:lnSpc>
            </a:pP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houseA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=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B57D0"/>
                </a:solidFill>
                <a:latin typeface="Courier New"/>
              </a:rPr>
              <a:t xml:space="preserve">new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F766E"/>
                </a:solidFill>
                <a:latin typeface="Courier New"/>
              </a:rPr>
              <a:t xml:space="preserve">House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9A3412"/>
                </a:solidFill>
                <a:latin typeface="Courier New"/>
              </a:rPr>
              <a:t xml:space="preserve">1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,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9A3412"/>
                </a:solidFill>
                <a:latin typeface="Courier New"/>
              </a:rPr>
              <a:t xml:space="preserve">1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,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9A3412"/>
                </a:solidFill>
                <a:latin typeface="Courier New"/>
              </a:rPr>
              <a:t xml:space="preserve">1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houseB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=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B57D0"/>
                </a:solidFill>
                <a:latin typeface="Courier New"/>
              </a:rPr>
              <a:t xml:space="preserve">new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F766E"/>
                </a:solidFill>
                <a:latin typeface="Courier New"/>
              </a:rPr>
              <a:t xml:space="preserve">House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9A3412"/>
                </a:solidFill>
                <a:latin typeface="Courier New"/>
              </a:rPr>
              <a:t xml:space="preserve">2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,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9A3412"/>
                </a:solidFill>
                <a:latin typeface="Courier New"/>
              </a:rPr>
              <a:t xml:space="preserve">2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,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9A3412"/>
                </a:solidFill>
                <a:latin typeface="Courier New"/>
              </a:rPr>
              <a:t xml:space="preserve">1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,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B57D0"/>
                </a:solidFill>
                <a:latin typeface="Courier New"/>
              </a:rPr>
              <a:t xml:space="preserve">false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,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B57D0"/>
                </a:solidFill>
                <a:latin typeface="Courier New"/>
              </a:rPr>
              <a:t xml:space="preserve">false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,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B57D0"/>
                </a:solidFill>
                <a:latin typeface="Courier New"/>
              </a:rPr>
              <a:t xml:space="preserve">true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,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B57D0"/>
                </a:solidFill>
                <a:latin typeface="Courier New"/>
              </a:rPr>
              <a:t xml:space="preserve">true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houseC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=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B57D0"/>
                </a:solidFill>
                <a:latin typeface="Courier New"/>
              </a:rPr>
              <a:t xml:space="preserve">new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F766E"/>
                </a:solidFill>
                <a:latin typeface="Courier New"/>
              </a:rPr>
              <a:t xml:space="preserve">House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9A3412"/>
                </a:solidFill>
                <a:latin typeface="Courier New"/>
              </a:rPr>
              <a:t xml:space="preserve">4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,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9A3412"/>
                </a:solidFill>
                <a:latin typeface="Courier New"/>
              </a:rPr>
              <a:t xml:space="preserve">3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,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9A3412"/>
                </a:solidFill>
                <a:latin typeface="Courier New"/>
              </a:rPr>
              <a:t xml:space="preserve">3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,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B57D0"/>
                </a:solidFill>
                <a:latin typeface="Courier New"/>
              </a:rPr>
              <a:t xml:space="preserve">true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,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B57D0"/>
                </a:solidFill>
                <a:latin typeface="Courier New"/>
              </a:rPr>
              <a:t xml:space="preserve">false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,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B57D0"/>
                </a:solidFill>
                <a:latin typeface="Courier New"/>
              </a:rPr>
              <a:t xml:space="preserve">false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,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B57D0"/>
                </a:solidFill>
                <a:latin typeface="Courier New"/>
              </a:rPr>
              <a:t xml:space="preserve">true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houseD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=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B57D0"/>
                </a:solidFill>
                <a:latin typeface="Courier New"/>
              </a:rPr>
              <a:t xml:space="preserve">new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F766E"/>
                </a:solidFill>
                <a:latin typeface="Courier New"/>
              </a:rPr>
              <a:t xml:space="preserve">House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9A3412"/>
                </a:solidFill>
                <a:latin typeface="Courier New"/>
              </a:rPr>
              <a:t xml:space="preserve">2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,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9A3412"/>
                </a:solidFill>
                <a:latin typeface="Courier New"/>
              </a:rPr>
              <a:t xml:space="preserve">1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,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9A3412"/>
                </a:solidFill>
                <a:latin typeface="Courier New"/>
              </a:rPr>
              <a:t xml:space="preserve">2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,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B57D0"/>
                </a:solidFill>
                <a:latin typeface="Courier New"/>
              </a:rPr>
              <a:t xml:space="preserve">false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,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B57D0"/>
                </a:solidFill>
                <a:latin typeface="Courier New"/>
              </a:rPr>
              <a:t xml:space="preserve">true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,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B57D0"/>
                </a:solidFill>
                <a:latin typeface="Courier New"/>
              </a:rPr>
              <a:t xml:space="preserve">false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,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B57D0"/>
                </a:solidFill>
                <a:latin typeface="Courier New"/>
              </a:rPr>
              <a:t xml:space="preserve">false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houseE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=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B57D0"/>
                </a:solidFill>
                <a:latin typeface="Courier New"/>
              </a:rPr>
              <a:t xml:space="preserve">new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F766E"/>
                </a:solidFill>
                <a:latin typeface="Courier New"/>
              </a:rPr>
              <a:t xml:space="preserve">House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9A3412"/>
                </a:solidFill>
                <a:latin typeface="Courier New"/>
              </a:rPr>
              <a:t xml:space="preserve">6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,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9A3412"/>
                </a:solidFill>
                <a:latin typeface="Courier New"/>
              </a:rPr>
              <a:t xml:space="preserve">4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,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9A3412"/>
                </a:solidFill>
                <a:latin typeface="Courier New"/>
              </a:rPr>
              <a:t xml:space="preserve">5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,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B57D0"/>
                </a:solidFill>
                <a:latin typeface="Courier New"/>
              </a:rPr>
              <a:t xml:space="preserve">true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,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B57D0"/>
                </a:solidFill>
                <a:latin typeface="Courier New"/>
              </a:rPr>
              <a:t xml:space="preserve">true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,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B57D0"/>
                </a:solidFill>
                <a:latin typeface="Courier New"/>
              </a:rPr>
              <a:t xml:space="preserve">true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,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B57D0"/>
                </a:solidFill>
                <a:latin typeface="Courier New"/>
              </a:rPr>
              <a:t xml:space="preserve">true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64748B"/>
                </a:solidFill>
                <a:latin typeface="Courier New"/>
              </a:rPr>
              <a:t xml:space="preserve">// five houses; magic bool positions</a:t>
            </a:r>
            <a:endParaRPr sz="1300"/>
          </a:p>
        </p:txBody>
      </p:sp>
      <p:sp>
        <p:nvSpPr>
          <p:cNvPr id="36" name="Panel 36"/>
          <p:cNvSpPr/>
          <p:nvPr/>
        </p:nvSpPr>
        <p:spPr>
          <a:xfrm>
            <a:off x="9296400" y="5435600"/>
            <a:ext cx="8686800" cy="45212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37" name="Panel 37"/>
          <p:cNvSpPr/>
          <p:nvPr/>
        </p:nvSpPr>
        <p:spPr>
          <a:xfrm>
            <a:off x="9321800" y="5461000"/>
            <a:ext cx="8636000" cy="44704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38" name="Panel 38"/>
          <p:cNvSpPr/>
          <p:nvPr/>
        </p:nvSpPr>
        <p:spPr>
          <a:xfrm>
            <a:off x="9321800" y="5461000"/>
            <a:ext cx="8636000" cy="3048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39" name="Text 39"/>
          <p:cNvSpPr txBox="1"/>
          <p:nvPr/>
        </p:nvSpPr>
        <p:spPr>
          <a:xfrm>
            <a:off x="9448800" y="5473700"/>
            <a:ext cx="6985000" cy="2768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680"/>
              </a:lnSpc>
            </a:pPr>
            <a:r>
              <a:rPr lang="en-US" sz="1400" b="1">
                <a:solidFill>
                  <a:srgbClr val="161D2B"/>
                </a:solidFill>
                <a:latin typeface="Arial"/>
              </a:rPr>
              <a:t xml:space="preserve">Client Code (After)</a:t>
            </a:r>
            <a:endParaRPr sz="1400"/>
          </a:p>
        </p:txBody>
      </p:sp>
      <p:sp>
        <p:nvSpPr>
          <p:cNvPr id="40" name="Text 40"/>
          <p:cNvSpPr txBox="1"/>
          <p:nvPr/>
        </p:nvSpPr>
        <p:spPr>
          <a:xfrm>
            <a:off x="16586200" y="5511800"/>
            <a:ext cx="1270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000"/>
          </a:p>
        </p:txBody>
      </p:sp>
      <p:sp>
        <p:nvSpPr>
          <p:cNvPr id="41" name="Code 41"/>
          <p:cNvSpPr txBox="1"/>
          <p:nvPr/>
        </p:nvSpPr>
        <p:spPr>
          <a:xfrm>
            <a:off x="9474200" y="5816600"/>
            <a:ext cx="8255000" cy="2705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600"/>
              </a:lnSpc>
            </a:pP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director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=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B57D0"/>
                </a:solidFill>
                <a:latin typeface="Courier New"/>
              </a:rPr>
              <a:t xml:space="preserve">new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F766E"/>
                </a:solidFill>
                <a:latin typeface="Courier New"/>
              </a:rPr>
              <a:t xml:space="preserve">HouseDirector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houseA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=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director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buildSimpleHouse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0B57D0"/>
                </a:solidFill>
                <a:latin typeface="Courier New"/>
              </a:rPr>
              <a:t xml:space="preserve">new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F766E"/>
                </a:solidFill>
                <a:latin typeface="Courier New"/>
              </a:rPr>
              <a:t xml:space="preserve">ConcreteHouseBuilder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houseB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=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B57D0"/>
                </a:solidFill>
                <a:latin typeface="Courier New"/>
              </a:rPr>
              <a:t xml:space="preserve">new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F766E"/>
                </a:solidFill>
                <a:latin typeface="Courier New"/>
              </a:rPr>
              <a:t xml:space="preserve">ConcreteHouseBuilder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addWindow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addWindow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   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addDoor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addDoor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addRoom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addStatues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addGarden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getResult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houseC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=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director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buildFamilyHouse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0B57D0"/>
                </a:solidFill>
                <a:latin typeface="Courier New"/>
              </a:rPr>
              <a:t xml:space="preserve">new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F766E"/>
                </a:solidFill>
                <a:latin typeface="Courier New"/>
              </a:rPr>
              <a:t xml:space="preserve">ConcreteHouseBuilder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houseD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=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B57D0"/>
                </a:solidFill>
                <a:latin typeface="Courier New"/>
              </a:rPr>
              <a:t xml:space="preserve">new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F766E"/>
                </a:solidFill>
                <a:latin typeface="Courier New"/>
              </a:rPr>
              <a:t xml:space="preserve">ConcreteHouseBuilder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addWindow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addWindow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   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addDoor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addRoom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addRoom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addTrees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getResult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houseE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=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B57D0"/>
                </a:solidFill>
                <a:latin typeface="Courier New"/>
              </a:rPr>
              <a:t xml:space="preserve">new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F766E"/>
                </a:solidFill>
                <a:latin typeface="Courier New"/>
              </a:rPr>
              <a:t xml:space="preserve">ConcreteHouseBuilder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   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addWindow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addWindow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addWindow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addWindow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addWindow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addWindow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   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addDoor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addDoor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addDoor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addDoor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   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addRoom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addRoom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addRoom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addRoom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addRoom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   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addPool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addTrees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addStatues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addGarden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getResult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64748B"/>
                </a:solidFill>
                <a:latin typeface="Courier New"/>
              </a:rPr>
              <a:t xml:space="preserve">// same five houses; named steps / director recipes</a:t>
            </a:r>
            <a:endParaRPr sz="1300"/>
          </a:p>
        </p:txBody>
      </p:sp>
      <p:sp>
        <p:nvSpPr>
          <p:cNvPr id="42" name="Text 42"/>
          <p:cNvSpPr txBox="1"/>
          <p:nvPr/>
        </p:nvSpPr>
        <p:spPr>
          <a:xfrm>
            <a:off x="304800" y="10007600"/>
            <a:ext cx="10160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566174"/>
                </a:solidFill>
                <a:latin typeface="Arial"/>
              </a:rPr>
              <a:t xml:space="preserve">Source: https://refactoring.guru/design-patterns/builder</a:t>
            </a:r>
            <a:endParaRPr sz="1000"/>
          </a:p>
        </p:txBody>
      </p:sp>
      <p:sp>
        <p:nvSpPr>
          <p:cNvPr id="43" name="Text 43"/>
          <p:cNvSpPr txBox="1"/>
          <p:nvPr/>
        </p:nvSpPr>
        <p:spPr>
          <a:xfrm>
            <a:off x="9144000" y="10007600"/>
            <a:ext cx="8890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566174"/>
                </a:solidFill>
                <a:latin typeface="Arial"/>
              </a:rPr>
              <a:t xml:space="preserve">UML: Client box = caller code; hollow triangle = inheritance / realization; dashed open arrow = dependency</a:t>
            </a:r>
            <a:endParaRPr sz="1000"/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 3"/>
          <p:cNvSpPr txBox="1"/>
          <p:nvPr/>
        </p:nvSpPr>
        <p:spPr>
          <a:xfrm>
            <a:off x="304800" y="114300"/>
            <a:ext cx="5842000" cy="7340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5280"/>
              </a:lnSpc>
            </a:pPr>
            <a:r>
              <a:rPr lang="en-US" sz="4400" b="1">
                <a:solidFill>
                  <a:srgbClr val="101319"/>
                </a:solidFill>
                <a:latin typeface="Arial"/>
              </a:rPr>
              <a:t xml:space="preserve">Adapter</a:t>
            </a:r>
            <a:endParaRPr sz="4400"/>
          </a:p>
        </p:txBody>
      </p:sp>
      <p:sp>
        <p:nvSpPr>
          <p:cNvPr id="4" name="Panel 4"/>
          <p:cNvSpPr/>
          <p:nvPr/>
        </p:nvSpPr>
        <p:spPr>
          <a:xfrm>
            <a:off x="2720746" y="177800"/>
            <a:ext cx="25400" cy="660400"/>
          </a:xfrm>
          <a:prstGeom prst="rect">
            <a:avLst/>
          </a:prstGeom>
          <a:solidFill>
            <a:srgbClr val="858E9E"/>
          </a:soli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2949346" y="165100"/>
            <a:ext cx="14868754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>
                <a:solidFill>
                  <a:srgbClr val="596273"/>
                </a:solidFill>
                <a:latin typeface="Arial"/>
              </a:rPr>
              <a:t xml:space="preserve">Structural Design Pattern</a:t>
            </a:r>
            <a:endParaRPr sz="1700"/>
          </a:p>
        </p:txBody>
      </p:sp>
      <p:sp>
        <p:nvSpPr>
          <p:cNvPr id="6" name="Text 6"/>
          <p:cNvSpPr txBox="1"/>
          <p:nvPr/>
        </p:nvSpPr>
        <p:spPr>
          <a:xfrm>
            <a:off x="2949346" y="469900"/>
            <a:ext cx="14868754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>
                <a:solidFill>
                  <a:srgbClr val="182230"/>
                </a:solidFill>
                <a:latin typeface="Arial"/>
              </a:rPr>
              <a:t xml:space="preserve">Translate an existing interface into the interface a client expects.</a:t>
            </a:r>
            <a:endParaRPr sz="1800"/>
          </a:p>
        </p:txBody>
      </p:sp>
      <p:sp>
        <p:nvSpPr>
          <p:cNvPr id="7" name="Panel 7"/>
          <p:cNvSpPr/>
          <p:nvPr/>
        </p:nvSpPr>
        <p:spPr>
          <a:xfrm>
            <a:off x="304800" y="965200"/>
            <a:ext cx="17678400" cy="304800"/>
          </a:xfrm>
          <a:prstGeom prst="rect">
            <a:avLst/>
          </a:prstGeom>
          <a:solidFill>
            <a:srgbClr val="EDF0F6"/>
          </a:solidFill>
          <a:ln>
            <a:noFill/>
          </a:ln>
        </p:spPr>
      </p:sp>
      <p:sp>
        <p:nvSpPr>
          <p:cNvPr id="8" name="Text 8"/>
          <p:cNvSpPr txBox="1"/>
          <p:nvPr/>
        </p:nvSpPr>
        <p:spPr>
          <a:xfrm>
            <a:off x="431800" y="1003300"/>
            <a:ext cx="158750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374151"/>
                </a:solidFill>
                <a:latin typeface="Arial"/>
              </a:rPr>
              <a:t xml:space="preserve">CASE STUDY: XML stock data and JSON analytics</a:t>
            </a:r>
            <a:endParaRPr sz="1300"/>
          </a:p>
        </p:txBody>
      </p:sp>
      <p:sp>
        <p:nvSpPr>
          <p:cNvPr id="9" name="Text 9"/>
          <p:cNvSpPr txBox="1"/>
          <p:nvPr/>
        </p:nvSpPr>
        <p:spPr>
          <a:xfrm>
            <a:off x="17018000" y="1003300"/>
            <a:ext cx="9525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374151"/>
                </a:solidFill>
                <a:latin typeface="Arial"/>
              </a:rPr>
              <a:t xml:space="preserve">05 / 14</a:t>
            </a:r>
            <a:endParaRPr sz="1300"/>
          </a:p>
        </p:txBody>
      </p:sp>
      <p:sp>
        <p:nvSpPr>
          <p:cNvPr id="10" name="Panel 10"/>
          <p:cNvSpPr/>
          <p:nvPr/>
        </p:nvSpPr>
        <p:spPr>
          <a:xfrm>
            <a:off x="304800" y="1384300"/>
            <a:ext cx="8686800" cy="660400"/>
          </a:xfrm>
          <a:prstGeom prst="rect">
            <a:avLst/>
          </a:prstGeom>
          <a:solidFill>
            <a:srgbClr val="EFA5AA"/>
          </a:solidFill>
          <a:ln>
            <a:noFill/>
          </a:ln>
        </p:spPr>
      </p:sp>
      <p:sp>
        <p:nvSpPr>
          <p:cNvPr id="11" name="Panel 11"/>
          <p:cNvSpPr/>
          <p:nvPr/>
        </p:nvSpPr>
        <p:spPr>
          <a:xfrm>
            <a:off x="330200" y="1409700"/>
            <a:ext cx="8636000" cy="609600"/>
          </a:xfrm>
          <a:prstGeom prst="rect">
            <a:avLst/>
          </a:prstGeom>
          <a:solidFill>
            <a:srgbClr val="FFE2E3"/>
          </a:solidFill>
          <a:ln>
            <a:noFill/>
          </a:ln>
        </p:spPr>
      </p:sp>
      <p:sp>
        <p:nvSpPr>
          <p:cNvPr id="12" name="Panel 12"/>
          <p:cNvSpPr/>
          <p:nvPr/>
        </p:nvSpPr>
        <p:spPr>
          <a:xfrm>
            <a:off x="431800" y="1473200"/>
            <a:ext cx="63500" cy="228600"/>
          </a:xfrm>
          <a:prstGeom prst="rect">
            <a:avLst/>
          </a:prstGeom>
          <a:solidFill>
            <a:srgbClr val="C5222B"/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596900" y="1422400"/>
            <a:ext cx="8153400" cy="3073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920"/>
              </a:lnSpc>
            </a:pPr>
            <a:r>
              <a:rPr lang="en-US" sz="1600" b="1">
                <a:solidFill>
                  <a:srgbClr val="C5222B"/>
                </a:solidFill>
                <a:latin typeface="Arial"/>
              </a:rPr>
              <a:t xml:space="preserve">Problem</a:t>
            </a:r>
            <a:endParaRPr sz="1600"/>
          </a:p>
        </p:txBody>
      </p:sp>
      <p:sp>
        <p:nvSpPr>
          <p:cNvPr id="14" name="Text 14"/>
          <p:cNvSpPr txBox="1"/>
          <p:nvPr/>
        </p:nvSpPr>
        <p:spPr>
          <a:xfrm>
            <a:off x="520700" y="1600200"/>
            <a:ext cx="8255000" cy="2413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400"/>
              </a:lnSpc>
            </a:pPr>
            <a:r>
              <a:rPr lang="en-US" sz="1200">
                <a:solidFill>
                  <a:srgbClr val="192331"/>
                </a:solidFill>
                <a:latin typeface="Arial"/>
              </a:rPr>
              <a:t xml:space="preserve">The stock app supplies XML; the analytics library requires JSON.</a:t>
            </a:r>
            <a:endParaRPr sz="1200"/>
          </a:p>
        </p:txBody>
      </p:sp>
      <p:sp>
        <p:nvSpPr>
          <p:cNvPr id="15" name="Panel 15"/>
          <p:cNvSpPr/>
          <p:nvPr/>
        </p:nvSpPr>
        <p:spPr>
          <a:xfrm>
            <a:off x="304800" y="2120900"/>
            <a:ext cx="8686800" cy="32131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16" name="Panel 16"/>
          <p:cNvSpPr/>
          <p:nvPr/>
        </p:nvSpPr>
        <p:spPr>
          <a:xfrm>
            <a:off x="330200" y="2146300"/>
            <a:ext cx="8636000" cy="31623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7" name="Panel 17"/>
          <p:cNvSpPr/>
          <p:nvPr/>
        </p:nvSpPr>
        <p:spPr>
          <a:xfrm>
            <a:off x="330200" y="2146300"/>
            <a:ext cx="8636000" cy="3048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18" name="Text 18"/>
          <p:cNvSpPr txBox="1"/>
          <p:nvPr/>
        </p:nvSpPr>
        <p:spPr>
          <a:xfrm>
            <a:off x="457200" y="2159000"/>
            <a:ext cx="83820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151B27"/>
                </a:solidFill>
                <a:latin typeface="Arial"/>
              </a:rPr>
              <a:t xml:space="preserve">Before (direct coupling)</a:t>
            </a:r>
            <a:endParaRPr sz="1300"/>
          </a:p>
        </p:txBody>
      </p:sp>
      <p:pic>
        <p:nvPicPr>
          <p:cNvPr id="19" name="UML class diagram"/>
          <p:cNvPicPr/>
          <p:nvPr/>
        </p:nvPicPr>
        <p:blipFill>
          <a:blip r:embed="rId2"/>
          <a:stretch>
            <a:fillRect/>
          </a:stretch>
        </p:blipFill>
        <p:spPr>
          <a:xfrm>
            <a:off x="444500" y="2476500"/>
            <a:ext cx="8382000" cy="2806700"/>
          </a:xfrm>
          <a:prstGeom prst="rect">
            <a:avLst/>
          </a:prstGeom>
        </p:spPr>
      </p:pic>
      <p:sp>
        <p:nvSpPr>
          <p:cNvPr id="20" name="Panel 20"/>
          <p:cNvSpPr/>
          <p:nvPr/>
        </p:nvSpPr>
        <p:spPr>
          <a:xfrm>
            <a:off x="9296400" y="1384300"/>
            <a:ext cx="8686800" cy="660400"/>
          </a:xfrm>
          <a:prstGeom prst="rect">
            <a:avLst/>
          </a:prstGeom>
          <a:solidFill>
            <a:srgbClr val="94D9D1"/>
          </a:solidFill>
          <a:ln>
            <a:noFill/>
          </a:ln>
        </p:spPr>
      </p:sp>
      <p:sp>
        <p:nvSpPr>
          <p:cNvPr id="21" name="Panel 21"/>
          <p:cNvSpPr/>
          <p:nvPr/>
        </p:nvSpPr>
        <p:spPr>
          <a:xfrm>
            <a:off x="9321800" y="1409700"/>
            <a:ext cx="8636000" cy="609600"/>
          </a:xfrm>
          <a:prstGeom prst="rect">
            <a:avLst/>
          </a:prstGeom>
          <a:solidFill>
            <a:srgbClr val="D9F5F0"/>
          </a:solidFill>
          <a:ln>
            <a:noFill/>
          </a:ln>
        </p:spPr>
      </p:sp>
      <p:sp>
        <p:nvSpPr>
          <p:cNvPr id="22" name="Panel 22"/>
          <p:cNvSpPr/>
          <p:nvPr/>
        </p:nvSpPr>
        <p:spPr>
          <a:xfrm>
            <a:off x="9423400" y="1473200"/>
            <a:ext cx="63500" cy="228600"/>
          </a:xfrm>
          <a:prstGeom prst="rect">
            <a:avLst/>
          </a:prstGeom>
          <a:solidFill>
            <a:srgbClr val="007E78"/>
          </a:solidFill>
          <a:ln>
            <a:noFill/>
          </a:ln>
        </p:spPr>
      </p:sp>
      <p:sp>
        <p:nvSpPr>
          <p:cNvPr id="23" name="Text 23"/>
          <p:cNvSpPr txBox="1"/>
          <p:nvPr/>
        </p:nvSpPr>
        <p:spPr>
          <a:xfrm>
            <a:off x="9588500" y="1422400"/>
            <a:ext cx="8153400" cy="3073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920"/>
              </a:lnSpc>
            </a:pPr>
            <a:r>
              <a:rPr lang="en-US" sz="1600" b="1">
                <a:solidFill>
                  <a:srgbClr val="007E78"/>
                </a:solidFill>
                <a:latin typeface="Arial"/>
              </a:rPr>
              <a:t xml:space="preserve">Solution</a:t>
            </a:r>
            <a:endParaRPr sz="1600"/>
          </a:p>
        </p:txBody>
      </p:sp>
      <p:sp>
        <p:nvSpPr>
          <p:cNvPr id="24" name="Text 24"/>
          <p:cNvSpPr txBox="1"/>
          <p:nvPr/>
        </p:nvSpPr>
        <p:spPr>
          <a:xfrm>
            <a:off x="9512300" y="1600200"/>
            <a:ext cx="8255000" cy="2413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400"/>
              </a:lnSpc>
            </a:pPr>
            <a:r>
              <a:rPr lang="en-US" sz="1200">
                <a:solidFill>
                  <a:srgbClr val="192331"/>
                </a:solidFill>
                <a:latin typeface="Arial"/>
              </a:rPr>
              <a:t xml:space="preserve">Adapter inherits AnalyticsService and composes JsonAnalyticsLibrary; converts then delegates.</a:t>
            </a:r>
            <a:endParaRPr sz="1200"/>
          </a:p>
        </p:txBody>
      </p:sp>
      <p:sp>
        <p:nvSpPr>
          <p:cNvPr id="25" name="Panel 25"/>
          <p:cNvSpPr/>
          <p:nvPr/>
        </p:nvSpPr>
        <p:spPr>
          <a:xfrm>
            <a:off x="9296400" y="2120900"/>
            <a:ext cx="8686800" cy="32131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26" name="Panel 26"/>
          <p:cNvSpPr/>
          <p:nvPr/>
        </p:nvSpPr>
        <p:spPr>
          <a:xfrm>
            <a:off x="9321800" y="2146300"/>
            <a:ext cx="8636000" cy="31623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7" name="Panel 27"/>
          <p:cNvSpPr/>
          <p:nvPr/>
        </p:nvSpPr>
        <p:spPr>
          <a:xfrm>
            <a:off x="9321800" y="2146300"/>
            <a:ext cx="8636000" cy="3048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28" name="Text 28"/>
          <p:cNvSpPr txBox="1"/>
          <p:nvPr/>
        </p:nvSpPr>
        <p:spPr>
          <a:xfrm>
            <a:off x="9448800" y="2159000"/>
            <a:ext cx="83820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151B27"/>
                </a:solidFill>
                <a:latin typeface="Arial"/>
              </a:rPr>
              <a:t xml:space="preserve">After (using Adapter)</a:t>
            </a:r>
            <a:endParaRPr sz="1300"/>
          </a:p>
        </p:txBody>
      </p:sp>
      <p:pic>
        <p:nvPicPr>
          <p:cNvPr id="29" name="UML class diagram"/>
          <p:cNvPicPr/>
          <p:nvPr/>
        </p:nvPicPr>
        <p:blipFill>
          <a:blip r:embed="rId3"/>
          <a:stretch>
            <a:fillRect/>
          </a:stretch>
        </p:blipFill>
        <p:spPr>
          <a:xfrm>
            <a:off x="9436100" y="2476500"/>
            <a:ext cx="8382000" cy="2806700"/>
          </a:xfrm>
          <a:prstGeom prst="rect">
            <a:avLst/>
          </a:prstGeom>
        </p:spPr>
      </p:pic>
      <p:sp>
        <p:nvSpPr>
          <p:cNvPr id="30" name="Panel 30"/>
          <p:cNvSpPr/>
          <p:nvPr/>
        </p:nvSpPr>
        <p:spPr>
          <a:xfrm>
            <a:off x="304800" y="5435600"/>
            <a:ext cx="8686800" cy="18923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31" name="Panel 31"/>
          <p:cNvSpPr/>
          <p:nvPr/>
        </p:nvSpPr>
        <p:spPr>
          <a:xfrm>
            <a:off x="330200" y="5461000"/>
            <a:ext cx="8636000" cy="18415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32" name="Panel 32"/>
          <p:cNvSpPr/>
          <p:nvPr/>
        </p:nvSpPr>
        <p:spPr>
          <a:xfrm>
            <a:off x="330200" y="5461000"/>
            <a:ext cx="8636000" cy="3048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33" name="Text 33"/>
          <p:cNvSpPr txBox="1"/>
          <p:nvPr/>
        </p:nvSpPr>
        <p:spPr>
          <a:xfrm>
            <a:off x="457200" y="5473700"/>
            <a:ext cx="6985000" cy="2768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680"/>
              </a:lnSpc>
            </a:pPr>
            <a:r>
              <a:rPr lang="en-US" sz="1400" b="1">
                <a:solidFill>
                  <a:srgbClr val="161D2B"/>
                </a:solidFill>
                <a:latin typeface="Arial"/>
              </a:rPr>
              <a:t xml:space="preserve">Client Code (Before)</a:t>
            </a:r>
            <a:endParaRPr sz="1400"/>
          </a:p>
        </p:txBody>
      </p:sp>
      <p:sp>
        <p:nvSpPr>
          <p:cNvPr id="34" name="Text 34"/>
          <p:cNvSpPr txBox="1"/>
          <p:nvPr/>
        </p:nvSpPr>
        <p:spPr>
          <a:xfrm>
            <a:off x="7594600" y="5511800"/>
            <a:ext cx="1270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000"/>
          </a:p>
        </p:txBody>
      </p:sp>
      <p:sp>
        <p:nvSpPr>
          <p:cNvPr id="35" name="Code 35"/>
          <p:cNvSpPr txBox="1"/>
          <p:nvPr/>
        </p:nvSpPr>
        <p:spPr>
          <a:xfrm>
            <a:off x="482600" y="5791200"/>
            <a:ext cx="8255000" cy="8763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600"/>
              </a:lnSpc>
            </a:pP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xml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=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provider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getStockData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json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=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convertXmlToJson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xml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report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=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library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analyze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json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64748B"/>
                </a:solidFill>
                <a:latin typeface="Courier New"/>
              </a:rPr>
              <a:t xml:space="preserve">// same stock report; client does the conversion</a:t>
            </a:r>
            <a:endParaRPr sz="1300"/>
          </a:p>
        </p:txBody>
      </p:sp>
      <p:sp>
        <p:nvSpPr>
          <p:cNvPr id="36" name="Panel 36"/>
          <p:cNvSpPr/>
          <p:nvPr/>
        </p:nvSpPr>
        <p:spPr>
          <a:xfrm>
            <a:off x="9296400" y="5435600"/>
            <a:ext cx="8686800" cy="18923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37" name="Panel 37"/>
          <p:cNvSpPr/>
          <p:nvPr/>
        </p:nvSpPr>
        <p:spPr>
          <a:xfrm>
            <a:off x="9321800" y="5461000"/>
            <a:ext cx="8636000" cy="18415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38" name="Panel 38"/>
          <p:cNvSpPr/>
          <p:nvPr/>
        </p:nvSpPr>
        <p:spPr>
          <a:xfrm>
            <a:off x="9321800" y="5461000"/>
            <a:ext cx="8636000" cy="3048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39" name="Text 39"/>
          <p:cNvSpPr txBox="1"/>
          <p:nvPr/>
        </p:nvSpPr>
        <p:spPr>
          <a:xfrm>
            <a:off x="9448800" y="5473700"/>
            <a:ext cx="6985000" cy="2768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680"/>
              </a:lnSpc>
            </a:pPr>
            <a:r>
              <a:rPr lang="en-US" sz="1400" b="1">
                <a:solidFill>
                  <a:srgbClr val="161D2B"/>
                </a:solidFill>
                <a:latin typeface="Arial"/>
              </a:rPr>
              <a:t xml:space="preserve">Client Code (After)</a:t>
            </a:r>
            <a:endParaRPr sz="1400"/>
          </a:p>
        </p:txBody>
      </p:sp>
      <p:sp>
        <p:nvSpPr>
          <p:cNvPr id="40" name="Text 40"/>
          <p:cNvSpPr txBox="1"/>
          <p:nvPr/>
        </p:nvSpPr>
        <p:spPr>
          <a:xfrm>
            <a:off x="16586200" y="5511800"/>
            <a:ext cx="1270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000"/>
          </a:p>
        </p:txBody>
      </p:sp>
      <p:sp>
        <p:nvSpPr>
          <p:cNvPr id="41" name="Code 41"/>
          <p:cNvSpPr txBox="1"/>
          <p:nvPr/>
        </p:nvSpPr>
        <p:spPr>
          <a:xfrm>
            <a:off x="9474200" y="5791200"/>
            <a:ext cx="8255000" cy="673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600"/>
              </a:lnSpc>
            </a:pP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xml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=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provider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getStockData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report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=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adapter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analyze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xml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64748B"/>
                </a:solidFill>
                <a:latin typeface="Courier New"/>
              </a:rPr>
              <a:t xml:space="preserve">// same stock report; adapter owns the conversion</a:t>
            </a:r>
            <a:endParaRPr sz="1300"/>
          </a:p>
        </p:txBody>
      </p:sp>
      <p:sp>
        <p:nvSpPr>
          <p:cNvPr id="42" name="Panel 42"/>
          <p:cNvSpPr/>
          <p:nvPr/>
        </p:nvSpPr>
        <p:spPr>
          <a:xfrm>
            <a:off x="304800" y="7404100"/>
            <a:ext cx="17678400" cy="25527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43" name="Panel 43"/>
          <p:cNvSpPr/>
          <p:nvPr/>
        </p:nvSpPr>
        <p:spPr>
          <a:xfrm>
            <a:off x="330200" y="7429500"/>
            <a:ext cx="17627600" cy="25019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44" name="Panel 44"/>
          <p:cNvSpPr/>
          <p:nvPr/>
        </p:nvSpPr>
        <p:spPr>
          <a:xfrm>
            <a:off x="330200" y="7429500"/>
            <a:ext cx="17627600" cy="3048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45" name="Text 45"/>
          <p:cNvSpPr txBox="1"/>
          <p:nvPr/>
        </p:nvSpPr>
        <p:spPr>
          <a:xfrm>
            <a:off x="457200" y="7454900"/>
            <a:ext cx="15240000" cy="292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800"/>
              </a:lnSpc>
            </a:pPr>
            <a:r>
              <a:rPr lang="en-US" sz="1500" b="1">
                <a:solidFill>
                  <a:srgbClr val="161D2B"/>
                </a:solidFill>
                <a:latin typeface="Arial"/>
              </a:rPr>
              <a:t xml:space="preserve">Module Code (API boundary)</a:t>
            </a:r>
            <a:endParaRPr sz="1500"/>
          </a:p>
        </p:txBody>
      </p:sp>
      <p:sp>
        <p:nvSpPr>
          <p:cNvPr id="46" name="Text 46"/>
          <p:cNvSpPr txBox="1"/>
          <p:nvPr/>
        </p:nvSpPr>
        <p:spPr>
          <a:xfrm>
            <a:off x="16459200" y="7493000"/>
            <a:ext cx="13335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000"/>
          </a:p>
        </p:txBody>
      </p:sp>
      <p:sp>
        <p:nvSpPr>
          <p:cNvPr id="47" name="Code 47"/>
          <p:cNvSpPr txBox="1"/>
          <p:nvPr/>
        </p:nvSpPr>
        <p:spPr>
          <a:xfrm>
            <a:off x="482600" y="7785100"/>
            <a:ext cx="17322800" cy="12827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600"/>
              </a:lnSpc>
            </a:pPr>
            <a:r>
              <a:rPr lang="en-US" sz="1300">
                <a:solidFill>
                  <a:srgbClr val="64748B"/>
                </a:solidFill>
                <a:latin typeface="Courier New"/>
              </a:rPr>
              <a:t xml:space="preserve">// MODULE — AnalyticsService API for client developers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64748B"/>
                </a:solidFill>
                <a:latin typeface="Courier New"/>
              </a:rPr>
              <a:t xml:space="preserve">// XmlAnalyticsAdapter extends AnalyticsService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64748B"/>
                </a:solidFill>
                <a:latin typeface="Courier New"/>
              </a:rPr>
              <a:t xml:space="preserve">// composes library: JsonAnalyticsLibrary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64748B"/>
                </a:solidFill>
                <a:latin typeface="Courier New"/>
              </a:rPr>
              <a:t xml:space="preserve">// analyze(xml):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64748B"/>
                </a:solidFill>
                <a:latin typeface="Courier New"/>
              </a:rPr>
              <a:t xml:space="preserve">//   json = convert(xml)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64748B"/>
                </a:solidFill>
                <a:latin typeface="Courier New"/>
              </a:rPr>
              <a:t xml:space="preserve">//   return library.analyze(json)</a:t>
            </a:r>
            <a:endParaRPr sz="1300"/>
          </a:p>
        </p:txBody>
      </p:sp>
      <p:sp>
        <p:nvSpPr>
          <p:cNvPr id="48" name="Text 48"/>
          <p:cNvSpPr txBox="1"/>
          <p:nvPr/>
        </p:nvSpPr>
        <p:spPr>
          <a:xfrm>
            <a:off x="304800" y="10007600"/>
            <a:ext cx="10160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566174"/>
                </a:solidFill>
                <a:latin typeface="Arial"/>
              </a:rPr>
              <a:t xml:space="preserve">Source: https://refactoring.guru/design-patterns/adapter</a:t>
            </a:r>
            <a:endParaRPr sz="1000"/>
          </a:p>
        </p:txBody>
      </p:sp>
      <p:sp>
        <p:nvSpPr>
          <p:cNvPr id="49" name="Text 49"/>
          <p:cNvSpPr txBox="1"/>
          <p:nvPr/>
        </p:nvSpPr>
        <p:spPr>
          <a:xfrm>
            <a:off x="9144000" y="10007600"/>
            <a:ext cx="8890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566174"/>
                </a:solidFill>
                <a:latin typeface="Arial"/>
              </a:rPr>
              <a:t xml:space="preserve">UML: Client box = caller code; hollow triangle = inheritance / realization; dashed open arrow = dependency</a:t>
            </a:r>
            <a:endParaRPr sz="1000"/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 3"/>
          <p:cNvSpPr txBox="1"/>
          <p:nvPr/>
        </p:nvSpPr>
        <p:spPr>
          <a:xfrm>
            <a:off x="304800" y="114300"/>
            <a:ext cx="5842000" cy="7340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5280"/>
              </a:lnSpc>
            </a:pPr>
            <a:r>
              <a:rPr lang="en-US" sz="4400" b="1">
                <a:solidFill>
                  <a:srgbClr val="101319"/>
                </a:solidFill>
                <a:latin typeface="Arial"/>
              </a:rPr>
              <a:t xml:space="preserve">Bridge</a:t>
            </a:r>
            <a:endParaRPr sz="4400"/>
          </a:p>
        </p:txBody>
      </p:sp>
      <p:sp>
        <p:nvSpPr>
          <p:cNvPr id="4" name="Panel 4"/>
          <p:cNvSpPr/>
          <p:nvPr/>
        </p:nvSpPr>
        <p:spPr>
          <a:xfrm>
            <a:off x="2379320" y="177800"/>
            <a:ext cx="25400" cy="660400"/>
          </a:xfrm>
          <a:prstGeom prst="rect">
            <a:avLst/>
          </a:prstGeom>
          <a:solidFill>
            <a:srgbClr val="858E9E"/>
          </a:soli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2607920" y="165100"/>
            <a:ext cx="15210180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>
                <a:solidFill>
                  <a:srgbClr val="596273"/>
                </a:solidFill>
                <a:latin typeface="Arial"/>
              </a:rPr>
              <a:t xml:space="preserve">Structural Design Pattern</a:t>
            </a:r>
            <a:endParaRPr sz="1700"/>
          </a:p>
        </p:txBody>
      </p:sp>
      <p:sp>
        <p:nvSpPr>
          <p:cNvPr id="6" name="Text 6"/>
          <p:cNvSpPr txBox="1"/>
          <p:nvPr/>
        </p:nvSpPr>
        <p:spPr>
          <a:xfrm>
            <a:off x="2607920" y="469900"/>
            <a:ext cx="15210180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>
                <a:solidFill>
                  <a:srgbClr val="182230"/>
                </a:solidFill>
                <a:latin typeface="Arial"/>
              </a:rPr>
              <a:t xml:space="preserve">Separate two independent dimensions so both can evolve independently.</a:t>
            </a:r>
            <a:endParaRPr sz="1800"/>
          </a:p>
        </p:txBody>
      </p:sp>
      <p:sp>
        <p:nvSpPr>
          <p:cNvPr id="7" name="Panel 7"/>
          <p:cNvSpPr/>
          <p:nvPr/>
        </p:nvSpPr>
        <p:spPr>
          <a:xfrm>
            <a:off x="304800" y="965200"/>
            <a:ext cx="17678400" cy="304800"/>
          </a:xfrm>
          <a:prstGeom prst="rect">
            <a:avLst/>
          </a:prstGeom>
          <a:solidFill>
            <a:srgbClr val="EDF0F6"/>
          </a:solidFill>
          <a:ln>
            <a:noFill/>
          </a:ln>
        </p:spPr>
      </p:sp>
      <p:sp>
        <p:nvSpPr>
          <p:cNvPr id="8" name="Text 8"/>
          <p:cNvSpPr txBox="1"/>
          <p:nvPr/>
        </p:nvSpPr>
        <p:spPr>
          <a:xfrm>
            <a:off x="431800" y="1003300"/>
            <a:ext cx="158750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374151"/>
                </a:solidFill>
                <a:latin typeface="Arial"/>
              </a:rPr>
              <a:t xml:space="preserve">CASE STUDY: Shapes and colors</a:t>
            </a:r>
            <a:endParaRPr sz="1300"/>
          </a:p>
        </p:txBody>
      </p:sp>
      <p:sp>
        <p:nvSpPr>
          <p:cNvPr id="9" name="Text 9"/>
          <p:cNvSpPr txBox="1"/>
          <p:nvPr/>
        </p:nvSpPr>
        <p:spPr>
          <a:xfrm>
            <a:off x="17018000" y="1003300"/>
            <a:ext cx="9525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374151"/>
                </a:solidFill>
                <a:latin typeface="Arial"/>
              </a:rPr>
              <a:t xml:space="preserve">06 / 14</a:t>
            </a:r>
            <a:endParaRPr sz="1300"/>
          </a:p>
        </p:txBody>
      </p:sp>
      <p:sp>
        <p:nvSpPr>
          <p:cNvPr id="10" name="Panel 10"/>
          <p:cNvSpPr/>
          <p:nvPr/>
        </p:nvSpPr>
        <p:spPr>
          <a:xfrm>
            <a:off x="304800" y="1384300"/>
            <a:ext cx="8686800" cy="660400"/>
          </a:xfrm>
          <a:prstGeom prst="rect">
            <a:avLst/>
          </a:prstGeom>
          <a:solidFill>
            <a:srgbClr val="EFA5AA"/>
          </a:solidFill>
          <a:ln>
            <a:noFill/>
          </a:ln>
        </p:spPr>
      </p:sp>
      <p:sp>
        <p:nvSpPr>
          <p:cNvPr id="11" name="Panel 11"/>
          <p:cNvSpPr/>
          <p:nvPr/>
        </p:nvSpPr>
        <p:spPr>
          <a:xfrm>
            <a:off x="330200" y="1409700"/>
            <a:ext cx="8636000" cy="609600"/>
          </a:xfrm>
          <a:prstGeom prst="rect">
            <a:avLst/>
          </a:prstGeom>
          <a:solidFill>
            <a:srgbClr val="FFE2E3"/>
          </a:solidFill>
          <a:ln>
            <a:noFill/>
          </a:ln>
        </p:spPr>
      </p:sp>
      <p:sp>
        <p:nvSpPr>
          <p:cNvPr id="12" name="Panel 12"/>
          <p:cNvSpPr/>
          <p:nvPr/>
        </p:nvSpPr>
        <p:spPr>
          <a:xfrm>
            <a:off x="431800" y="1473200"/>
            <a:ext cx="63500" cy="228600"/>
          </a:xfrm>
          <a:prstGeom prst="rect">
            <a:avLst/>
          </a:prstGeom>
          <a:solidFill>
            <a:srgbClr val="C5222B"/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596900" y="1422400"/>
            <a:ext cx="8153400" cy="3073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920"/>
              </a:lnSpc>
            </a:pPr>
            <a:r>
              <a:rPr lang="en-US" sz="1600" b="1">
                <a:solidFill>
                  <a:srgbClr val="C5222B"/>
                </a:solidFill>
                <a:latin typeface="Arial"/>
              </a:rPr>
              <a:t xml:space="preserve">Problem</a:t>
            </a:r>
            <a:endParaRPr sz="1600"/>
          </a:p>
        </p:txBody>
      </p:sp>
      <p:sp>
        <p:nvSpPr>
          <p:cNvPr id="14" name="Text 14"/>
          <p:cNvSpPr txBox="1"/>
          <p:nvPr/>
        </p:nvSpPr>
        <p:spPr>
          <a:xfrm>
            <a:off x="520700" y="1600200"/>
            <a:ext cx="8255000" cy="2413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400"/>
              </a:lnSpc>
            </a:pPr>
            <a:r>
              <a:rPr lang="en-US" sz="1200">
                <a:solidFill>
                  <a:srgbClr val="192331"/>
                </a:solidFill>
                <a:latin typeface="Arial"/>
              </a:rPr>
              <a:t xml:space="preserve">Each shape/color combination requires another subclass.</a:t>
            </a:r>
            <a:endParaRPr sz="1200"/>
          </a:p>
        </p:txBody>
      </p:sp>
      <p:sp>
        <p:nvSpPr>
          <p:cNvPr id="15" name="Panel 15"/>
          <p:cNvSpPr/>
          <p:nvPr/>
        </p:nvSpPr>
        <p:spPr>
          <a:xfrm>
            <a:off x="304800" y="2120900"/>
            <a:ext cx="8686800" cy="32131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16" name="Panel 16"/>
          <p:cNvSpPr/>
          <p:nvPr/>
        </p:nvSpPr>
        <p:spPr>
          <a:xfrm>
            <a:off x="330200" y="2146300"/>
            <a:ext cx="8636000" cy="31623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7" name="Panel 17"/>
          <p:cNvSpPr/>
          <p:nvPr/>
        </p:nvSpPr>
        <p:spPr>
          <a:xfrm>
            <a:off x="330200" y="2146300"/>
            <a:ext cx="8636000" cy="3048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18" name="Text 18"/>
          <p:cNvSpPr txBox="1"/>
          <p:nvPr/>
        </p:nvSpPr>
        <p:spPr>
          <a:xfrm>
            <a:off x="457200" y="2159000"/>
            <a:ext cx="83820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151B27"/>
                </a:solidFill>
                <a:latin typeface="Arial"/>
              </a:rPr>
              <a:t xml:space="preserve">Before (direct coupling)</a:t>
            </a:r>
            <a:endParaRPr sz="1300"/>
          </a:p>
        </p:txBody>
      </p:sp>
      <p:pic>
        <p:nvPicPr>
          <p:cNvPr id="19" name="UML class diagram"/>
          <p:cNvPicPr/>
          <p:nvPr/>
        </p:nvPicPr>
        <p:blipFill>
          <a:blip r:embed="rId2"/>
          <a:stretch>
            <a:fillRect/>
          </a:stretch>
        </p:blipFill>
        <p:spPr>
          <a:xfrm>
            <a:off x="444500" y="2476500"/>
            <a:ext cx="8382000" cy="2806700"/>
          </a:xfrm>
          <a:prstGeom prst="rect">
            <a:avLst/>
          </a:prstGeom>
        </p:spPr>
      </p:pic>
      <p:sp>
        <p:nvSpPr>
          <p:cNvPr id="20" name="Panel 20"/>
          <p:cNvSpPr/>
          <p:nvPr/>
        </p:nvSpPr>
        <p:spPr>
          <a:xfrm>
            <a:off x="9296400" y="1384300"/>
            <a:ext cx="8686800" cy="660400"/>
          </a:xfrm>
          <a:prstGeom prst="rect">
            <a:avLst/>
          </a:prstGeom>
          <a:solidFill>
            <a:srgbClr val="94D9D1"/>
          </a:solidFill>
          <a:ln>
            <a:noFill/>
          </a:ln>
        </p:spPr>
      </p:sp>
      <p:sp>
        <p:nvSpPr>
          <p:cNvPr id="21" name="Panel 21"/>
          <p:cNvSpPr/>
          <p:nvPr/>
        </p:nvSpPr>
        <p:spPr>
          <a:xfrm>
            <a:off x="9321800" y="1409700"/>
            <a:ext cx="8636000" cy="609600"/>
          </a:xfrm>
          <a:prstGeom prst="rect">
            <a:avLst/>
          </a:prstGeom>
          <a:solidFill>
            <a:srgbClr val="D9F5F0"/>
          </a:solidFill>
          <a:ln>
            <a:noFill/>
          </a:ln>
        </p:spPr>
      </p:sp>
      <p:sp>
        <p:nvSpPr>
          <p:cNvPr id="22" name="Panel 22"/>
          <p:cNvSpPr/>
          <p:nvPr/>
        </p:nvSpPr>
        <p:spPr>
          <a:xfrm>
            <a:off x="9423400" y="1473200"/>
            <a:ext cx="63500" cy="228600"/>
          </a:xfrm>
          <a:prstGeom prst="rect">
            <a:avLst/>
          </a:prstGeom>
          <a:solidFill>
            <a:srgbClr val="007E78"/>
          </a:solidFill>
          <a:ln>
            <a:noFill/>
          </a:ln>
        </p:spPr>
      </p:sp>
      <p:sp>
        <p:nvSpPr>
          <p:cNvPr id="23" name="Text 23"/>
          <p:cNvSpPr txBox="1"/>
          <p:nvPr/>
        </p:nvSpPr>
        <p:spPr>
          <a:xfrm>
            <a:off x="9588500" y="1422400"/>
            <a:ext cx="8153400" cy="3073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920"/>
              </a:lnSpc>
            </a:pPr>
            <a:r>
              <a:rPr lang="en-US" sz="1600" b="1">
                <a:solidFill>
                  <a:srgbClr val="007E78"/>
                </a:solidFill>
                <a:latin typeface="Arial"/>
              </a:rPr>
              <a:t xml:space="preserve">Solution</a:t>
            </a:r>
            <a:endParaRPr sz="1600"/>
          </a:p>
        </p:txBody>
      </p:sp>
      <p:sp>
        <p:nvSpPr>
          <p:cNvPr id="24" name="Text 24"/>
          <p:cNvSpPr txBox="1"/>
          <p:nvPr/>
        </p:nvSpPr>
        <p:spPr>
          <a:xfrm>
            <a:off x="9512300" y="1600200"/>
            <a:ext cx="8255000" cy="2413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400"/>
              </a:lnSpc>
            </a:pPr>
            <a:r>
              <a:rPr lang="en-US" sz="1200">
                <a:solidFill>
                  <a:srgbClr val="192331"/>
                </a:solidFill>
                <a:latin typeface="Arial"/>
              </a:rPr>
              <a:t xml:space="preserve">Shapes hold a Color reference instead of encoding color in inheritance.</a:t>
            </a:r>
            <a:endParaRPr sz="1200"/>
          </a:p>
        </p:txBody>
      </p:sp>
      <p:sp>
        <p:nvSpPr>
          <p:cNvPr id="25" name="Panel 25"/>
          <p:cNvSpPr/>
          <p:nvPr/>
        </p:nvSpPr>
        <p:spPr>
          <a:xfrm>
            <a:off x="9296400" y="2120900"/>
            <a:ext cx="8686800" cy="32131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26" name="Panel 26"/>
          <p:cNvSpPr/>
          <p:nvPr/>
        </p:nvSpPr>
        <p:spPr>
          <a:xfrm>
            <a:off x="9321800" y="2146300"/>
            <a:ext cx="8636000" cy="31623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7" name="Panel 27"/>
          <p:cNvSpPr/>
          <p:nvPr/>
        </p:nvSpPr>
        <p:spPr>
          <a:xfrm>
            <a:off x="9321800" y="2146300"/>
            <a:ext cx="8636000" cy="3048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28" name="Text 28"/>
          <p:cNvSpPr txBox="1"/>
          <p:nvPr/>
        </p:nvSpPr>
        <p:spPr>
          <a:xfrm>
            <a:off x="9448800" y="2159000"/>
            <a:ext cx="83820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151B27"/>
                </a:solidFill>
                <a:latin typeface="Arial"/>
              </a:rPr>
              <a:t xml:space="preserve">After (using Bridge)</a:t>
            </a:r>
            <a:endParaRPr sz="1300"/>
          </a:p>
        </p:txBody>
      </p:sp>
      <p:pic>
        <p:nvPicPr>
          <p:cNvPr id="29" name="UML class diagram"/>
          <p:cNvPicPr/>
          <p:nvPr/>
        </p:nvPicPr>
        <p:blipFill>
          <a:blip r:embed="rId3"/>
          <a:stretch>
            <a:fillRect/>
          </a:stretch>
        </p:blipFill>
        <p:spPr>
          <a:xfrm>
            <a:off x="9436100" y="2476500"/>
            <a:ext cx="8382000" cy="2806700"/>
          </a:xfrm>
          <a:prstGeom prst="rect">
            <a:avLst/>
          </a:prstGeom>
        </p:spPr>
      </p:pic>
      <p:sp>
        <p:nvSpPr>
          <p:cNvPr id="30" name="Panel 30"/>
          <p:cNvSpPr/>
          <p:nvPr/>
        </p:nvSpPr>
        <p:spPr>
          <a:xfrm>
            <a:off x="304800" y="5435600"/>
            <a:ext cx="8686800" cy="18923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31" name="Panel 31"/>
          <p:cNvSpPr/>
          <p:nvPr/>
        </p:nvSpPr>
        <p:spPr>
          <a:xfrm>
            <a:off x="330200" y="5461000"/>
            <a:ext cx="8636000" cy="18415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32" name="Panel 32"/>
          <p:cNvSpPr/>
          <p:nvPr/>
        </p:nvSpPr>
        <p:spPr>
          <a:xfrm>
            <a:off x="330200" y="5461000"/>
            <a:ext cx="8636000" cy="3048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33" name="Text 33"/>
          <p:cNvSpPr txBox="1"/>
          <p:nvPr/>
        </p:nvSpPr>
        <p:spPr>
          <a:xfrm>
            <a:off x="457200" y="5473700"/>
            <a:ext cx="6985000" cy="2768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680"/>
              </a:lnSpc>
            </a:pPr>
            <a:r>
              <a:rPr lang="en-US" sz="1400" b="1">
                <a:solidFill>
                  <a:srgbClr val="161D2B"/>
                </a:solidFill>
                <a:latin typeface="Arial"/>
              </a:rPr>
              <a:t xml:space="preserve">Client Code (Before)</a:t>
            </a:r>
            <a:endParaRPr sz="1400"/>
          </a:p>
        </p:txBody>
      </p:sp>
      <p:sp>
        <p:nvSpPr>
          <p:cNvPr id="34" name="Text 34"/>
          <p:cNvSpPr txBox="1"/>
          <p:nvPr/>
        </p:nvSpPr>
        <p:spPr>
          <a:xfrm>
            <a:off x="7594600" y="5511800"/>
            <a:ext cx="1270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000"/>
          </a:p>
        </p:txBody>
      </p:sp>
      <p:sp>
        <p:nvSpPr>
          <p:cNvPr id="35" name="Code 35"/>
          <p:cNvSpPr txBox="1"/>
          <p:nvPr/>
        </p:nvSpPr>
        <p:spPr>
          <a:xfrm>
            <a:off x="482600" y="5791200"/>
            <a:ext cx="8255000" cy="673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600"/>
              </a:lnSpc>
            </a:pPr>
            <a:r>
              <a:rPr lang="en-US" sz="1300">
                <a:solidFill>
                  <a:srgbClr val="0B57D0"/>
                </a:solidFill>
                <a:latin typeface="Courier New"/>
              </a:rPr>
              <a:t xml:space="preserve">new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F766E"/>
                </a:solidFill>
                <a:latin typeface="Courier New"/>
              </a:rPr>
              <a:t xml:space="preserve">RedCircle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draw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0B57D0"/>
                </a:solidFill>
                <a:latin typeface="Courier New"/>
              </a:rPr>
              <a:t xml:space="preserve">new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F766E"/>
                </a:solidFill>
                <a:latin typeface="Courier New"/>
              </a:rPr>
              <a:t xml:space="preserve">BlueSquare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draw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64748B"/>
                </a:solidFill>
                <a:latin typeface="Courier New"/>
              </a:rPr>
              <a:t xml:space="preserve">// red circle + blue square; one class per combo</a:t>
            </a:r>
            <a:endParaRPr sz="1300"/>
          </a:p>
        </p:txBody>
      </p:sp>
      <p:sp>
        <p:nvSpPr>
          <p:cNvPr id="36" name="Panel 36"/>
          <p:cNvSpPr/>
          <p:nvPr/>
        </p:nvSpPr>
        <p:spPr>
          <a:xfrm>
            <a:off x="9296400" y="5435600"/>
            <a:ext cx="8686800" cy="18923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37" name="Panel 37"/>
          <p:cNvSpPr/>
          <p:nvPr/>
        </p:nvSpPr>
        <p:spPr>
          <a:xfrm>
            <a:off x="9321800" y="5461000"/>
            <a:ext cx="8636000" cy="18415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38" name="Panel 38"/>
          <p:cNvSpPr/>
          <p:nvPr/>
        </p:nvSpPr>
        <p:spPr>
          <a:xfrm>
            <a:off x="9321800" y="5461000"/>
            <a:ext cx="8636000" cy="3048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39" name="Text 39"/>
          <p:cNvSpPr txBox="1"/>
          <p:nvPr/>
        </p:nvSpPr>
        <p:spPr>
          <a:xfrm>
            <a:off x="9448800" y="5473700"/>
            <a:ext cx="6985000" cy="2768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680"/>
              </a:lnSpc>
            </a:pPr>
            <a:r>
              <a:rPr lang="en-US" sz="1400" b="1">
                <a:solidFill>
                  <a:srgbClr val="161D2B"/>
                </a:solidFill>
                <a:latin typeface="Arial"/>
              </a:rPr>
              <a:t xml:space="preserve">Client Code (After)</a:t>
            </a:r>
            <a:endParaRPr sz="1400"/>
          </a:p>
        </p:txBody>
      </p:sp>
      <p:sp>
        <p:nvSpPr>
          <p:cNvPr id="40" name="Text 40"/>
          <p:cNvSpPr txBox="1"/>
          <p:nvPr/>
        </p:nvSpPr>
        <p:spPr>
          <a:xfrm>
            <a:off x="16586200" y="5511800"/>
            <a:ext cx="1270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000"/>
          </a:p>
        </p:txBody>
      </p:sp>
      <p:sp>
        <p:nvSpPr>
          <p:cNvPr id="41" name="Code 41"/>
          <p:cNvSpPr txBox="1"/>
          <p:nvPr/>
        </p:nvSpPr>
        <p:spPr>
          <a:xfrm>
            <a:off x="9474200" y="5791200"/>
            <a:ext cx="8255000" cy="8763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600"/>
              </a:lnSpc>
            </a:pP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shapes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=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[</a:t>
            </a:r>
            <a:r>
              <a:rPr lang="en-US" sz="1300">
                <a:solidFill>
                  <a:srgbClr val="0B57D0"/>
                </a:solidFill>
                <a:latin typeface="Courier New"/>
              </a:rPr>
              <a:t xml:space="preserve">new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F766E"/>
                </a:solidFill>
                <a:latin typeface="Courier New"/>
              </a:rPr>
              <a:t xml:space="preserve">Circle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0B57D0"/>
                </a:solidFill>
                <a:latin typeface="Courier New"/>
              </a:rPr>
              <a:t xml:space="preserve">new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F766E"/>
                </a:solidFill>
                <a:latin typeface="Courier New"/>
              </a:rPr>
              <a:t xml:space="preserve">Red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,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         </a:t>
            </a:r>
            <a:r>
              <a:rPr lang="en-US" sz="1300">
                <a:solidFill>
                  <a:srgbClr val="0B57D0"/>
                </a:solidFill>
                <a:latin typeface="Courier New"/>
              </a:rPr>
              <a:t xml:space="preserve">new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F766E"/>
                </a:solidFill>
                <a:latin typeface="Courier New"/>
              </a:rPr>
              <a:t xml:space="preserve">Square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0B57D0"/>
                </a:solidFill>
                <a:latin typeface="Courier New"/>
              </a:rPr>
              <a:t xml:space="preserve">new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F766E"/>
                </a:solidFill>
                <a:latin typeface="Courier New"/>
              </a:rPr>
              <a:t xml:space="preserve">Blue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]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0B57D0"/>
                </a:solidFill>
                <a:latin typeface="Courier New"/>
              </a:rPr>
              <a:t xml:space="preserve">for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s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B57D0"/>
                </a:solidFill>
                <a:latin typeface="Courier New"/>
              </a:rPr>
              <a:t xml:space="preserve">in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shapes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: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s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draw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64748B"/>
                </a:solidFill>
                <a:latin typeface="Courier New"/>
              </a:rPr>
              <a:t xml:space="preserve">// same two drawings; compose shape × color</a:t>
            </a:r>
            <a:endParaRPr sz="1300"/>
          </a:p>
        </p:txBody>
      </p:sp>
      <p:sp>
        <p:nvSpPr>
          <p:cNvPr id="42" name="Panel 42"/>
          <p:cNvSpPr/>
          <p:nvPr/>
        </p:nvSpPr>
        <p:spPr>
          <a:xfrm>
            <a:off x="304800" y="7404100"/>
            <a:ext cx="17678400" cy="25527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43" name="Panel 43"/>
          <p:cNvSpPr/>
          <p:nvPr/>
        </p:nvSpPr>
        <p:spPr>
          <a:xfrm>
            <a:off x="330200" y="7429500"/>
            <a:ext cx="17627600" cy="25019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44" name="Panel 44"/>
          <p:cNvSpPr/>
          <p:nvPr/>
        </p:nvSpPr>
        <p:spPr>
          <a:xfrm>
            <a:off x="330200" y="7429500"/>
            <a:ext cx="17627600" cy="3048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45" name="Text 45"/>
          <p:cNvSpPr txBox="1"/>
          <p:nvPr/>
        </p:nvSpPr>
        <p:spPr>
          <a:xfrm>
            <a:off x="457200" y="7454900"/>
            <a:ext cx="15240000" cy="292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800"/>
              </a:lnSpc>
            </a:pPr>
            <a:r>
              <a:rPr lang="en-US" sz="1500" b="1">
                <a:solidFill>
                  <a:srgbClr val="161D2B"/>
                </a:solidFill>
                <a:latin typeface="Arial"/>
              </a:rPr>
              <a:t xml:space="preserve">Module Code (API boundary)</a:t>
            </a:r>
            <a:endParaRPr sz="1500"/>
          </a:p>
        </p:txBody>
      </p:sp>
      <p:sp>
        <p:nvSpPr>
          <p:cNvPr id="46" name="Text 46"/>
          <p:cNvSpPr txBox="1"/>
          <p:nvPr/>
        </p:nvSpPr>
        <p:spPr>
          <a:xfrm>
            <a:off x="16459200" y="7493000"/>
            <a:ext cx="13335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000"/>
          </a:p>
        </p:txBody>
      </p:sp>
      <p:sp>
        <p:nvSpPr>
          <p:cNvPr id="47" name="Code 47"/>
          <p:cNvSpPr txBox="1"/>
          <p:nvPr/>
        </p:nvSpPr>
        <p:spPr>
          <a:xfrm>
            <a:off x="482600" y="7785100"/>
            <a:ext cx="17322800" cy="1079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600"/>
              </a:lnSpc>
            </a:pPr>
            <a:r>
              <a:rPr lang="en-US" sz="1300">
                <a:solidFill>
                  <a:srgbClr val="64748B"/>
                </a:solidFill>
                <a:latin typeface="Courier New"/>
              </a:rPr>
              <a:t xml:space="preserve">// MODULE — Shape API for client developers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64748B"/>
                </a:solidFill>
                <a:latin typeface="Courier New"/>
              </a:rPr>
              <a:t xml:space="preserve">// Circle.draw()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color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apply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renderCircleGeometry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64748B"/>
                </a:solidFill>
                <a:latin typeface="Courier New"/>
              </a:rPr>
              <a:t xml:space="preserve">// color and geometry vary independently</a:t>
            </a:r>
            <a:endParaRPr sz="1300"/>
          </a:p>
        </p:txBody>
      </p:sp>
      <p:sp>
        <p:nvSpPr>
          <p:cNvPr id="48" name="Text 48"/>
          <p:cNvSpPr txBox="1"/>
          <p:nvPr/>
        </p:nvSpPr>
        <p:spPr>
          <a:xfrm>
            <a:off x="304800" y="10007600"/>
            <a:ext cx="10160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566174"/>
                </a:solidFill>
                <a:latin typeface="Arial"/>
              </a:rPr>
              <a:t xml:space="preserve">Source: https://refactoring.guru/design-patterns/bridge</a:t>
            </a:r>
            <a:endParaRPr sz="1000"/>
          </a:p>
        </p:txBody>
      </p:sp>
      <p:sp>
        <p:nvSpPr>
          <p:cNvPr id="49" name="Text 49"/>
          <p:cNvSpPr txBox="1"/>
          <p:nvPr/>
        </p:nvSpPr>
        <p:spPr>
          <a:xfrm>
            <a:off x="9144000" y="10007600"/>
            <a:ext cx="8890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566174"/>
                </a:solidFill>
                <a:latin typeface="Arial"/>
              </a:rPr>
              <a:t xml:space="preserve">UML: Client box = caller code; hollow triangle = inheritance / realization; dashed open arrow = dependency</a:t>
            </a:r>
            <a:endParaRPr sz="1000"/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 3"/>
          <p:cNvSpPr txBox="1"/>
          <p:nvPr/>
        </p:nvSpPr>
        <p:spPr>
          <a:xfrm>
            <a:off x="304800" y="114300"/>
            <a:ext cx="5842000" cy="7340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5280"/>
              </a:lnSpc>
            </a:pPr>
            <a:r>
              <a:rPr lang="en-US" sz="4400" b="1">
                <a:solidFill>
                  <a:srgbClr val="101319"/>
                </a:solidFill>
                <a:latin typeface="Arial"/>
              </a:rPr>
              <a:t xml:space="preserve">Facade</a:t>
            </a:r>
            <a:endParaRPr sz="4400"/>
          </a:p>
        </p:txBody>
      </p:sp>
      <p:sp>
        <p:nvSpPr>
          <p:cNvPr id="4" name="Panel 4"/>
          <p:cNvSpPr/>
          <p:nvPr/>
        </p:nvSpPr>
        <p:spPr>
          <a:xfrm>
            <a:off x="2535225" y="177800"/>
            <a:ext cx="25400" cy="660400"/>
          </a:xfrm>
          <a:prstGeom prst="rect">
            <a:avLst/>
          </a:prstGeom>
          <a:solidFill>
            <a:srgbClr val="858E9E"/>
          </a:soli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2763825" y="165100"/>
            <a:ext cx="15054275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>
                <a:solidFill>
                  <a:srgbClr val="596273"/>
                </a:solidFill>
                <a:latin typeface="Arial"/>
              </a:rPr>
              <a:t xml:space="preserve">Structural Design Pattern</a:t>
            </a:r>
            <a:endParaRPr sz="1700"/>
          </a:p>
        </p:txBody>
      </p:sp>
      <p:sp>
        <p:nvSpPr>
          <p:cNvPr id="6" name="Text 6"/>
          <p:cNvSpPr txBox="1"/>
          <p:nvPr/>
        </p:nvSpPr>
        <p:spPr>
          <a:xfrm>
            <a:off x="2763825" y="469900"/>
            <a:ext cx="15054275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>
                <a:solidFill>
                  <a:srgbClr val="182230"/>
                </a:solidFill>
                <a:latin typeface="Arial"/>
              </a:rPr>
              <a:t xml:space="preserve">Expose a simple entry point to a complex subsystem.</a:t>
            </a:r>
            <a:endParaRPr sz="1800"/>
          </a:p>
        </p:txBody>
      </p:sp>
      <p:sp>
        <p:nvSpPr>
          <p:cNvPr id="7" name="Panel 7"/>
          <p:cNvSpPr/>
          <p:nvPr/>
        </p:nvSpPr>
        <p:spPr>
          <a:xfrm>
            <a:off x="304800" y="965200"/>
            <a:ext cx="17678400" cy="304800"/>
          </a:xfrm>
          <a:prstGeom prst="rect">
            <a:avLst/>
          </a:prstGeom>
          <a:solidFill>
            <a:srgbClr val="EDF0F6"/>
          </a:solidFill>
          <a:ln>
            <a:noFill/>
          </a:ln>
        </p:spPr>
      </p:sp>
      <p:sp>
        <p:nvSpPr>
          <p:cNvPr id="8" name="Text 8"/>
          <p:cNvSpPr txBox="1"/>
          <p:nvPr/>
        </p:nvSpPr>
        <p:spPr>
          <a:xfrm>
            <a:off x="431800" y="1003300"/>
            <a:ext cx="158750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374151"/>
                </a:solidFill>
                <a:latin typeface="Arial"/>
              </a:rPr>
              <a:t xml:space="preserve">CASE STUDY: Video conversion subsystem</a:t>
            </a:r>
            <a:endParaRPr sz="1300"/>
          </a:p>
        </p:txBody>
      </p:sp>
      <p:sp>
        <p:nvSpPr>
          <p:cNvPr id="9" name="Text 9"/>
          <p:cNvSpPr txBox="1"/>
          <p:nvPr/>
        </p:nvSpPr>
        <p:spPr>
          <a:xfrm>
            <a:off x="17018000" y="1003300"/>
            <a:ext cx="9525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374151"/>
                </a:solidFill>
                <a:latin typeface="Arial"/>
              </a:rPr>
              <a:t xml:space="preserve">07 / 14</a:t>
            </a:r>
            <a:endParaRPr sz="1300"/>
          </a:p>
        </p:txBody>
      </p:sp>
      <p:sp>
        <p:nvSpPr>
          <p:cNvPr id="10" name="Panel 10"/>
          <p:cNvSpPr/>
          <p:nvPr/>
        </p:nvSpPr>
        <p:spPr>
          <a:xfrm>
            <a:off x="304800" y="1384300"/>
            <a:ext cx="8686800" cy="660400"/>
          </a:xfrm>
          <a:prstGeom prst="rect">
            <a:avLst/>
          </a:prstGeom>
          <a:solidFill>
            <a:srgbClr val="EFA5AA"/>
          </a:solidFill>
          <a:ln>
            <a:noFill/>
          </a:ln>
        </p:spPr>
      </p:sp>
      <p:sp>
        <p:nvSpPr>
          <p:cNvPr id="11" name="Panel 11"/>
          <p:cNvSpPr/>
          <p:nvPr/>
        </p:nvSpPr>
        <p:spPr>
          <a:xfrm>
            <a:off x="330200" y="1409700"/>
            <a:ext cx="8636000" cy="609600"/>
          </a:xfrm>
          <a:prstGeom prst="rect">
            <a:avLst/>
          </a:prstGeom>
          <a:solidFill>
            <a:srgbClr val="FFE2E3"/>
          </a:solidFill>
          <a:ln>
            <a:noFill/>
          </a:ln>
        </p:spPr>
      </p:sp>
      <p:sp>
        <p:nvSpPr>
          <p:cNvPr id="12" name="Panel 12"/>
          <p:cNvSpPr/>
          <p:nvPr/>
        </p:nvSpPr>
        <p:spPr>
          <a:xfrm>
            <a:off x="431800" y="1473200"/>
            <a:ext cx="63500" cy="228600"/>
          </a:xfrm>
          <a:prstGeom prst="rect">
            <a:avLst/>
          </a:prstGeom>
          <a:solidFill>
            <a:srgbClr val="C5222B"/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596900" y="1422400"/>
            <a:ext cx="8153400" cy="3073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920"/>
              </a:lnSpc>
            </a:pPr>
            <a:r>
              <a:rPr lang="en-US" sz="1600" b="1">
                <a:solidFill>
                  <a:srgbClr val="C5222B"/>
                </a:solidFill>
                <a:latin typeface="Arial"/>
              </a:rPr>
              <a:t xml:space="preserve">Problem</a:t>
            </a:r>
            <a:endParaRPr sz="1600"/>
          </a:p>
        </p:txBody>
      </p:sp>
      <p:sp>
        <p:nvSpPr>
          <p:cNvPr id="14" name="Text 14"/>
          <p:cNvSpPr txBox="1"/>
          <p:nvPr/>
        </p:nvSpPr>
        <p:spPr>
          <a:xfrm>
            <a:off x="520700" y="1600200"/>
            <a:ext cx="8255000" cy="2413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400"/>
              </a:lnSpc>
            </a:pPr>
            <a:r>
              <a:rPr lang="en-US" sz="1200">
                <a:solidFill>
                  <a:srgbClr val="192331"/>
                </a:solidFill>
                <a:latin typeface="Arial"/>
              </a:rPr>
              <a:t xml:space="preserve">Every client coordinates codecs, bitrate conversion, and audio repair.</a:t>
            </a:r>
            <a:endParaRPr sz="1200"/>
          </a:p>
        </p:txBody>
      </p:sp>
      <p:sp>
        <p:nvSpPr>
          <p:cNvPr id="15" name="Panel 15"/>
          <p:cNvSpPr/>
          <p:nvPr/>
        </p:nvSpPr>
        <p:spPr>
          <a:xfrm>
            <a:off x="304800" y="2120900"/>
            <a:ext cx="8686800" cy="32131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16" name="Panel 16"/>
          <p:cNvSpPr/>
          <p:nvPr/>
        </p:nvSpPr>
        <p:spPr>
          <a:xfrm>
            <a:off x="330200" y="2146300"/>
            <a:ext cx="8636000" cy="31623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7" name="Panel 17"/>
          <p:cNvSpPr/>
          <p:nvPr/>
        </p:nvSpPr>
        <p:spPr>
          <a:xfrm>
            <a:off x="330200" y="2146300"/>
            <a:ext cx="8636000" cy="3048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18" name="Text 18"/>
          <p:cNvSpPr txBox="1"/>
          <p:nvPr/>
        </p:nvSpPr>
        <p:spPr>
          <a:xfrm>
            <a:off x="457200" y="2159000"/>
            <a:ext cx="83820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151B27"/>
                </a:solidFill>
                <a:latin typeface="Arial"/>
              </a:rPr>
              <a:t xml:space="preserve">Before (direct coupling)</a:t>
            </a:r>
            <a:endParaRPr sz="1300"/>
          </a:p>
        </p:txBody>
      </p:sp>
      <p:pic>
        <p:nvPicPr>
          <p:cNvPr id="19" name="UML class diagram"/>
          <p:cNvPicPr/>
          <p:nvPr/>
        </p:nvPicPr>
        <p:blipFill>
          <a:blip r:embed="rId2"/>
          <a:stretch>
            <a:fillRect/>
          </a:stretch>
        </p:blipFill>
        <p:spPr>
          <a:xfrm>
            <a:off x="444500" y="2476500"/>
            <a:ext cx="8382000" cy="2806700"/>
          </a:xfrm>
          <a:prstGeom prst="rect">
            <a:avLst/>
          </a:prstGeom>
        </p:spPr>
      </p:pic>
      <p:sp>
        <p:nvSpPr>
          <p:cNvPr id="20" name="Panel 20"/>
          <p:cNvSpPr/>
          <p:nvPr/>
        </p:nvSpPr>
        <p:spPr>
          <a:xfrm>
            <a:off x="9296400" y="1384300"/>
            <a:ext cx="8686800" cy="660400"/>
          </a:xfrm>
          <a:prstGeom prst="rect">
            <a:avLst/>
          </a:prstGeom>
          <a:solidFill>
            <a:srgbClr val="94D9D1"/>
          </a:solidFill>
          <a:ln>
            <a:noFill/>
          </a:ln>
        </p:spPr>
      </p:sp>
      <p:sp>
        <p:nvSpPr>
          <p:cNvPr id="21" name="Panel 21"/>
          <p:cNvSpPr/>
          <p:nvPr/>
        </p:nvSpPr>
        <p:spPr>
          <a:xfrm>
            <a:off x="9321800" y="1409700"/>
            <a:ext cx="8636000" cy="609600"/>
          </a:xfrm>
          <a:prstGeom prst="rect">
            <a:avLst/>
          </a:prstGeom>
          <a:solidFill>
            <a:srgbClr val="D9F5F0"/>
          </a:solidFill>
          <a:ln>
            <a:noFill/>
          </a:ln>
        </p:spPr>
      </p:sp>
      <p:sp>
        <p:nvSpPr>
          <p:cNvPr id="22" name="Panel 22"/>
          <p:cNvSpPr/>
          <p:nvPr/>
        </p:nvSpPr>
        <p:spPr>
          <a:xfrm>
            <a:off x="9423400" y="1473200"/>
            <a:ext cx="63500" cy="228600"/>
          </a:xfrm>
          <a:prstGeom prst="rect">
            <a:avLst/>
          </a:prstGeom>
          <a:solidFill>
            <a:srgbClr val="007E78"/>
          </a:solidFill>
          <a:ln>
            <a:noFill/>
          </a:ln>
        </p:spPr>
      </p:sp>
      <p:sp>
        <p:nvSpPr>
          <p:cNvPr id="23" name="Text 23"/>
          <p:cNvSpPr txBox="1"/>
          <p:nvPr/>
        </p:nvSpPr>
        <p:spPr>
          <a:xfrm>
            <a:off x="9588500" y="1422400"/>
            <a:ext cx="8153400" cy="3073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920"/>
              </a:lnSpc>
            </a:pPr>
            <a:r>
              <a:rPr lang="en-US" sz="1600" b="1">
                <a:solidFill>
                  <a:srgbClr val="007E78"/>
                </a:solidFill>
                <a:latin typeface="Arial"/>
              </a:rPr>
              <a:t xml:space="preserve">Solution</a:t>
            </a:r>
            <a:endParaRPr sz="1600"/>
          </a:p>
        </p:txBody>
      </p:sp>
      <p:sp>
        <p:nvSpPr>
          <p:cNvPr id="24" name="Text 24"/>
          <p:cNvSpPr txBox="1"/>
          <p:nvPr/>
        </p:nvSpPr>
        <p:spPr>
          <a:xfrm>
            <a:off x="9512300" y="1600200"/>
            <a:ext cx="8255000" cy="2413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400"/>
              </a:lnSpc>
            </a:pPr>
            <a:r>
              <a:rPr lang="en-US" sz="1200">
                <a:solidFill>
                  <a:srgbClr val="192331"/>
                </a:solidFill>
                <a:latin typeface="Arial"/>
              </a:rPr>
              <a:t xml:space="preserve">A facade orchestrates the subsystem behind one conversion call.</a:t>
            </a:r>
            <a:endParaRPr sz="1200"/>
          </a:p>
        </p:txBody>
      </p:sp>
      <p:sp>
        <p:nvSpPr>
          <p:cNvPr id="25" name="Panel 25"/>
          <p:cNvSpPr/>
          <p:nvPr/>
        </p:nvSpPr>
        <p:spPr>
          <a:xfrm>
            <a:off x="9296400" y="2120900"/>
            <a:ext cx="8686800" cy="32131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26" name="Panel 26"/>
          <p:cNvSpPr/>
          <p:nvPr/>
        </p:nvSpPr>
        <p:spPr>
          <a:xfrm>
            <a:off x="9321800" y="2146300"/>
            <a:ext cx="8636000" cy="31623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7" name="Panel 27"/>
          <p:cNvSpPr/>
          <p:nvPr/>
        </p:nvSpPr>
        <p:spPr>
          <a:xfrm>
            <a:off x="9321800" y="2146300"/>
            <a:ext cx="8636000" cy="3048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28" name="Text 28"/>
          <p:cNvSpPr txBox="1"/>
          <p:nvPr/>
        </p:nvSpPr>
        <p:spPr>
          <a:xfrm>
            <a:off x="9448800" y="2159000"/>
            <a:ext cx="83820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151B27"/>
                </a:solidFill>
                <a:latin typeface="Arial"/>
              </a:rPr>
              <a:t xml:space="preserve">After (using Facade)</a:t>
            </a:r>
            <a:endParaRPr sz="1300"/>
          </a:p>
        </p:txBody>
      </p:sp>
      <p:pic>
        <p:nvPicPr>
          <p:cNvPr id="29" name="UML class diagram"/>
          <p:cNvPicPr/>
          <p:nvPr/>
        </p:nvPicPr>
        <p:blipFill>
          <a:blip r:embed="rId3"/>
          <a:stretch>
            <a:fillRect/>
          </a:stretch>
        </p:blipFill>
        <p:spPr>
          <a:xfrm>
            <a:off x="9436100" y="2476500"/>
            <a:ext cx="8382000" cy="2806700"/>
          </a:xfrm>
          <a:prstGeom prst="rect">
            <a:avLst/>
          </a:prstGeom>
        </p:spPr>
      </p:pic>
      <p:sp>
        <p:nvSpPr>
          <p:cNvPr id="30" name="Panel 30"/>
          <p:cNvSpPr/>
          <p:nvPr/>
        </p:nvSpPr>
        <p:spPr>
          <a:xfrm>
            <a:off x="304800" y="5435600"/>
            <a:ext cx="8686800" cy="18923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31" name="Panel 31"/>
          <p:cNvSpPr/>
          <p:nvPr/>
        </p:nvSpPr>
        <p:spPr>
          <a:xfrm>
            <a:off x="330200" y="5461000"/>
            <a:ext cx="8636000" cy="18415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32" name="Panel 32"/>
          <p:cNvSpPr/>
          <p:nvPr/>
        </p:nvSpPr>
        <p:spPr>
          <a:xfrm>
            <a:off x="330200" y="5461000"/>
            <a:ext cx="8636000" cy="3048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33" name="Text 33"/>
          <p:cNvSpPr txBox="1"/>
          <p:nvPr/>
        </p:nvSpPr>
        <p:spPr>
          <a:xfrm>
            <a:off x="457200" y="5473700"/>
            <a:ext cx="6985000" cy="2768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680"/>
              </a:lnSpc>
            </a:pPr>
            <a:r>
              <a:rPr lang="en-US" sz="1400" b="1">
                <a:solidFill>
                  <a:srgbClr val="161D2B"/>
                </a:solidFill>
                <a:latin typeface="Arial"/>
              </a:rPr>
              <a:t xml:space="preserve">Client Code (Before)</a:t>
            </a:r>
            <a:endParaRPr sz="1400"/>
          </a:p>
        </p:txBody>
      </p:sp>
      <p:sp>
        <p:nvSpPr>
          <p:cNvPr id="34" name="Text 34"/>
          <p:cNvSpPr txBox="1"/>
          <p:nvPr/>
        </p:nvSpPr>
        <p:spPr>
          <a:xfrm>
            <a:off x="7594600" y="5511800"/>
            <a:ext cx="1270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000"/>
          </a:p>
        </p:txBody>
      </p:sp>
      <p:sp>
        <p:nvSpPr>
          <p:cNvPr id="35" name="Code 35"/>
          <p:cNvSpPr txBox="1"/>
          <p:nvPr/>
        </p:nvSpPr>
        <p:spPr>
          <a:xfrm>
            <a:off x="482600" y="5791200"/>
            <a:ext cx="8255000" cy="1079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600"/>
              </a:lnSpc>
            </a:pP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codec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=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F766E"/>
                </a:solidFill>
                <a:latin typeface="Courier New"/>
              </a:rPr>
              <a:t xml:space="preserve">CodecFactory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extract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file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raw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=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F766E"/>
                </a:solidFill>
                <a:latin typeface="Courier New"/>
              </a:rPr>
              <a:t xml:space="preserve">BitrateReader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read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file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,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codec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video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=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F766E"/>
                </a:solidFill>
                <a:latin typeface="Courier New"/>
              </a:rPr>
              <a:t xml:space="preserve">BitrateReader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convert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raw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,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mp4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result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=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F766E"/>
                </a:solidFill>
                <a:latin typeface="Courier New"/>
              </a:rPr>
              <a:t xml:space="preserve">AudioMixer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fix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video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64748B"/>
                </a:solidFill>
                <a:latin typeface="Courier New"/>
              </a:rPr>
              <a:t xml:space="preserve">// export file as mp4 via subsystem steps</a:t>
            </a:r>
            <a:endParaRPr sz="1300"/>
          </a:p>
        </p:txBody>
      </p:sp>
      <p:sp>
        <p:nvSpPr>
          <p:cNvPr id="36" name="Panel 36"/>
          <p:cNvSpPr/>
          <p:nvPr/>
        </p:nvSpPr>
        <p:spPr>
          <a:xfrm>
            <a:off x="9296400" y="5435600"/>
            <a:ext cx="8686800" cy="18923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37" name="Panel 37"/>
          <p:cNvSpPr/>
          <p:nvPr/>
        </p:nvSpPr>
        <p:spPr>
          <a:xfrm>
            <a:off x="9321800" y="5461000"/>
            <a:ext cx="8636000" cy="18415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38" name="Panel 38"/>
          <p:cNvSpPr/>
          <p:nvPr/>
        </p:nvSpPr>
        <p:spPr>
          <a:xfrm>
            <a:off x="9321800" y="5461000"/>
            <a:ext cx="8636000" cy="3048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39" name="Text 39"/>
          <p:cNvSpPr txBox="1"/>
          <p:nvPr/>
        </p:nvSpPr>
        <p:spPr>
          <a:xfrm>
            <a:off x="9448800" y="5473700"/>
            <a:ext cx="6985000" cy="2768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680"/>
              </a:lnSpc>
            </a:pPr>
            <a:r>
              <a:rPr lang="en-US" sz="1400" b="1">
                <a:solidFill>
                  <a:srgbClr val="161D2B"/>
                </a:solidFill>
                <a:latin typeface="Arial"/>
              </a:rPr>
              <a:t xml:space="preserve">Client Code (After)</a:t>
            </a:r>
            <a:endParaRPr sz="1400"/>
          </a:p>
        </p:txBody>
      </p:sp>
      <p:sp>
        <p:nvSpPr>
          <p:cNvPr id="40" name="Text 40"/>
          <p:cNvSpPr txBox="1"/>
          <p:nvPr/>
        </p:nvSpPr>
        <p:spPr>
          <a:xfrm>
            <a:off x="16586200" y="5511800"/>
            <a:ext cx="1270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000"/>
          </a:p>
        </p:txBody>
      </p:sp>
      <p:sp>
        <p:nvSpPr>
          <p:cNvPr id="41" name="Code 41"/>
          <p:cNvSpPr txBox="1"/>
          <p:nvPr/>
        </p:nvSpPr>
        <p:spPr>
          <a:xfrm>
            <a:off x="9474200" y="5791200"/>
            <a:ext cx="8255000" cy="469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600"/>
              </a:lnSpc>
            </a:pP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result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=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B57D0"/>
                </a:solidFill>
                <a:latin typeface="Courier New"/>
              </a:rPr>
              <a:t xml:space="preserve">new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F766E"/>
                </a:solidFill>
                <a:latin typeface="Courier New"/>
              </a:rPr>
              <a:t xml:space="preserve">VideoConverter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convert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file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,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B14747"/>
                </a:solidFill>
                <a:latin typeface="Courier New"/>
              </a:rPr>
              <a:t xml:space="preserve">"mp4"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64748B"/>
                </a:solidFill>
                <a:latin typeface="Courier New"/>
              </a:rPr>
              <a:t xml:space="preserve">// same mp4 export; one facade call</a:t>
            </a:r>
            <a:endParaRPr sz="1300"/>
          </a:p>
        </p:txBody>
      </p:sp>
      <p:sp>
        <p:nvSpPr>
          <p:cNvPr id="42" name="Panel 42"/>
          <p:cNvSpPr/>
          <p:nvPr/>
        </p:nvSpPr>
        <p:spPr>
          <a:xfrm>
            <a:off x="304800" y="7404100"/>
            <a:ext cx="17678400" cy="25527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43" name="Panel 43"/>
          <p:cNvSpPr/>
          <p:nvPr/>
        </p:nvSpPr>
        <p:spPr>
          <a:xfrm>
            <a:off x="330200" y="7429500"/>
            <a:ext cx="17627600" cy="25019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44" name="Panel 44"/>
          <p:cNvSpPr/>
          <p:nvPr/>
        </p:nvSpPr>
        <p:spPr>
          <a:xfrm>
            <a:off x="330200" y="7429500"/>
            <a:ext cx="17627600" cy="3048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45" name="Text 45"/>
          <p:cNvSpPr txBox="1"/>
          <p:nvPr/>
        </p:nvSpPr>
        <p:spPr>
          <a:xfrm>
            <a:off x="457200" y="7454900"/>
            <a:ext cx="15240000" cy="292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800"/>
              </a:lnSpc>
            </a:pPr>
            <a:r>
              <a:rPr lang="en-US" sz="1500" b="1">
                <a:solidFill>
                  <a:srgbClr val="161D2B"/>
                </a:solidFill>
                <a:latin typeface="Arial"/>
              </a:rPr>
              <a:t xml:space="preserve">Module Code (API boundary)</a:t>
            </a:r>
            <a:endParaRPr sz="1500"/>
          </a:p>
        </p:txBody>
      </p:sp>
      <p:sp>
        <p:nvSpPr>
          <p:cNvPr id="46" name="Text 46"/>
          <p:cNvSpPr txBox="1"/>
          <p:nvPr/>
        </p:nvSpPr>
        <p:spPr>
          <a:xfrm>
            <a:off x="16459200" y="7493000"/>
            <a:ext cx="13335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000"/>
          </a:p>
        </p:txBody>
      </p:sp>
      <p:sp>
        <p:nvSpPr>
          <p:cNvPr id="47" name="Code 47"/>
          <p:cNvSpPr txBox="1"/>
          <p:nvPr/>
        </p:nvSpPr>
        <p:spPr>
          <a:xfrm>
            <a:off x="482600" y="7785100"/>
            <a:ext cx="17322800" cy="12827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600"/>
              </a:lnSpc>
            </a:pPr>
            <a:r>
              <a:rPr lang="en-US" sz="1300">
                <a:solidFill>
                  <a:srgbClr val="64748B"/>
                </a:solidFill>
                <a:latin typeface="Courier New"/>
              </a:rPr>
              <a:t xml:space="preserve">// MODULE — VideoConverter facade API for client developers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64748B"/>
                </a:solidFill>
                <a:latin typeface="Courier New"/>
              </a:rPr>
              <a:t xml:space="preserve">// VideoConverter.convert(file, format)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source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=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F766E"/>
                </a:solidFill>
                <a:latin typeface="Courier New"/>
              </a:rPr>
              <a:t xml:space="preserve">CodecFactory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extract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file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raw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=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F766E"/>
                </a:solidFill>
                <a:latin typeface="Courier New"/>
              </a:rPr>
              <a:t xml:space="preserve">BitrateReader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read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file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,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source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video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=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F766E"/>
                </a:solidFill>
                <a:latin typeface="Courier New"/>
              </a:rPr>
              <a:t xml:space="preserve">BitrateReader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convert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raw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,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codecFor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format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0B57D0"/>
                </a:solidFill>
                <a:latin typeface="Courier New"/>
              </a:rPr>
              <a:t xml:space="preserve">return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F766E"/>
                </a:solidFill>
                <a:latin typeface="Courier New"/>
              </a:rPr>
              <a:t xml:space="preserve">AudioMixer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fix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video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endParaRPr sz="1300"/>
          </a:p>
        </p:txBody>
      </p:sp>
      <p:sp>
        <p:nvSpPr>
          <p:cNvPr id="48" name="Text 48"/>
          <p:cNvSpPr txBox="1"/>
          <p:nvPr/>
        </p:nvSpPr>
        <p:spPr>
          <a:xfrm>
            <a:off x="304800" y="10007600"/>
            <a:ext cx="10160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566174"/>
                </a:solidFill>
                <a:latin typeface="Arial"/>
              </a:rPr>
              <a:t xml:space="preserve">Source: https://refactoring.guru/design-patterns/facade</a:t>
            </a:r>
            <a:endParaRPr sz="1000"/>
          </a:p>
        </p:txBody>
      </p:sp>
      <p:sp>
        <p:nvSpPr>
          <p:cNvPr id="49" name="Text 49"/>
          <p:cNvSpPr txBox="1"/>
          <p:nvPr/>
        </p:nvSpPr>
        <p:spPr>
          <a:xfrm>
            <a:off x="9144000" y="10007600"/>
            <a:ext cx="8890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566174"/>
                </a:solidFill>
                <a:latin typeface="Arial"/>
              </a:rPr>
              <a:t xml:space="preserve">UML: Client box = caller code; hollow triangle = inheritance / realization; dashed open arrow = dependency</a:t>
            </a:r>
            <a:endParaRPr sz="1000"/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 3"/>
          <p:cNvSpPr txBox="1"/>
          <p:nvPr/>
        </p:nvSpPr>
        <p:spPr>
          <a:xfrm>
            <a:off x="304800" y="114300"/>
            <a:ext cx="5842000" cy="7340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5280"/>
              </a:lnSpc>
            </a:pPr>
            <a:r>
              <a:rPr lang="en-US" sz="4400" b="1">
                <a:solidFill>
                  <a:srgbClr val="101319"/>
                </a:solidFill>
                <a:latin typeface="Arial"/>
              </a:rPr>
              <a:t xml:space="preserve">Proxy</a:t>
            </a:r>
            <a:endParaRPr sz="4400"/>
          </a:p>
        </p:txBody>
      </p:sp>
      <p:sp>
        <p:nvSpPr>
          <p:cNvPr id="4" name="Panel 4"/>
          <p:cNvSpPr/>
          <p:nvPr/>
        </p:nvSpPr>
        <p:spPr>
          <a:xfrm>
            <a:off x="2162505" y="177800"/>
            <a:ext cx="25400" cy="660400"/>
          </a:xfrm>
          <a:prstGeom prst="rect">
            <a:avLst/>
          </a:prstGeom>
          <a:solidFill>
            <a:srgbClr val="858E9E"/>
          </a:soli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2391105" y="165100"/>
            <a:ext cx="15426995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>
                <a:solidFill>
                  <a:srgbClr val="596273"/>
                </a:solidFill>
                <a:latin typeface="Arial"/>
              </a:rPr>
              <a:t xml:space="preserve">Structural Design Pattern</a:t>
            </a:r>
            <a:endParaRPr sz="1700"/>
          </a:p>
        </p:txBody>
      </p:sp>
      <p:sp>
        <p:nvSpPr>
          <p:cNvPr id="6" name="Text 6"/>
          <p:cNvSpPr txBox="1"/>
          <p:nvPr/>
        </p:nvSpPr>
        <p:spPr>
          <a:xfrm>
            <a:off x="2391105" y="469900"/>
            <a:ext cx="15426995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>
                <a:solidFill>
                  <a:srgbClr val="182230"/>
                </a:solidFill>
                <a:latin typeface="Arial"/>
              </a:rPr>
              <a:t xml:space="preserve">A stand-in object that controls access to a real service without changing its interface.</a:t>
            </a:r>
            <a:endParaRPr sz="1800"/>
          </a:p>
        </p:txBody>
      </p:sp>
      <p:sp>
        <p:nvSpPr>
          <p:cNvPr id="7" name="Panel 7"/>
          <p:cNvSpPr/>
          <p:nvPr/>
        </p:nvSpPr>
        <p:spPr>
          <a:xfrm>
            <a:off x="304800" y="965200"/>
            <a:ext cx="17678400" cy="304800"/>
          </a:xfrm>
          <a:prstGeom prst="rect">
            <a:avLst/>
          </a:prstGeom>
          <a:solidFill>
            <a:srgbClr val="EDF0F6"/>
          </a:solidFill>
          <a:ln>
            <a:noFill/>
          </a:ln>
        </p:spPr>
      </p:sp>
      <p:sp>
        <p:nvSpPr>
          <p:cNvPr id="8" name="Text 8"/>
          <p:cNvSpPr txBox="1"/>
          <p:nvPr/>
        </p:nvSpPr>
        <p:spPr>
          <a:xfrm>
            <a:off x="431800" y="1003300"/>
            <a:ext cx="158750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374151"/>
                </a:solidFill>
                <a:latin typeface="Arial"/>
              </a:rPr>
              <a:t xml:space="preserve">CASE STUDY: Expensive database service with caching</a:t>
            </a:r>
            <a:endParaRPr sz="1300"/>
          </a:p>
        </p:txBody>
      </p:sp>
      <p:sp>
        <p:nvSpPr>
          <p:cNvPr id="9" name="Text 9"/>
          <p:cNvSpPr txBox="1"/>
          <p:nvPr/>
        </p:nvSpPr>
        <p:spPr>
          <a:xfrm>
            <a:off x="17018000" y="1003300"/>
            <a:ext cx="9525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374151"/>
                </a:solidFill>
                <a:latin typeface="Arial"/>
              </a:rPr>
              <a:t xml:space="preserve">08 / 14</a:t>
            </a:r>
            <a:endParaRPr sz="1300"/>
          </a:p>
        </p:txBody>
      </p:sp>
      <p:sp>
        <p:nvSpPr>
          <p:cNvPr id="10" name="Panel 10"/>
          <p:cNvSpPr/>
          <p:nvPr/>
        </p:nvSpPr>
        <p:spPr>
          <a:xfrm>
            <a:off x="304800" y="1384300"/>
            <a:ext cx="8686800" cy="1041400"/>
          </a:xfrm>
          <a:prstGeom prst="rect">
            <a:avLst/>
          </a:prstGeom>
          <a:solidFill>
            <a:srgbClr val="EFA5AA"/>
          </a:solidFill>
          <a:ln>
            <a:noFill/>
          </a:ln>
        </p:spPr>
      </p:sp>
      <p:sp>
        <p:nvSpPr>
          <p:cNvPr id="11" name="Panel 11"/>
          <p:cNvSpPr/>
          <p:nvPr/>
        </p:nvSpPr>
        <p:spPr>
          <a:xfrm>
            <a:off x="330200" y="1409700"/>
            <a:ext cx="8636000" cy="990600"/>
          </a:xfrm>
          <a:prstGeom prst="rect">
            <a:avLst/>
          </a:prstGeom>
          <a:solidFill>
            <a:srgbClr val="FFE2E3"/>
          </a:solidFill>
          <a:ln>
            <a:noFill/>
          </a:ln>
        </p:spPr>
      </p:sp>
      <p:sp>
        <p:nvSpPr>
          <p:cNvPr id="12" name="Panel 12"/>
          <p:cNvSpPr/>
          <p:nvPr/>
        </p:nvSpPr>
        <p:spPr>
          <a:xfrm>
            <a:off x="431800" y="1473200"/>
            <a:ext cx="63500" cy="228600"/>
          </a:xfrm>
          <a:prstGeom prst="rect">
            <a:avLst/>
          </a:prstGeom>
          <a:solidFill>
            <a:srgbClr val="C5222B"/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596900" y="1422400"/>
            <a:ext cx="8153400" cy="3073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920"/>
              </a:lnSpc>
            </a:pPr>
            <a:r>
              <a:rPr lang="en-US" sz="1600" b="1">
                <a:solidFill>
                  <a:srgbClr val="C5222B"/>
                </a:solidFill>
                <a:latin typeface="Arial"/>
              </a:rPr>
              <a:t xml:space="preserve">Problem</a:t>
            </a:r>
            <a:endParaRPr sz="1600"/>
          </a:p>
        </p:txBody>
      </p:sp>
      <p:sp>
        <p:nvSpPr>
          <p:cNvPr id="14" name="Text 14"/>
          <p:cNvSpPr txBox="1"/>
          <p:nvPr/>
        </p:nvSpPr>
        <p:spPr>
          <a:xfrm>
            <a:off x="520700" y="1651000"/>
            <a:ext cx="8255000" cy="673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192331"/>
                </a:solidFill>
                <a:latin typeface="Arial"/>
              </a:rPr>
              <a:t xml:space="preserve">• The real service is expensive to create or use (e.g. database, remote API, large object).</a:t>
            </a:r>
            <a:endParaRPr sz="1000"/>
          </a:p>
          <a:p>
            <a:pPr>
              <a:lnSpc>
                <a:spcPts val="1200"/>
              </a:lnSpc>
            </a:pPr>
            <a:r>
              <a:rPr lang="en-US" sz="1000">
                <a:solidFill>
                  <a:srgbClr val="192331"/>
                </a:solidFill>
                <a:latin typeface="Arial"/>
              </a:rPr>
              <a:t xml:space="preserve">• Repeated queries can be slow and waste resources.</a:t>
            </a:r>
            <a:endParaRPr sz="1000"/>
          </a:p>
          <a:p>
            <a:pPr>
              <a:lnSpc>
                <a:spcPts val="1200"/>
              </a:lnSpc>
            </a:pPr>
            <a:r>
              <a:rPr lang="en-US" sz="1000">
                <a:solidFill>
                  <a:srgbClr val="192331"/>
                </a:solidFill>
                <a:latin typeface="Arial"/>
              </a:rPr>
              <a:t xml:space="preserve">• The client may need to handle initialization or access control logic.</a:t>
            </a:r>
            <a:endParaRPr sz="1000"/>
          </a:p>
          <a:p>
            <a:pPr>
              <a:lnSpc>
                <a:spcPts val="1200"/>
              </a:lnSpc>
            </a:pPr>
            <a:r>
              <a:rPr lang="en-US" sz="1000">
                <a:solidFill>
                  <a:srgbClr val="192331"/>
                </a:solidFill>
                <a:latin typeface="Arial"/>
              </a:rPr>
              <a:t xml:space="preserve">• We want extra behavior (caching, logging, access control) without changing client code.</a:t>
            </a:r>
            <a:endParaRPr sz="1000"/>
          </a:p>
        </p:txBody>
      </p:sp>
      <p:sp>
        <p:nvSpPr>
          <p:cNvPr id="15" name="Panel 15"/>
          <p:cNvSpPr/>
          <p:nvPr/>
        </p:nvSpPr>
        <p:spPr>
          <a:xfrm>
            <a:off x="304800" y="2501900"/>
            <a:ext cx="8686800" cy="28321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16" name="Panel 16"/>
          <p:cNvSpPr/>
          <p:nvPr/>
        </p:nvSpPr>
        <p:spPr>
          <a:xfrm>
            <a:off x="330200" y="2527300"/>
            <a:ext cx="8636000" cy="27813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7" name="Panel 17"/>
          <p:cNvSpPr/>
          <p:nvPr/>
        </p:nvSpPr>
        <p:spPr>
          <a:xfrm>
            <a:off x="330200" y="2527300"/>
            <a:ext cx="8636000" cy="3048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18" name="Text 18"/>
          <p:cNvSpPr txBox="1"/>
          <p:nvPr/>
        </p:nvSpPr>
        <p:spPr>
          <a:xfrm>
            <a:off x="457200" y="2540000"/>
            <a:ext cx="83820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151B27"/>
                </a:solidFill>
                <a:latin typeface="Arial"/>
              </a:rPr>
              <a:t xml:space="preserve">Before (direct coupling)</a:t>
            </a:r>
            <a:endParaRPr sz="1300"/>
          </a:p>
        </p:txBody>
      </p:sp>
      <p:pic>
        <p:nvPicPr>
          <p:cNvPr id="19" name="UML class diagram"/>
          <p:cNvPicPr/>
          <p:nvPr/>
        </p:nvPicPr>
        <p:blipFill>
          <a:blip r:embed="rId2"/>
          <a:stretch>
            <a:fillRect/>
          </a:stretch>
        </p:blipFill>
        <p:spPr>
          <a:xfrm>
            <a:off x="444500" y="2857500"/>
            <a:ext cx="8382000" cy="2425700"/>
          </a:xfrm>
          <a:prstGeom prst="rect">
            <a:avLst/>
          </a:prstGeom>
        </p:spPr>
      </p:pic>
      <p:sp>
        <p:nvSpPr>
          <p:cNvPr id="20" name="Panel 20"/>
          <p:cNvSpPr/>
          <p:nvPr/>
        </p:nvSpPr>
        <p:spPr>
          <a:xfrm>
            <a:off x="9296400" y="1384300"/>
            <a:ext cx="8686800" cy="1041400"/>
          </a:xfrm>
          <a:prstGeom prst="rect">
            <a:avLst/>
          </a:prstGeom>
          <a:solidFill>
            <a:srgbClr val="94D9D1"/>
          </a:solidFill>
          <a:ln>
            <a:noFill/>
          </a:ln>
        </p:spPr>
      </p:sp>
      <p:sp>
        <p:nvSpPr>
          <p:cNvPr id="21" name="Panel 21"/>
          <p:cNvSpPr/>
          <p:nvPr/>
        </p:nvSpPr>
        <p:spPr>
          <a:xfrm>
            <a:off x="9321800" y="1409700"/>
            <a:ext cx="8636000" cy="990600"/>
          </a:xfrm>
          <a:prstGeom prst="rect">
            <a:avLst/>
          </a:prstGeom>
          <a:solidFill>
            <a:srgbClr val="D9F5F0"/>
          </a:solidFill>
          <a:ln>
            <a:noFill/>
          </a:ln>
        </p:spPr>
      </p:sp>
      <p:sp>
        <p:nvSpPr>
          <p:cNvPr id="22" name="Panel 22"/>
          <p:cNvSpPr/>
          <p:nvPr/>
        </p:nvSpPr>
        <p:spPr>
          <a:xfrm>
            <a:off x="9423400" y="1473200"/>
            <a:ext cx="63500" cy="228600"/>
          </a:xfrm>
          <a:prstGeom prst="rect">
            <a:avLst/>
          </a:prstGeom>
          <a:solidFill>
            <a:srgbClr val="007E78"/>
          </a:solidFill>
          <a:ln>
            <a:noFill/>
          </a:ln>
        </p:spPr>
      </p:sp>
      <p:sp>
        <p:nvSpPr>
          <p:cNvPr id="23" name="Text 23"/>
          <p:cNvSpPr txBox="1"/>
          <p:nvPr/>
        </p:nvSpPr>
        <p:spPr>
          <a:xfrm>
            <a:off x="9588500" y="1422400"/>
            <a:ext cx="8153400" cy="3073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920"/>
              </a:lnSpc>
            </a:pPr>
            <a:r>
              <a:rPr lang="en-US" sz="1600" b="1">
                <a:solidFill>
                  <a:srgbClr val="007E78"/>
                </a:solidFill>
                <a:latin typeface="Arial"/>
              </a:rPr>
              <a:t xml:space="preserve">Solution</a:t>
            </a:r>
            <a:endParaRPr sz="1600"/>
          </a:p>
        </p:txBody>
      </p:sp>
      <p:sp>
        <p:nvSpPr>
          <p:cNvPr id="24" name="Text 24"/>
          <p:cNvSpPr txBox="1"/>
          <p:nvPr/>
        </p:nvSpPr>
        <p:spPr>
          <a:xfrm>
            <a:off x="9512300" y="1651000"/>
            <a:ext cx="8255000" cy="673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192331"/>
                </a:solidFill>
                <a:latin typeface="Arial"/>
              </a:rPr>
              <a:t xml:space="preserve">• Introduce a proxy that implements the same interface as the real service.</a:t>
            </a:r>
            <a:endParaRPr sz="1000"/>
          </a:p>
          <a:p>
            <a:pPr>
              <a:lnSpc>
                <a:spcPts val="1200"/>
              </a:lnSpc>
            </a:pPr>
            <a:r>
              <a:rPr lang="en-US" sz="1000">
                <a:solidFill>
                  <a:srgbClr val="192331"/>
                </a:solidFill>
                <a:latin typeface="Arial"/>
              </a:rPr>
              <a:t xml:space="preserve">• The proxy controls access, adding lazy init, caching, logging, or access control.</a:t>
            </a:r>
            <a:endParaRPr sz="1000"/>
          </a:p>
          <a:p>
            <a:pPr>
              <a:lnSpc>
                <a:spcPts val="1200"/>
              </a:lnSpc>
            </a:pPr>
            <a:r>
              <a:rPr lang="en-US" sz="1000">
                <a:solidFill>
                  <a:srgbClr val="192331"/>
                </a:solidFill>
                <a:latin typeface="Arial"/>
              </a:rPr>
              <a:t xml:space="preserve">• Client uses the same interface—only the class it instantiates changes.</a:t>
            </a:r>
            <a:endParaRPr sz="1000"/>
          </a:p>
          <a:p>
            <a:pPr>
              <a:lnSpc>
                <a:spcPts val="1200"/>
              </a:lnSpc>
            </a:pPr>
            <a:r>
              <a:rPr lang="en-US" sz="1000">
                <a:solidFill>
                  <a:srgbClr val="192331"/>
                </a:solidFill>
                <a:latin typeface="Arial"/>
              </a:rPr>
              <a:t xml:space="preserve">• Adds: caching, lazy initialization, optional access control and logging.</a:t>
            </a:r>
            <a:endParaRPr sz="1000"/>
          </a:p>
        </p:txBody>
      </p:sp>
      <p:sp>
        <p:nvSpPr>
          <p:cNvPr id="25" name="Panel 25"/>
          <p:cNvSpPr/>
          <p:nvPr/>
        </p:nvSpPr>
        <p:spPr>
          <a:xfrm>
            <a:off x="9296400" y="2501900"/>
            <a:ext cx="8686800" cy="28321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26" name="Panel 26"/>
          <p:cNvSpPr/>
          <p:nvPr/>
        </p:nvSpPr>
        <p:spPr>
          <a:xfrm>
            <a:off x="9321800" y="2527300"/>
            <a:ext cx="8636000" cy="27813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7" name="Panel 27"/>
          <p:cNvSpPr/>
          <p:nvPr/>
        </p:nvSpPr>
        <p:spPr>
          <a:xfrm>
            <a:off x="9321800" y="2527300"/>
            <a:ext cx="8636000" cy="3048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28" name="Text 28"/>
          <p:cNvSpPr txBox="1"/>
          <p:nvPr/>
        </p:nvSpPr>
        <p:spPr>
          <a:xfrm>
            <a:off x="9448800" y="2540000"/>
            <a:ext cx="83820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151B27"/>
                </a:solidFill>
                <a:latin typeface="Arial"/>
              </a:rPr>
              <a:t xml:space="preserve">After (using Proxy)</a:t>
            </a:r>
            <a:endParaRPr sz="1300"/>
          </a:p>
        </p:txBody>
      </p:sp>
      <p:pic>
        <p:nvPicPr>
          <p:cNvPr id="29" name="UML class diagram"/>
          <p:cNvPicPr/>
          <p:nvPr/>
        </p:nvPicPr>
        <p:blipFill>
          <a:blip r:embed="rId3"/>
          <a:stretch>
            <a:fillRect/>
          </a:stretch>
        </p:blipFill>
        <p:spPr>
          <a:xfrm>
            <a:off x="9436100" y="2857500"/>
            <a:ext cx="8382000" cy="2425700"/>
          </a:xfrm>
          <a:prstGeom prst="rect">
            <a:avLst/>
          </a:prstGeom>
        </p:spPr>
      </p:pic>
      <p:sp>
        <p:nvSpPr>
          <p:cNvPr id="30" name="Panel 30"/>
          <p:cNvSpPr/>
          <p:nvPr/>
        </p:nvSpPr>
        <p:spPr>
          <a:xfrm>
            <a:off x="304800" y="5435600"/>
            <a:ext cx="8686800" cy="45212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31" name="Panel 31"/>
          <p:cNvSpPr/>
          <p:nvPr/>
        </p:nvSpPr>
        <p:spPr>
          <a:xfrm>
            <a:off x="330200" y="5461000"/>
            <a:ext cx="8636000" cy="44704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32" name="Panel 32"/>
          <p:cNvSpPr/>
          <p:nvPr/>
        </p:nvSpPr>
        <p:spPr>
          <a:xfrm>
            <a:off x="330200" y="5461000"/>
            <a:ext cx="8636000" cy="3048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33" name="Text 33"/>
          <p:cNvSpPr txBox="1"/>
          <p:nvPr/>
        </p:nvSpPr>
        <p:spPr>
          <a:xfrm>
            <a:off x="457200" y="5473700"/>
            <a:ext cx="6985000" cy="2768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680"/>
              </a:lnSpc>
            </a:pPr>
            <a:r>
              <a:rPr lang="en-US" sz="1400" b="1">
                <a:solidFill>
                  <a:srgbClr val="161D2B"/>
                </a:solidFill>
                <a:latin typeface="Arial"/>
              </a:rPr>
              <a:t xml:space="preserve">Client Code (Before)</a:t>
            </a:r>
            <a:endParaRPr sz="1400"/>
          </a:p>
        </p:txBody>
      </p:sp>
      <p:sp>
        <p:nvSpPr>
          <p:cNvPr id="34" name="Text 34"/>
          <p:cNvSpPr txBox="1"/>
          <p:nvPr/>
        </p:nvSpPr>
        <p:spPr>
          <a:xfrm>
            <a:off x="7594600" y="5511800"/>
            <a:ext cx="1270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000"/>
          </a:p>
        </p:txBody>
      </p:sp>
      <p:sp>
        <p:nvSpPr>
          <p:cNvPr id="35" name="Code 35"/>
          <p:cNvSpPr txBox="1"/>
          <p:nvPr/>
        </p:nvSpPr>
        <p:spPr>
          <a:xfrm>
            <a:off x="482600" y="5791200"/>
            <a:ext cx="8255000" cy="927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700"/>
              </a:lnSpc>
            </a:pPr>
            <a:r>
              <a:rPr lang="en-US" sz="1400">
                <a:solidFill>
                  <a:srgbClr val="18356F"/>
                </a:solidFill>
                <a:latin typeface="Courier New"/>
              </a:rPr>
              <a:t xml:space="preserve">db</a:t>
            </a:r>
            <a:r>
              <a:rPr lang="en-US" sz="14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400">
                <a:solidFill>
                  <a:srgbClr val="4B5563"/>
                </a:solidFill>
                <a:latin typeface="Courier New"/>
              </a:rPr>
              <a:t xml:space="preserve">=</a:t>
            </a:r>
            <a:r>
              <a:rPr lang="en-US" sz="14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400">
                <a:solidFill>
                  <a:srgbClr val="0B57D0"/>
                </a:solidFill>
                <a:latin typeface="Courier New"/>
              </a:rPr>
              <a:t xml:space="preserve">new</a:t>
            </a:r>
            <a:r>
              <a:rPr lang="en-US" sz="14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400">
                <a:solidFill>
                  <a:srgbClr val="0F766E"/>
                </a:solidFill>
                <a:latin typeface="Courier New"/>
              </a:rPr>
              <a:t xml:space="preserve">ExpensiveDatabaseService</a:t>
            </a:r>
            <a:r>
              <a:rPr lang="en-US" sz="14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400">
                <a:solidFill>
                  <a:srgbClr val="4B5563"/>
                </a:solidFill>
                <a:latin typeface="Courier New"/>
              </a:rPr>
              <a:t xml:space="preserve">)</a:t>
            </a:r>
            <a:endParaRPr sz="1400"/>
          </a:p>
          <a:p>
            <a:pPr>
              <a:lnSpc>
                <a:spcPts val="1700"/>
              </a:lnSpc>
            </a:pPr>
            <a:r>
              <a:rPr lang="en-US" sz="1400">
                <a:solidFill>
                  <a:srgbClr val="18356F"/>
                </a:solidFill>
                <a:latin typeface="Courier New"/>
              </a:rPr>
              <a:t xml:space="preserve">r1</a:t>
            </a:r>
            <a:r>
              <a:rPr lang="en-US" sz="14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400">
                <a:solidFill>
                  <a:srgbClr val="4B5563"/>
                </a:solidFill>
                <a:latin typeface="Courier New"/>
              </a:rPr>
              <a:t xml:space="preserve">=</a:t>
            </a:r>
            <a:r>
              <a:rPr lang="en-US" sz="14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400">
                <a:solidFill>
                  <a:srgbClr val="18356F"/>
                </a:solidFill>
                <a:latin typeface="Courier New"/>
              </a:rPr>
              <a:t xml:space="preserve">db</a:t>
            </a:r>
            <a:r>
              <a:rPr lang="en-US" sz="14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400">
                <a:solidFill>
                  <a:srgbClr val="18356F"/>
                </a:solidFill>
                <a:latin typeface="Courier New"/>
              </a:rPr>
              <a:t xml:space="preserve">query</a:t>
            </a:r>
            <a:r>
              <a:rPr lang="en-US" sz="14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400">
                <a:solidFill>
                  <a:srgbClr val="B14747"/>
                </a:solidFill>
                <a:latin typeface="Courier New"/>
              </a:rPr>
              <a:t xml:space="preserve">"users"</a:t>
            </a:r>
            <a:r>
              <a:rPr lang="en-US" sz="1400">
                <a:solidFill>
                  <a:srgbClr val="4B5563"/>
                </a:solidFill>
                <a:latin typeface="Courier New"/>
              </a:rPr>
              <a:t xml:space="preserve">)</a:t>
            </a:r>
            <a:endParaRPr sz="1400"/>
          </a:p>
          <a:p>
            <a:pPr>
              <a:lnSpc>
                <a:spcPts val="1700"/>
              </a:lnSpc>
            </a:pPr>
            <a:r>
              <a:rPr lang="en-US" sz="1400">
                <a:solidFill>
                  <a:srgbClr val="18356F"/>
                </a:solidFill>
                <a:latin typeface="Courier New"/>
              </a:rPr>
              <a:t xml:space="preserve">r2</a:t>
            </a:r>
            <a:r>
              <a:rPr lang="en-US" sz="14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400">
                <a:solidFill>
                  <a:srgbClr val="4B5563"/>
                </a:solidFill>
                <a:latin typeface="Courier New"/>
              </a:rPr>
              <a:t xml:space="preserve">=</a:t>
            </a:r>
            <a:r>
              <a:rPr lang="en-US" sz="14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400">
                <a:solidFill>
                  <a:srgbClr val="18356F"/>
                </a:solidFill>
                <a:latin typeface="Courier New"/>
              </a:rPr>
              <a:t xml:space="preserve">db</a:t>
            </a:r>
            <a:r>
              <a:rPr lang="en-US" sz="14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400">
                <a:solidFill>
                  <a:srgbClr val="18356F"/>
                </a:solidFill>
                <a:latin typeface="Courier New"/>
              </a:rPr>
              <a:t xml:space="preserve">query</a:t>
            </a:r>
            <a:r>
              <a:rPr lang="en-US" sz="14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400">
                <a:solidFill>
                  <a:srgbClr val="B14747"/>
                </a:solidFill>
                <a:latin typeface="Courier New"/>
              </a:rPr>
              <a:t xml:space="preserve">"users"</a:t>
            </a:r>
            <a:r>
              <a:rPr lang="en-US" sz="1400">
                <a:solidFill>
                  <a:srgbClr val="4B5563"/>
                </a:solidFill>
                <a:latin typeface="Courier New"/>
              </a:rPr>
              <a:t xml:space="preserve">)</a:t>
            </a:r>
            <a:endParaRPr sz="1400"/>
          </a:p>
          <a:p>
            <a:pPr>
              <a:lnSpc>
                <a:spcPts val="1700"/>
              </a:lnSpc>
            </a:pPr>
            <a:r>
              <a:rPr lang="en-US" sz="1400">
                <a:solidFill>
                  <a:srgbClr val="64748B"/>
                </a:solidFill>
                <a:latin typeface="Courier New"/>
              </a:rPr>
              <a:t xml:space="preserve">// two "users" results; two expensive hits</a:t>
            </a:r>
            <a:endParaRPr sz="1400"/>
          </a:p>
        </p:txBody>
      </p:sp>
      <p:sp>
        <p:nvSpPr>
          <p:cNvPr id="36" name="Panel 36"/>
          <p:cNvSpPr/>
          <p:nvPr/>
        </p:nvSpPr>
        <p:spPr>
          <a:xfrm>
            <a:off x="9296400" y="5435600"/>
            <a:ext cx="8686800" cy="18034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37" name="Panel 37"/>
          <p:cNvSpPr/>
          <p:nvPr/>
        </p:nvSpPr>
        <p:spPr>
          <a:xfrm>
            <a:off x="9321800" y="5461000"/>
            <a:ext cx="8636000" cy="17526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38" name="Panel 38"/>
          <p:cNvSpPr/>
          <p:nvPr/>
        </p:nvSpPr>
        <p:spPr>
          <a:xfrm>
            <a:off x="9321800" y="5461000"/>
            <a:ext cx="8636000" cy="3048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39" name="Text 39"/>
          <p:cNvSpPr txBox="1"/>
          <p:nvPr/>
        </p:nvSpPr>
        <p:spPr>
          <a:xfrm>
            <a:off x="9448800" y="5473700"/>
            <a:ext cx="6985000" cy="2768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680"/>
              </a:lnSpc>
            </a:pPr>
            <a:r>
              <a:rPr lang="en-US" sz="1400" b="1">
                <a:solidFill>
                  <a:srgbClr val="161D2B"/>
                </a:solidFill>
                <a:latin typeface="Arial"/>
              </a:rPr>
              <a:t xml:space="preserve">Client Code (After)</a:t>
            </a:r>
            <a:endParaRPr sz="1400"/>
          </a:p>
        </p:txBody>
      </p:sp>
      <p:sp>
        <p:nvSpPr>
          <p:cNvPr id="40" name="Text 40"/>
          <p:cNvSpPr txBox="1"/>
          <p:nvPr/>
        </p:nvSpPr>
        <p:spPr>
          <a:xfrm>
            <a:off x="16586200" y="5511800"/>
            <a:ext cx="1270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000"/>
          </a:p>
        </p:txBody>
      </p:sp>
      <p:sp>
        <p:nvSpPr>
          <p:cNvPr id="41" name="Code 41"/>
          <p:cNvSpPr txBox="1"/>
          <p:nvPr/>
        </p:nvSpPr>
        <p:spPr>
          <a:xfrm>
            <a:off x="9474200" y="5791200"/>
            <a:ext cx="8255000" cy="8763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600"/>
              </a:lnSpc>
            </a:pP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db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=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B57D0"/>
                </a:solidFill>
                <a:latin typeface="Courier New"/>
              </a:rPr>
              <a:t xml:space="preserve">new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F766E"/>
                </a:solidFill>
                <a:latin typeface="Courier New"/>
              </a:rPr>
              <a:t xml:space="preserve">DatabaseProxy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r1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=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db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query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B14747"/>
                </a:solidFill>
                <a:latin typeface="Courier New"/>
              </a:rPr>
              <a:t xml:space="preserve">"users"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r2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=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db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query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B14747"/>
                </a:solidFill>
                <a:latin typeface="Courier New"/>
              </a:rPr>
              <a:t xml:space="preserve">"users"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64748B"/>
                </a:solidFill>
                <a:latin typeface="Courier New"/>
              </a:rPr>
              <a:t xml:space="preserve">// same two "users" results; second from cache</a:t>
            </a:r>
            <a:endParaRPr sz="1300"/>
          </a:p>
        </p:txBody>
      </p:sp>
      <p:sp>
        <p:nvSpPr>
          <p:cNvPr id="42" name="Panel 42"/>
          <p:cNvSpPr/>
          <p:nvPr/>
        </p:nvSpPr>
        <p:spPr>
          <a:xfrm>
            <a:off x="9296400" y="7315200"/>
            <a:ext cx="8686800" cy="26416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43" name="Panel 43"/>
          <p:cNvSpPr/>
          <p:nvPr/>
        </p:nvSpPr>
        <p:spPr>
          <a:xfrm>
            <a:off x="9321800" y="7340600"/>
            <a:ext cx="8636000" cy="25908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44" name="Panel 44"/>
          <p:cNvSpPr/>
          <p:nvPr/>
        </p:nvSpPr>
        <p:spPr>
          <a:xfrm>
            <a:off x="9321800" y="7340600"/>
            <a:ext cx="8636000" cy="3048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45" name="Text 45"/>
          <p:cNvSpPr txBox="1"/>
          <p:nvPr/>
        </p:nvSpPr>
        <p:spPr>
          <a:xfrm>
            <a:off x="9448800" y="7366000"/>
            <a:ext cx="6604000" cy="2768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680"/>
              </a:lnSpc>
            </a:pPr>
            <a:r>
              <a:rPr lang="en-US" sz="1400" b="1">
                <a:solidFill>
                  <a:srgbClr val="161D2B"/>
                </a:solidFill>
                <a:latin typeface="Arial"/>
              </a:rPr>
              <a:t xml:space="preserve">Module Code (API boundary)</a:t>
            </a:r>
            <a:endParaRPr sz="1400"/>
          </a:p>
        </p:txBody>
      </p:sp>
      <p:sp>
        <p:nvSpPr>
          <p:cNvPr id="46" name="Text 46"/>
          <p:cNvSpPr txBox="1"/>
          <p:nvPr/>
        </p:nvSpPr>
        <p:spPr>
          <a:xfrm>
            <a:off x="16586200" y="7404100"/>
            <a:ext cx="1270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000"/>
          </a:p>
        </p:txBody>
      </p:sp>
      <p:sp>
        <p:nvSpPr>
          <p:cNvPr id="47" name="Code 47"/>
          <p:cNvSpPr txBox="1"/>
          <p:nvPr/>
        </p:nvSpPr>
        <p:spPr>
          <a:xfrm>
            <a:off x="9474200" y="7670800"/>
            <a:ext cx="8255000" cy="1206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00"/>
              </a:lnSpc>
            </a:pPr>
            <a:r>
              <a:rPr lang="en-US" sz="1200">
                <a:solidFill>
                  <a:srgbClr val="64748B"/>
                </a:solidFill>
                <a:latin typeface="Courier New"/>
              </a:rPr>
              <a:t xml:space="preserve">// MODULE — DatabaseService API for client developers</a:t>
            </a:r>
            <a:endParaRPr sz="1200"/>
          </a:p>
          <a:p>
            <a:pPr>
              <a:lnSpc>
                <a:spcPts val="1500"/>
              </a:lnSpc>
            </a:pPr>
            <a:r>
              <a:rPr lang="en-US" sz="1200">
                <a:solidFill>
                  <a:srgbClr val="64748B"/>
                </a:solidFill>
                <a:latin typeface="Courier New"/>
              </a:rPr>
              <a:t xml:space="preserve">// DatabaseProxy.query(key)</a:t>
            </a:r>
            <a:endParaRPr sz="1200"/>
          </a:p>
          <a:p>
            <a:pPr>
              <a:lnSpc>
                <a:spcPts val="1500"/>
              </a:lnSpc>
            </a:pPr>
            <a:r>
              <a:rPr lang="en-US" sz="1200">
                <a:solidFill>
                  <a:srgbClr val="0B57D0"/>
                </a:solidFill>
                <a:latin typeface="Courier New"/>
              </a:rPr>
              <a:t xml:space="preserve">if</a:t>
            </a:r>
            <a:r>
              <a:rPr lang="en-US" sz="12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200">
                <a:solidFill>
                  <a:srgbClr val="18356F"/>
                </a:solidFill>
                <a:latin typeface="Courier New"/>
              </a:rPr>
              <a:t xml:space="preserve">cache</a:t>
            </a:r>
            <a:r>
              <a:rPr lang="en-US" sz="12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200">
                <a:solidFill>
                  <a:srgbClr val="18356F"/>
                </a:solidFill>
                <a:latin typeface="Courier New"/>
              </a:rPr>
              <a:t xml:space="preserve">contains</a:t>
            </a:r>
            <a:r>
              <a:rPr lang="en-US" sz="12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200">
                <a:solidFill>
                  <a:srgbClr val="18356F"/>
                </a:solidFill>
                <a:latin typeface="Courier New"/>
              </a:rPr>
              <a:t xml:space="preserve">key</a:t>
            </a:r>
            <a:r>
              <a:rPr lang="en-US" sz="1200">
                <a:solidFill>
                  <a:srgbClr val="4B5563"/>
                </a:solidFill>
                <a:latin typeface="Courier New"/>
              </a:rPr>
              <a:t xml:space="preserve">)</a:t>
            </a:r>
            <a:r>
              <a:rPr lang="en-US" sz="1200">
                <a:solidFill>
                  <a:srgbClr val="4B5563"/>
                </a:solidFill>
                <a:latin typeface="Courier New"/>
              </a:rPr>
              <a:t xml:space="preserve">:</a:t>
            </a:r>
            <a:r>
              <a:rPr lang="en-US" sz="12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200">
                <a:solidFill>
                  <a:srgbClr val="0B57D0"/>
                </a:solidFill>
                <a:latin typeface="Courier New"/>
              </a:rPr>
              <a:t xml:space="preserve">return</a:t>
            </a:r>
            <a:r>
              <a:rPr lang="en-US" sz="12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200">
                <a:solidFill>
                  <a:srgbClr val="18356F"/>
                </a:solidFill>
                <a:latin typeface="Courier New"/>
              </a:rPr>
              <a:t xml:space="preserve">cache</a:t>
            </a:r>
            <a:r>
              <a:rPr lang="en-US" sz="1200">
                <a:solidFill>
                  <a:srgbClr val="4B5563"/>
                </a:solidFill>
                <a:latin typeface="Courier New"/>
              </a:rPr>
              <a:t xml:space="preserve">[</a:t>
            </a:r>
            <a:r>
              <a:rPr lang="en-US" sz="1200">
                <a:solidFill>
                  <a:srgbClr val="18356F"/>
                </a:solidFill>
                <a:latin typeface="Courier New"/>
              </a:rPr>
              <a:t xml:space="preserve">key</a:t>
            </a:r>
            <a:r>
              <a:rPr lang="en-US" sz="1200">
                <a:solidFill>
                  <a:srgbClr val="4B5563"/>
                </a:solidFill>
                <a:latin typeface="Courier New"/>
              </a:rPr>
              <a:t xml:space="preserve">]</a:t>
            </a:r>
            <a:endParaRPr sz="1200"/>
          </a:p>
          <a:p>
            <a:pPr>
              <a:lnSpc>
                <a:spcPts val="1500"/>
              </a:lnSpc>
            </a:pPr>
            <a:r>
              <a:rPr lang="en-US" sz="1200">
                <a:solidFill>
                  <a:srgbClr val="0B57D0"/>
                </a:solidFill>
                <a:latin typeface="Courier New"/>
              </a:rPr>
              <a:t xml:space="preserve">if</a:t>
            </a:r>
            <a:r>
              <a:rPr lang="en-US" sz="12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200">
                <a:solidFill>
                  <a:srgbClr val="18356F"/>
                </a:solidFill>
                <a:latin typeface="Courier New"/>
              </a:rPr>
              <a:t xml:space="preserve">realService</a:t>
            </a:r>
            <a:r>
              <a:rPr lang="en-US" sz="12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200">
                <a:solidFill>
                  <a:srgbClr val="4B5563"/>
                </a:solidFill>
                <a:latin typeface="Courier New"/>
              </a:rPr>
              <a:t xml:space="preserve">=</a:t>
            </a:r>
            <a:r>
              <a:rPr lang="en-US" sz="1200">
                <a:solidFill>
                  <a:srgbClr val="4B5563"/>
                </a:solidFill>
                <a:latin typeface="Courier New"/>
              </a:rPr>
              <a:t xml:space="preserve">=</a:t>
            </a:r>
            <a:r>
              <a:rPr lang="en-US" sz="12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200">
                <a:solidFill>
                  <a:srgbClr val="0B57D0"/>
                </a:solidFill>
                <a:latin typeface="Courier New"/>
              </a:rPr>
              <a:t xml:space="preserve">null</a:t>
            </a:r>
            <a:r>
              <a:rPr lang="en-US" sz="1200">
                <a:solidFill>
                  <a:srgbClr val="4B5563"/>
                </a:solidFill>
                <a:latin typeface="Courier New"/>
              </a:rPr>
              <a:t xml:space="preserve">:</a:t>
            </a:r>
            <a:r>
              <a:rPr lang="en-US" sz="12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200">
                <a:solidFill>
                  <a:srgbClr val="18356F"/>
                </a:solidFill>
                <a:latin typeface="Courier New"/>
              </a:rPr>
              <a:t xml:space="preserve">realService</a:t>
            </a:r>
            <a:r>
              <a:rPr lang="en-US" sz="12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200">
                <a:solidFill>
                  <a:srgbClr val="4B5563"/>
                </a:solidFill>
                <a:latin typeface="Courier New"/>
              </a:rPr>
              <a:t xml:space="preserve">=</a:t>
            </a:r>
            <a:r>
              <a:rPr lang="en-US" sz="12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200">
                <a:solidFill>
                  <a:srgbClr val="0B57D0"/>
                </a:solidFill>
                <a:latin typeface="Courier New"/>
              </a:rPr>
              <a:t xml:space="preserve">new</a:t>
            </a:r>
            <a:r>
              <a:rPr lang="en-US" sz="12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200">
                <a:solidFill>
                  <a:srgbClr val="0F766E"/>
                </a:solidFill>
                <a:latin typeface="Courier New"/>
              </a:rPr>
              <a:t xml:space="preserve">RealDatabaseService</a:t>
            </a:r>
            <a:r>
              <a:rPr lang="en-US" sz="12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200">
                <a:solidFill>
                  <a:srgbClr val="4B5563"/>
                </a:solidFill>
                <a:latin typeface="Courier New"/>
              </a:rPr>
              <a:t xml:space="preserve">)</a:t>
            </a:r>
            <a:endParaRPr sz="1200"/>
          </a:p>
          <a:p>
            <a:pPr>
              <a:lnSpc>
                <a:spcPts val="1500"/>
              </a:lnSpc>
            </a:pPr>
            <a:r>
              <a:rPr lang="en-US" sz="1200">
                <a:solidFill>
                  <a:srgbClr val="18356F"/>
                </a:solidFill>
                <a:latin typeface="Courier New"/>
              </a:rPr>
              <a:t xml:space="preserve">result</a:t>
            </a:r>
            <a:r>
              <a:rPr lang="en-US" sz="12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200">
                <a:solidFill>
                  <a:srgbClr val="4B5563"/>
                </a:solidFill>
                <a:latin typeface="Courier New"/>
              </a:rPr>
              <a:t xml:space="preserve">=</a:t>
            </a:r>
            <a:r>
              <a:rPr lang="en-US" sz="12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200">
                <a:solidFill>
                  <a:srgbClr val="18356F"/>
                </a:solidFill>
                <a:latin typeface="Courier New"/>
              </a:rPr>
              <a:t xml:space="preserve">realService</a:t>
            </a:r>
            <a:r>
              <a:rPr lang="en-US" sz="12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200">
                <a:solidFill>
                  <a:srgbClr val="18356F"/>
                </a:solidFill>
                <a:latin typeface="Courier New"/>
              </a:rPr>
              <a:t xml:space="preserve">query</a:t>
            </a:r>
            <a:r>
              <a:rPr lang="en-US" sz="12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200">
                <a:solidFill>
                  <a:srgbClr val="18356F"/>
                </a:solidFill>
                <a:latin typeface="Courier New"/>
              </a:rPr>
              <a:t xml:space="preserve">key</a:t>
            </a:r>
            <a:r>
              <a:rPr lang="en-US" sz="1200">
                <a:solidFill>
                  <a:srgbClr val="4B5563"/>
                </a:solidFill>
                <a:latin typeface="Courier New"/>
              </a:rPr>
              <a:t xml:space="preserve">)</a:t>
            </a:r>
            <a:endParaRPr sz="1200"/>
          </a:p>
          <a:p>
            <a:pPr>
              <a:lnSpc>
                <a:spcPts val="1500"/>
              </a:lnSpc>
            </a:pPr>
            <a:r>
              <a:rPr lang="en-US" sz="1200">
                <a:solidFill>
                  <a:srgbClr val="18356F"/>
                </a:solidFill>
                <a:latin typeface="Courier New"/>
              </a:rPr>
              <a:t xml:space="preserve">cache</a:t>
            </a:r>
            <a:r>
              <a:rPr lang="en-US" sz="1200">
                <a:solidFill>
                  <a:srgbClr val="4B5563"/>
                </a:solidFill>
                <a:latin typeface="Courier New"/>
              </a:rPr>
              <a:t xml:space="preserve">[</a:t>
            </a:r>
            <a:r>
              <a:rPr lang="en-US" sz="1200">
                <a:solidFill>
                  <a:srgbClr val="18356F"/>
                </a:solidFill>
                <a:latin typeface="Courier New"/>
              </a:rPr>
              <a:t xml:space="preserve">key</a:t>
            </a:r>
            <a:r>
              <a:rPr lang="en-US" sz="1200">
                <a:solidFill>
                  <a:srgbClr val="4B5563"/>
                </a:solidFill>
                <a:latin typeface="Courier New"/>
              </a:rPr>
              <a:t xml:space="preserve">]</a:t>
            </a:r>
            <a:r>
              <a:rPr lang="en-US" sz="12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200">
                <a:solidFill>
                  <a:srgbClr val="4B5563"/>
                </a:solidFill>
                <a:latin typeface="Courier New"/>
              </a:rPr>
              <a:t xml:space="preserve">=</a:t>
            </a:r>
            <a:r>
              <a:rPr lang="en-US" sz="12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200">
                <a:solidFill>
                  <a:srgbClr val="18356F"/>
                </a:solidFill>
                <a:latin typeface="Courier New"/>
              </a:rPr>
              <a:t xml:space="preserve">result</a:t>
            </a:r>
            <a:r>
              <a:rPr lang="en-US" sz="1200">
                <a:solidFill>
                  <a:srgbClr val="4B5563"/>
                </a:solidFill>
                <a:latin typeface="Courier New"/>
              </a:rPr>
              <a:t xml:space="preserve">;</a:t>
            </a:r>
            <a:r>
              <a:rPr lang="en-US" sz="12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200">
                <a:solidFill>
                  <a:srgbClr val="0B57D0"/>
                </a:solidFill>
                <a:latin typeface="Courier New"/>
              </a:rPr>
              <a:t xml:space="preserve">return</a:t>
            </a:r>
            <a:r>
              <a:rPr lang="en-US" sz="12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200">
                <a:solidFill>
                  <a:srgbClr val="18356F"/>
                </a:solidFill>
                <a:latin typeface="Courier New"/>
              </a:rPr>
              <a:t xml:space="preserve">result</a:t>
            </a:r>
            <a:endParaRPr sz="1200"/>
          </a:p>
        </p:txBody>
      </p:sp>
      <p:sp>
        <p:nvSpPr>
          <p:cNvPr id="48" name="Text 48"/>
          <p:cNvSpPr txBox="1"/>
          <p:nvPr/>
        </p:nvSpPr>
        <p:spPr>
          <a:xfrm>
            <a:off x="304800" y="10007600"/>
            <a:ext cx="10160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566174"/>
                </a:solidFill>
                <a:latin typeface="Arial"/>
              </a:rPr>
              <a:t xml:space="preserve">Source: https://refactoring.guru/design-patterns/proxy</a:t>
            </a:r>
            <a:endParaRPr sz="1000"/>
          </a:p>
        </p:txBody>
      </p:sp>
      <p:sp>
        <p:nvSpPr>
          <p:cNvPr id="49" name="Text 49"/>
          <p:cNvSpPr txBox="1"/>
          <p:nvPr/>
        </p:nvSpPr>
        <p:spPr>
          <a:xfrm>
            <a:off x="9144000" y="10007600"/>
            <a:ext cx="8890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566174"/>
                </a:solidFill>
                <a:latin typeface="Arial"/>
              </a:rPr>
              <a:t xml:space="preserve">UML: Client box = caller code; hollow triangle = inheritance / realization; dashed open arrow = dependency</a:t>
            </a:r>
            <a:endParaRPr sz="1000"/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 3"/>
          <p:cNvSpPr txBox="1"/>
          <p:nvPr/>
        </p:nvSpPr>
        <p:spPr>
          <a:xfrm>
            <a:off x="304800" y="114300"/>
            <a:ext cx="5842000" cy="7340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5280"/>
              </a:lnSpc>
            </a:pPr>
            <a:r>
              <a:rPr lang="en-US" sz="4400" b="1">
                <a:solidFill>
                  <a:srgbClr val="101319"/>
                </a:solidFill>
                <a:latin typeface="Arial"/>
              </a:rPr>
              <a:t xml:space="preserve">Composite</a:t>
            </a:r>
            <a:endParaRPr sz="4400"/>
          </a:p>
        </p:txBody>
      </p:sp>
      <p:sp>
        <p:nvSpPr>
          <p:cNvPr id="4" name="Panel 4"/>
          <p:cNvSpPr/>
          <p:nvPr/>
        </p:nvSpPr>
        <p:spPr>
          <a:xfrm>
            <a:off x="3496920" y="177800"/>
            <a:ext cx="25400" cy="660400"/>
          </a:xfrm>
          <a:prstGeom prst="rect">
            <a:avLst/>
          </a:prstGeom>
          <a:solidFill>
            <a:srgbClr val="858E9E"/>
          </a:soli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3725520" y="165100"/>
            <a:ext cx="14092580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>
                <a:solidFill>
                  <a:srgbClr val="596273"/>
                </a:solidFill>
                <a:latin typeface="Arial"/>
              </a:rPr>
              <a:t xml:space="preserve">Structural Design Pattern</a:t>
            </a:r>
            <a:endParaRPr sz="1700"/>
          </a:p>
        </p:txBody>
      </p:sp>
      <p:sp>
        <p:nvSpPr>
          <p:cNvPr id="6" name="Text 6"/>
          <p:cNvSpPr txBox="1"/>
          <p:nvPr/>
        </p:nvSpPr>
        <p:spPr>
          <a:xfrm>
            <a:off x="3725520" y="469900"/>
            <a:ext cx="14092580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>
                <a:solidFill>
                  <a:srgbClr val="182230"/>
                </a:solidFill>
                <a:latin typeface="Arial"/>
              </a:rPr>
              <a:t xml:space="preserve">Treat individual objects and recursive groups through one interface.</a:t>
            </a:r>
            <a:endParaRPr sz="1800"/>
          </a:p>
        </p:txBody>
      </p:sp>
      <p:sp>
        <p:nvSpPr>
          <p:cNvPr id="7" name="Panel 7"/>
          <p:cNvSpPr/>
          <p:nvPr/>
        </p:nvSpPr>
        <p:spPr>
          <a:xfrm>
            <a:off x="304800" y="965200"/>
            <a:ext cx="17678400" cy="304800"/>
          </a:xfrm>
          <a:prstGeom prst="rect">
            <a:avLst/>
          </a:prstGeom>
          <a:solidFill>
            <a:srgbClr val="EDF0F6"/>
          </a:solidFill>
          <a:ln>
            <a:noFill/>
          </a:ln>
        </p:spPr>
      </p:sp>
      <p:sp>
        <p:nvSpPr>
          <p:cNvPr id="8" name="Text 8"/>
          <p:cNvSpPr txBox="1"/>
          <p:nvPr/>
        </p:nvSpPr>
        <p:spPr>
          <a:xfrm>
            <a:off x="431800" y="1003300"/>
            <a:ext cx="158750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374151"/>
                </a:solidFill>
                <a:latin typeface="Arial"/>
              </a:rPr>
              <a:t xml:space="preserve">CASE STUDY: Boxes containing products and boxes</a:t>
            </a:r>
            <a:endParaRPr sz="1300"/>
          </a:p>
        </p:txBody>
      </p:sp>
      <p:sp>
        <p:nvSpPr>
          <p:cNvPr id="9" name="Text 9"/>
          <p:cNvSpPr txBox="1"/>
          <p:nvPr/>
        </p:nvSpPr>
        <p:spPr>
          <a:xfrm>
            <a:off x="17018000" y="1003300"/>
            <a:ext cx="9525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374151"/>
                </a:solidFill>
                <a:latin typeface="Arial"/>
              </a:rPr>
              <a:t xml:space="preserve">09 / 14</a:t>
            </a:r>
            <a:endParaRPr sz="1300"/>
          </a:p>
        </p:txBody>
      </p:sp>
      <p:sp>
        <p:nvSpPr>
          <p:cNvPr id="10" name="Panel 10"/>
          <p:cNvSpPr/>
          <p:nvPr/>
        </p:nvSpPr>
        <p:spPr>
          <a:xfrm>
            <a:off x="304800" y="1384300"/>
            <a:ext cx="8686800" cy="660400"/>
          </a:xfrm>
          <a:prstGeom prst="rect">
            <a:avLst/>
          </a:prstGeom>
          <a:solidFill>
            <a:srgbClr val="EFA5AA"/>
          </a:solidFill>
          <a:ln>
            <a:noFill/>
          </a:ln>
        </p:spPr>
      </p:sp>
      <p:sp>
        <p:nvSpPr>
          <p:cNvPr id="11" name="Panel 11"/>
          <p:cNvSpPr/>
          <p:nvPr/>
        </p:nvSpPr>
        <p:spPr>
          <a:xfrm>
            <a:off x="330200" y="1409700"/>
            <a:ext cx="8636000" cy="609600"/>
          </a:xfrm>
          <a:prstGeom prst="rect">
            <a:avLst/>
          </a:prstGeom>
          <a:solidFill>
            <a:srgbClr val="FFE2E3"/>
          </a:solidFill>
          <a:ln>
            <a:noFill/>
          </a:ln>
        </p:spPr>
      </p:sp>
      <p:sp>
        <p:nvSpPr>
          <p:cNvPr id="12" name="Panel 12"/>
          <p:cNvSpPr/>
          <p:nvPr/>
        </p:nvSpPr>
        <p:spPr>
          <a:xfrm>
            <a:off x="431800" y="1473200"/>
            <a:ext cx="63500" cy="228600"/>
          </a:xfrm>
          <a:prstGeom prst="rect">
            <a:avLst/>
          </a:prstGeom>
          <a:solidFill>
            <a:srgbClr val="C5222B"/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596900" y="1422400"/>
            <a:ext cx="8153400" cy="3073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920"/>
              </a:lnSpc>
            </a:pPr>
            <a:r>
              <a:rPr lang="en-US" sz="1600" b="1">
                <a:solidFill>
                  <a:srgbClr val="C5222B"/>
                </a:solidFill>
                <a:latin typeface="Arial"/>
              </a:rPr>
              <a:t xml:space="preserve">Problem</a:t>
            </a:r>
            <a:endParaRPr sz="1600"/>
          </a:p>
        </p:txBody>
      </p:sp>
      <p:sp>
        <p:nvSpPr>
          <p:cNvPr id="14" name="Text 14"/>
          <p:cNvSpPr txBox="1"/>
          <p:nvPr/>
        </p:nvSpPr>
        <p:spPr>
          <a:xfrm>
            <a:off x="520700" y="1600200"/>
            <a:ext cx="8255000" cy="2413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400"/>
              </a:lnSpc>
            </a:pPr>
            <a:r>
              <a:rPr lang="en-US" sz="1200">
                <a:solidFill>
                  <a:srgbClr val="192331"/>
                </a:solidFill>
                <a:latin typeface="Arial"/>
              </a:rPr>
              <a:t xml:space="preserve">Pricing code distinguishes products from nested boxes repeatedly.</a:t>
            </a:r>
            <a:endParaRPr sz="1200"/>
          </a:p>
        </p:txBody>
      </p:sp>
      <p:sp>
        <p:nvSpPr>
          <p:cNvPr id="15" name="Panel 15"/>
          <p:cNvSpPr/>
          <p:nvPr/>
        </p:nvSpPr>
        <p:spPr>
          <a:xfrm>
            <a:off x="304800" y="2120900"/>
            <a:ext cx="8686800" cy="32131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16" name="Panel 16"/>
          <p:cNvSpPr/>
          <p:nvPr/>
        </p:nvSpPr>
        <p:spPr>
          <a:xfrm>
            <a:off x="330200" y="2146300"/>
            <a:ext cx="8636000" cy="31623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7" name="Panel 17"/>
          <p:cNvSpPr/>
          <p:nvPr/>
        </p:nvSpPr>
        <p:spPr>
          <a:xfrm>
            <a:off x="330200" y="2146300"/>
            <a:ext cx="8636000" cy="3048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18" name="Text 18"/>
          <p:cNvSpPr txBox="1"/>
          <p:nvPr/>
        </p:nvSpPr>
        <p:spPr>
          <a:xfrm>
            <a:off x="457200" y="2159000"/>
            <a:ext cx="83820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151B27"/>
                </a:solidFill>
                <a:latin typeface="Arial"/>
              </a:rPr>
              <a:t xml:space="preserve">Before (direct coupling)</a:t>
            </a:r>
            <a:endParaRPr sz="1300"/>
          </a:p>
        </p:txBody>
      </p:sp>
      <p:pic>
        <p:nvPicPr>
          <p:cNvPr id="19" name="UML class diagram"/>
          <p:cNvPicPr/>
          <p:nvPr/>
        </p:nvPicPr>
        <p:blipFill>
          <a:blip r:embed="rId2"/>
          <a:stretch>
            <a:fillRect/>
          </a:stretch>
        </p:blipFill>
        <p:spPr>
          <a:xfrm>
            <a:off x="444500" y="2476500"/>
            <a:ext cx="8382000" cy="2806700"/>
          </a:xfrm>
          <a:prstGeom prst="rect">
            <a:avLst/>
          </a:prstGeom>
        </p:spPr>
      </p:pic>
      <p:sp>
        <p:nvSpPr>
          <p:cNvPr id="20" name="Panel 20"/>
          <p:cNvSpPr/>
          <p:nvPr/>
        </p:nvSpPr>
        <p:spPr>
          <a:xfrm>
            <a:off x="9296400" y="1384300"/>
            <a:ext cx="8686800" cy="660400"/>
          </a:xfrm>
          <a:prstGeom prst="rect">
            <a:avLst/>
          </a:prstGeom>
          <a:solidFill>
            <a:srgbClr val="94D9D1"/>
          </a:solidFill>
          <a:ln>
            <a:noFill/>
          </a:ln>
        </p:spPr>
      </p:sp>
      <p:sp>
        <p:nvSpPr>
          <p:cNvPr id="21" name="Panel 21"/>
          <p:cNvSpPr/>
          <p:nvPr/>
        </p:nvSpPr>
        <p:spPr>
          <a:xfrm>
            <a:off x="9321800" y="1409700"/>
            <a:ext cx="8636000" cy="609600"/>
          </a:xfrm>
          <a:prstGeom prst="rect">
            <a:avLst/>
          </a:prstGeom>
          <a:solidFill>
            <a:srgbClr val="D9F5F0"/>
          </a:solidFill>
          <a:ln>
            <a:noFill/>
          </a:ln>
        </p:spPr>
      </p:sp>
      <p:sp>
        <p:nvSpPr>
          <p:cNvPr id="22" name="Panel 22"/>
          <p:cNvSpPr/>
          <p:nvPr/>
        </p:nvSpPr>
        <p:spPr>
          <a:xfrm>
            <a:off x="9423400" y="1473200"/>
            <a:ext cx="63500" cy="228600"/>
          </a:xfrm>
          <a:prstGeom prst="rect">
            <a:avLst/>
          </a:prstGeom>
          <a:solidFill>
            <a:srgbClr val="007E78"/>
          </a:solidFill>
          <a:ln>
            <a:noFill/>
          </a:ln>
        </p:spPr>
      </p:sp>
      <p:sp>
        <p:nvSpPr>
          <p:cNvPr id="23" name="Text 23"/>
          <p:cNvSpPr txBox="1"/>
          <p:nvPr/>
        </p:nvSpPr>
        <p:spPr>
          <a:xfrm>
            <a:off x="9588500" y="1422400"/>
            <a:ext cx="8153400" cy="3073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920"/>
              </a:lnSpc>
            </a:pPr>
            <a:r>
              <a:rPr lang="en-US" sz="1600" b="1">
                <a:solidFill>
                  <a:srgbClr val="007E78"/>
                </a:solidFill>
                <a:latin typeface="Arial"/>
              </a:rPr>
              <a:t xml:space="preserve">Solution</a:t>
            </a:r>
            <a:endParaRPr sz="1600"/>
          </a:p>
        </p:txBody>
      </p:sp>
      <p:sp>
        <p:nvSpPr>
          <p:cNvPr id="24" name="Text 24"/>
          <p:cNvSpPr txBox="1"/>
          <p:nvPr/>
        </p:nvSpPr>
        <p:spPr>
          <a:xfrm>
            <a:off x="9512300" y="1600200"/>
            <a:ext cx="8255000" cy="2413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400"/>
              </a:lnSpc>
            </a:pPr>
            <a:r>
              <a:rPr lang="en-US" sz="1200">
                <a:solidFill>
                  <a:srgbClr val="192331"/>
                </a:solidFill>
                <a:latin typeface="Arial"/>
              </a:rPr>
              <a:t xml:space="preserve">A box sums child prices; each child follows the same contract.</a:t>
            </a:r>
            <a:endParaRPr sz="1200"/>
          </a:p>
        </p:txBody>
      </p:sp>
      <p:sp>
        <p:nvSpPr>
          <p:cNvPr id="25" name="Panel 25"/>
          <p:cNvSpPr/>
          <p:nvPr/>
        </p:nvSpPr>
        <p:spPr>
          <a:xfrm>
            <a:off x="9296400" y="2120900"/>
            <a:ext cx="8686800" cy="32131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26" name="Panel 26"/>
          <p:cNvSpPr/>
          <p:nvPr/>
        </p:nvSpPr>
        <p:spPr>
          <a:xfrm>
            <a:off x="9321800" y="2146300"/>
            <a:ext cx="8636000" cy="31623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7" name="Panel 27"/>
          <p:cNvSpPr/>
          <p:nvPr/>
        </p:nvSpPr>
        <p:spPr>
          <a:xfrm>
            <a:off x="9321800" y="2146300"/>
            <a:ext cx="8636000" cy="3048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28" name="Text 28"/>
          <p:cNvSpPr txBox="1"/>
          <p:nvPr/>
        </p:nvSpPr>
        <p:spPr>
          <a:xfrm>
            <a:off x="9448800" y="2159000"/>
            <a:ext cx="83820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151B27"/>
                </a:solidFill>
                <a:latin typeface="Arial"/>
              </a:rPr>
              <a:t xml:space="preserve">After (using Composite)</a:t>
            </a:r>
            <a:endParaRPr sz="1300"/>
          </a:p>
        </p:txBody>
      </p:sp>
      <p:pic>
        <p:nvPicPr>
          <p:cNvPr id="29" name="UML class diagram"/>
          <p:cNvPicPr/>
          <p:nvPr/>
        </p:nvPicPr>
        <p:blipFill>
          <a:blip r:embed="rId3"/>
          <a:stretch>
            <a:fillRect/>
          </a:stretch>
        </p:blipFill>
        <p:spPr>
          <a:xfrm>
            <a:off x="9436100" y="2476500"/>
            <a:ext cx="8382000" cy="2806700"/>
          </a:xfrm>
          <a:prstGeom prst="rect">
            <a:avLst/>
          </a:prstGeom>
        </p:spPr>
      </p:pic>
      <p:sp>
        <p:nvSpPr>
          <p:cNvPr id="30" name="Panel 30"/>
          <p:cNvSpPr/>
          <p:nvPr/>
        </p:nvSpPr>
        <p:spPr>
          <a:xfrm>
            <a:off x="304800" y="5435600"/>
            <a:ext cx="8686800" cy="18923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31" name="Panel 31"/>
          <p:cNvSpPr/>
          <p:nvPr/>
        </p:nvSpPr>
        <p:spPr>
          <a:xfrm>
            <a:off x="330200" y="5461000"/>
            <a:ext cx="8636000" cy="18415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32" name="Panel 32"/>
          <p:cNvSpPr/>
          <p:nvPr/>
        </p:nvSpPr>
        <p:spPr>
          <a:xfrm>
            <a:off x="330200" y="5461000"/>
            <a:ext cx="8636000" cy="3048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33" name="Text 33"/>
          <p:cNvSpPr txBox="1"/>
          <p:nvPr/>
        </p:nvSpPr>
        <p:spPr>
          <a:xfrm>
            <a:off x="457200" y="5473700"/>
            <a:ext cx="6985000" cy="2768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680"/>
              </a:lnSpc>
            </a:pPr>
            <a:r>
              <a:rPr lang="en-US" sz="1400" b="1">
                <a:solidFill>
                  <a:srgbClr val="161D2B"/>
                </a:solidFill>
                <a:latin typeface="Arial"/>
              </a:rPr>
              <a:t xml:space="preserve">Client Code (Before)</a:t>
            </a:r>
            <a:endParaRPr sz="1400"/>
          </a:p>
        </p:txBody>
      </p:sp>
      <p:sp>
        <p:nvSpPr>
          <p:cNvPr id="34" name="Text 34"/>
          <p:cNvSpPr txBox="1"/>
          <p:nvPr/>
        </p:nvSpPr>
        <p:spPr>
          <a:xfrm>
            <a:off x="7594600" y="5511800"/>
            <a:ext cx="1270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000"/>
          </a:p>
        </p:txBody>
      </p:sp>
      <p:sp>
        <p:nvSpPr>
          <p:cNvPr id="35" name="Code 35"/>
          <p:cNvSpPr txBox="1"/>
          <p:nvPr/>
        </p:nvSpPr>
        <p:spPr>
          <a:xfrm>
            <a:off x="482600" y="5791200"/>
            <a:ext cx="8255000" cy="1079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600"/>
              </a:lnSpc>
            </a:pP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total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=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9A3412"/>
                </a:solidFill>
                <a:latin typeface="Courier New"/>
              </a:rPr>
              <a:t xml:space="preserve">0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0B57D0"/>
                </a:solidFill>
                <a:latin typeface="Courier New"/>
              </a:rPr>
              <a:t xml:space="preserve">for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item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B57D0"/>
                </a:solidFill>
                <a:latin typeface="Courier New"/>
              </a:rPr>
              <a:t xml:space="preserve">in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order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contents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: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   </a:t>
            </a:r>
            <a:r>
              <a:rPr lang="en-US" sz="1300">
                <a:solidFill>
                  <a:srgbClr val="0B57D0"/>
                </a:solidFill>
                <a:latin typeface="Courier New"/>
              </a:rPr>
              <a:t xml:space="preserve">if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item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is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F766E"/>
                </a:solidFill>
                <a:latin typeface="Courier New"/>
              </a:rPr>
              <a:t xml:space="preserve">Product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: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total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+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=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item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price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   </a:t>
            </a:r>
            <a:r>
              <a:rPr lang="en-US" sz="1300">
                <a:solidFill>
                  <a:srgbClr val="0B57D0"/>
                </a:solidFill>
                <a:latin typeface="Courier New"/>
              </a:rPr>
              <a:t xml:space="preserve">else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: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total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+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=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priceNestedBox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item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64748B"/>
                </a:solidFill>
                <a:latin typeface="Courier New"/>
              </a:rPr>
              <a:t xml:space="preserve">// price of product + nested box</a:t>
            </a:r>
            <a:endParaRPr sz="1300"/>
          </a:p>
        </p:txBody>
      </p:sp>
      <p:sp>
        <p:nvSpPr>
          <p:cNvPr id="36" name="Panel 36"/>
          <p:cNvSpPr/>
          <p:nvPr/>
        </p:nvSpPr>
        <p:spPr>
          <a:xfrm>
            <a:off x="9296400" y="5435600"/>
            <a:ext cx="8686800" cy="18923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37" name="Panel 37"/>
          <p:cNvSpPr/>
          <p:nvPr/>
        </p:nvSpPr>
        <p:spPr>
          <a:xfrm>
            <a:off x="9321800" y="5461000"/>
            <a:ext cx="8636000" cy="18415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38" name="Panel 38"/>
          <p:cNvSpPr/>
          <p:nvPr/>
        </p:nvSpPr>
        <p:spPr>
          <a:xfrm>
            <a:off x="9321800" y="5461000"/>
            <a:ext cx="8636000" cy="3048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39" name="Text 39"/>
          <p:cNvSpPr txBox="1"/>
          <p:nvPr/>
        </p:nvSpPr>
        <p:spPr>
          <a:xfrm>
            <a:off x="9448800" y="5473700"/>
            <a:ext cx="6985000" cy="2768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680"/>
              </a:lnSpc>
            </a:pPr>
            <a:r>
              <a:rPr lang="en-US" sz="1400" b="1">
                <a:solidFill>
                  <a:srgbClr val="161D2B"/>
                </a:solidFill>
                <a:latin typeface="Arial"/>
              </a:rPr>
              <a:t xml:space="preserve">Client Code (After)</a:t>
            </a:r>
            <a:endParaRPr sz="1400"/>
          </a:p>
        </p:txBody>
      </p:sp>
      <p:sp>
        <p:nvSpPr>
          <p:cNvPr id="40" name="Text 40"/>
          <p:cNvSpPr txBox="1"/>
          <p:nvPr/>
        </p:nvSpPr>
        <p:spPr>
          <a:xfrm>
            <a:off x="16586200" y="5511800"/>
            <a:ext cx="1270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000"/>
          </a:p>
        </p:txBody>
      </p:sp>
      <p:sp>
        <p:nvSpPr>
          <p:cNvPr id="41" name="Code 41"/>
          <p:cNvSpPr txBox="1"/>
          <p:nvPr/>
        </p:nvSpPr>
        <p:spPr>
          <a:xfrm>
            <a:off x="9474200" y="5791200"/>
            <a:ext cx="8255000" cy="469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600"/>
              </a:lnSpc>
            </a:pP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total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=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order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getPrice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64748B"/>
                </a:solidFill>
                <a:latin typeface="Courier New"/>
              </a:rPr>
              <a:t xml:space="preserve">// same total; one getPrice() on OrderItem</a:t>
            </a:r>
            <a:endParaRPr sz="1300"/>
          </a:p>
        </p:txBody>
      </p:sp>
      <p:sp>
        <p:nvSpPr>
          <p:cNvPr id="42" name="Panel 42"/>
          <p:cNvSpPr/>
          <p:nvPr/>
        </p:nvSpPr>
        <p:spPr>
          <a:xfrm>
            <a:off x="304800" y="7404100"/>
            <a:ext cx="17678400" cy="25527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43" name="Panel 43"/>
          <p:cNvSpPr/>
          <p:nvPr/>
        </p:nvSpPr>
        <p:spPr>
          <a:xfrm>
            <a:off x="330200" y="7429500"/>
            <a:ext cx="17627600" cy="25019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44" name="Panel 44"/>
          <p:cNvSpPr/>
          <p:nvPr/>
        </p:nvSpPr>
        <p:spPr>
          <a:xfrm>
            <a:off x="330200" y="7429500"/>
            <a:ext cx="17627600" cy="3048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45" name="Text 45"/>
          <p:cNvSpPr txBox="1"/>
          <p:nvPr/>
        </p:nvSpPr>
        <p:spPr>
          <a:xfrm>
            <a:off x="457200" y="7454900"/>
            <a:ext cx="15240000" cy="292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800"/>
              </a:lnSpc>
            </a:pPr>
            <a:r>
              <a:rPr lang="en-US" sz="1500" b="1">
                <a:solidFill>
                  <a:srgbClr val="161D2B"/>
                </a:solidFill>
                <a:latin typeface="Arial"/>
              </a:rPr>
              <a:t xml:space="preserve">Module Code (API boundary)</a:t>
            </a:r>
            <a:endParaRPr sz="1500"/>
          </a:p>
        </p:txBody>
      </p:sp>
      <p:sp>
        <p:nvSpPr>
          <p:cNvPr id="46" name="Text 46"/>
          <p:cNvSpPr txBox="1"/>
          <p:nvPr/>
        </p:nvSpPr>
        <p:spPr>
          <a:xfrm>
            <a:off x="16459200" y="7493000"/>
            <a:ext cx="13335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000"/>
          </a:p>
        </p:txBody>
      </p:sp>
      <p:sp>
        <p:nvSpPr>
          <p:cNvPr id="47" name="Code 47"/>
          <p:cNvSpPr txBox="1"/>
          <p:nvPr/>
        </p:nvSpPr>
        <p:spPr>
          <a:xfrm>
            <a:off x="482600" y="7785100"/>
            <a:ext cx="17322800" cy="12827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600"/>
              </a:lnSpc>
            </a:pPr>
            <a:r>
              <a:rPr lang="en-US" sz="1300">
                <a:solidFill>
                  <a:srgbClr val="64748B"/>
                </a:solidFill>
                <a:latin typeface="Courier New"/>
              </a:rPr>
              <a:t xml:space="preserve">// MODULE — OrderItem API for client developers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64748B"/>
                </a:solidFill>
                <a:latin typeface="Courier New"/>
              </a:rPr>
              <a:t xml:space="preserve">// Box.getPrice()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total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=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9A3412"/>
                </a:solidFill>
                <a:latin typeface="Courier New"/>
              </a:rPr>
              <a:t xml:space="preserve">0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0B57D0"/>
                </a:solidFill>
                <a:latin typeface="Courier New"/>
              </a:rPr>
              <a:t xml:space="preserve">for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child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B57D0"/>
                </a:solidFill>
                <a:latin typeface="Courier New"/>
              </a:rPr>
              <a:t xml:space="preserve">in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children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: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   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total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+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=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child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getPrice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0B57D0"/>
                </a:solidFill>
                <a:latin typeface="Courier New"/>
              </a:rPr>
              <a:t xml:space="preserve">return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total</a:t>
            </a:r>
            <a:endParaRPr sz="1300"/>
          </a:p>
        </p:txBody>
      </p:sp>
      <p:sp>
        <p:nvSpPr>
          <p:cNvPr id="48" name="Text 48"/>
          <p:cNvSpPr txBox="1"/>
          <p:nvPr/>
        </p:nvSpPr>
        <p:spPr>
          <a:xfrm>
            <a:off x="304800" y="10007600"/>
            <a:ext cx="10160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566174"/>
                </a:solidFill>
                <a:latin typeface="Arial"/>
              </a:rPr>
              <a:t xml:space="preserve">Source: https://refactoring.guru/design-patterns/composite</a:t>
            </a:r>
            <a:endParaRPr sz="1000"/>
          </a:p>
        </p:txBody>
      </p:sp>
      <p:sp>
        <p:nvSpPr>
          <p:cNvPr id="49" name="Text 49"/>
          <p:cNvSpPr txBox="1"/>
          <p:nvPr/>
        </p:nvSpPr>
        <p:spPr>
          <a:xfrm>
            <a:off x="9144000" y="10007600"/>
            <a:ext cx="8890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566174"/>
                </a:solidFill>
                <a:latin typeface="Arial"/>
              </a:rPr>
              <a:t xml:space="preserve">UML: Client box = caller code; hollow triangle = inheritance / realization; dashed open arrow = dependency</a:t>
            </a:r>
            <a:endParaRPr sz="1000"/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 3"/>
          <p:cNvSpPr txBox="1"/>
          <p:nvPr/>
        </p:nvSpPr>
        <p:spPr>
          <a:xfrm>
            <a:off x="304800" y="114300"/>
            <a:ext cx="5842000" cy="6578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4680"/>
              </a:lnSpc>
            </a:pPr>
            <a:r>
              <a:rPr lang="en-US" sz="3900" b="1">
                <a:solidFill>
                  <a:srgbClr val="101319"/>
                </a:solidFill>
                <a:latin typeface="Arial"/>
              </a:rPr>
              <a:t xml:space="preserve">Template Method</a:t>
            </a:r>
            <a:endParaRPr sz="3900"/>
          </a:p>
        </p:txBody>
      </p:sp>
      <p:sp>
        <p:nvSpPr>
          <p:cNvPr id="4" name="Panel 4"/>
          <p:cNvSpPr/>
          <p:nvPr/>
        </p:nvSpPr>
        <p:spPr>
          <a:xfrm>
            <a:off x="4682452" y="177800"/>
            <a:ext cx="25400" cy="660400"/>
          </a:xfrm>
          <a:prstGeom prst="rect">
            <a:avLst/>
          </a:prstGeom>
          <a:solidFill>
            <a:srgbClr val="858E9E"/>
          </a:soli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4911052" y="165100"/>
            <a:ext cx="12907048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>
                <a:solidFill>
                  <a:srgbClr val="596273"/>
                </a:solidFill>
                <a:latin typeface="Arial"/>
              </a:rPr>
              <a:t xml:space="preserve">Behavioral Design Pattern</a:t>
            </a:r>
            <a:endParaRPr sz="1700"/>
          </a:p>
        </p:txBody>
      </p:sp>
      <p:sp>
        <p:nvSpPr>
          <p:cNvPr id="6" name="Text 6"/>
          <p:cNvSpPr txBox="1"/>
          <p:nvPr/>
        </p:nvSpPr>
        <p:spPr>
          <a:xfrm>
            <a:off x="4911052" y="469900"/>
            <a:ext cx="12907048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>
                <a:solidFill>
                  <a:srgbClr val="182230"/>
                </a:solidFill>
                <a:latin typeface="Arial"/>
              </a:rPr>
              <a:t xml:space="preserve">Fix an algorithm’s order while subclasses implement selected steps.</a:t>
            </a:r>
            <a:endParaRPr sz="1800"/>
          </a:p>
        </p:txBody>
      </p:sp>
      <p:sp>
        <p:nvSpPr>
          <p:cNvPr id="7" name="Panel 7"/>
          <p:cNvSpPr/>
          <p:nvPr/>
        </p:nvSpPr>
        <p:spPr>
          <a:xfrm>
            <a:off x="304800" y="965200"/>
            <a:ext cx="17678400" cy="304800"/>
          </a:xfrm>
          <a:prstGeom prst="rect">
            <a:avLst/>
          </a:prstGeom>
          <a:solidFill>
            <a:srgbClr val="EDF0F6"/>
          </a:solidFill>
          <a:ln>
            <a:noFill/>
          </a:ln>
        </p:spPr>
      </p:sp>
      <p:sp>
        <p:nvSpPr>
          <p:cNvPr id="8" name="Text 8"/>
          <p:cNvSpPr txBox="1"/>
          <p:nvPr/>
        </p:nvSpPr>
        <p:spPr>
          <a:xfrm>
            <a:off x="431800" y="1003300"/>
            <a:ext cx="158750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374151"/>
                </a:solidFill>
                <a:latin typeface="Arial"/>
              </a:rPr>
              <a:t xml:space="preserve">CASE STUDY: Mining PDF and CSV documents</a:t>
            </a:r>
            <a:endParaRPr sz="1300"/>
          </a:p>
        </p:txBody>
      </p:sp>
      <p:sp>
        <p:nvSpPr>
          <p:cNvPr id="9" name="Text 9"/>
          <p:cNvSpPr txBox="1"/>
          <p:nvPr/>
        </p:nvSpPr>
        <p:spPr>
          <a:xfrm>
            <a:off x="17018000" y="1003300"/>
            <a:ext cx="9525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374151"/>
                </a:solidFill>
                <a:latin typeface="Arial"/>
              </a:rPr>
              <a:t xml:space="preserve">10 / 14</a:t>
            </a:r>
            <a:endParaRPr sz="1300"/>
          </a:p>
        </p:txBody>
      </p:sp>
      <p:sp>
        <p:nvSpPr>
          <p:cNvPr id="10" name="Panel 10"/>
          <p:cNvSpPr/>
          <p:nvPr/>
        </p:nvSpPr>
        <p:spPr>
          <a:xfrm>
            <a:off x="304800" y="1384300"/>
            <a:ext cx="8686800" cy="660400"/>
          </a:xfrm>
          <a:prstGeom prst="rect">
            <a:avLst/>
          </a:prstGeom>
          <a:solidFill>
            <a:srgbClr val="EFA5AA"/>
          </a:solidFill>
          <a:ln>
            <a:noFill/>
          </a:ln>
        </p:spPr>
      </p:sp>
      <p:sp>
        <p:nvSpPr>
          <p:cNvPr id="11" name="Panel 11"/>
          <p:cNvSpPr/>
          <p:nvPr/>
        </p:nvSpPr>
        <p:spPr>
          <a:xfrm>
            <a:off x="330200" y="1409700"/>
            <a:ext cx="8636000" cy="609600"/>
          </a:xfrm>
          <a:prstGeom prst="rect">
            <a:avLst/>
          </a:prstGeom>
          <a:solidFill>
            <a:srgbClr val="FFE2E3"/>
          </a:solidFill>
          <a:ln>
            <a:noFill/>
          </a:ln>
        </p:spPr>
      </p:sp>
      <p:sp>
        <p:nvSpPr>
          <p:cNvPr id="12" name="Panel 12"/>
          <p:cNvSpPr/>
          <p:nvPr/>
        </p:nvSpPr>
        <p:spPr>
          <a:xfrm>
            <a:off x="431800" y="1473200"/>
            <a:ext cx="63500" cy="228600"/>
          </a:xfrm>
          <a:prstGeom prst="rect">
            <a:avLst/>
          </a:prstGeom>
          <a:solidFill>
            <a:srgbClr val="C5222B"/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596900" y="1422400"/>
            <a:ext cx="8153400" cy="3073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920"/>
              </a:lnSpc>
            </a:pPr>
            <a:r>
              <a:rPr lang="en-US" sz="1600" b="1">
                <a:solidFill>
                  <a:srgbClr val="C5222B"/>
                </a:solidFill>
                <a:latin typeface="Arial"/>
              </a:rPr>
              <a:t xml:space="preserve">Problem</a:t>
            </a:r>
            <a:endParaRPr sz="1600"/>
          </a:p>
        </p:txBody>
      </p:sp>
      <p:sp>
        <p:nvSpPr>
          <p:cNvPr id="14" name="Text 14"/>
          <p:cNvSpPr txBox="1"/>
          <p:nvPr/>
        </p:nvSpPr>
        <p:spPr>
          <a:xfrm>
            <a:off x="520700" y="1600200"/>
            <a:ext cx="8255000" cy="2413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400"/>
              </a:lnSpc>
            </a:pPr>
            <a:r>
              <a:rPr lang="en-US" sz="1200">
                <a:solidFill>
                  <a:srgbClr val="192331"/>
                </a:solidFill>
                <a:latin typeface="Arial"/>
              </a:rPr>
              <a:t xml:space="preserve">Format-specific miners duplicate the processing and reporting pipeline.</a:t>
            </a:r>
            <a:endParaRPr sz="1200"/>
          </a:p>
        </p:txBody>
      </p:sp>
      <p:sp>
        <p:nvSpPr>
          <p:cNvPr id="15" name="Panel 15"/>
          <p:cNvSpPr/>
          <p:nvPr/>
        </p:nvSpPr>
        <p:spPr>
          <a:xfrm>
            <a:off x="304800" y="2120900"/>
            <a:ext cx="8686800" cy="32131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16" name="Panel 16"/>
          <p:cNvSpPr/>
          <p:nvPr/>
        </p:nvSpPr>
        <p:spPr>
          <a:xfrm>
            <a:off x="330200" y="2146300"/>
            <a:ext cx="8636000" cy="31623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7" name="Panel 17"/>
          <p:cNvSpPr/>
          <p:nvPr/>
        </p:nvSpPr>
        <p:spPr>
          <a:xfrm>
            <a:off x="330200" y="2146300"/>
            <a:ext cx="8636000" cy="3048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18" name="Text 18"/>
          <p:cNvSpPr txBox="1"/>
          <p:nvPr/>
        </p:nvSpPr>
        <p:spPr>
          <a:xfrm>
            <a:off x="457200" y="2159000"/>
            <a:ext cx="83820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151B27"/>
                </a:solidFill>
                <a:latin typeface="Arial"/>
              </a:rPr>
              <a:t xml:space="preserve">Before (direct coupling)</a:t>
            </a:r>
            <a:endParaRPr sz="1300"/>
          </a:p>
        </p:txBody>
      </p:sp>
      <p:pic>
        <p:nvPicPr>
          <p:cNvPr id="19" name="UML class diagram"/>
          <p:cNvPicPr/>
          <p:nvPr/>
        </p:nvPicPr>
        <p:blipFill>
          <a:blip r:embed="rId2"/>
          <a:stretch>
            <a:fillRect/>
          </a:stretch>
        </p:blipFill>
        <p:spPr>
          <a:xfrm>
            <a:off x="444500" y="2476500"/>
            <a:ext cx="8382000" cy="2806700"/>
          </a:xfrm>
          <a:prstGeom prst="rect">
            <a:avLst/>
          </a:prstGeom>
        </p:spPr>
      </p:pic>
      <p:sp>
        <p:nvSpPr>
          <p:cNvPr id="20" name="Panel 20"/>
          <p:cNvSpPr/>
          <p:nvPr/>
        </p:nvSpPr>
        <p:spPr>
          <a:xfrm>
            <a:off x="9296400" y="1384300"/>
            <a:ext cx="8686800" cy="660400"/>
          </a:xfrm>
          <a:prstGeom prst="rect">
            <a:avLst/>
          </a:prstGeom>
          <a:solidFill>
            <a:srgbClr val="94D9D1"/>
          </a:solidFill>
          <a:ln>
            <a:noFill/>
          </a:ln>
        </p:spPr>
      </p:sp>
      <p:sp>
        <p:nvSpPr>
          <p:cNvPr id="21" name="Panel 21"/>
          <p:cNvSpPr/>
          <p:nvPr/>
        </p:nvSpPr>
        <p:spPr>
          <a:xfrm>
            <a:off x="9321800" y="1409700"/>
            <a:ext cx="8636000" cy="609600"/>
          </a:xfrm>
          <a:prstGeom prst="rect">
            <a:avLst/>
          </a:prstGeom>
          <a:solidFill>
            <a:srgbClr val="D9F5F0"/>
          </a:solidFill>
          <a:ln>
            <a:noFill/>
          </a:ln>
        </p:spPr>
      </p:sp>
      <p:sp>
        <p:nvSpPr>
          <p:cNvPr id="22" name="Panel 22"/>
          <p:cNvSpPr/>
          <p:nvPr/>
        </p:nvSpPr>
        <p:spPr>
          <a:xfrm>
            <a:off x="9423400" y="1473200"/>
            <a:ext cx="63500" cy="228600"/>
          </a:xfrm>
          <a:prstGeom prst="rect">
            <a:avLst/>
          </a:prstGeom>
          <a:solidFill>
            <a:srgbClr val="007E78"/>
          </a:solidFill>
          <a:ln>
            <a:noFill/>
          </a:ln>
        </p:spPr>
      </p:sp>
      <p:sp>
        <p:nvSpPr>
          <p:cNvPr id="23" name="Text 23"/>
          <p:cNvSpPr txBox="1"/>
          <p:nvPr/>
        </p:nvSpPr>
        <p:spPr>
          <a:xfrm>
            <a:off x="9588500" y="1422400"/>
            <a:ext cx="8153400" cy="3073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920"/>
              </a:lnSpc>
            </a:pPr>
            <a:r>
              <a:rPr lang="en-US" sz="1600" b="1">
                <a:solidFill>
                  <a:srgbClr val="007E78"/>
                </a:solidFill>
                <a:latin typeface="Arial"/>
              </a:rPr>
              <a:t xml:space="preserve">Solution</a:t>
            </a:r>
            <a:endParaRPr sz="1600"/>
          </a:p>
        </p:txBody>
      </p:sp>
      <p:sp>
        <p:nvSpPr>
          <p:cNvPr id="24" name="Text 24"/>
          <p:cNvSpPr txBox="1"/>
          <p:nvPr/>
        </p:nvSpPr>
        <p:spPr>
          <a:xfrm>
            <a:off x="9512300" y="1600200"/>
            <a:ext cx="8255000" cy="2413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400"/>
              </a:lnSpc>
            </a:pPr>
            <a:r>
              <a:rPr lang="en-US" sz="1200">
                <a:solidFill>
                  <a:srgbClr val="192331"/>
                </a:solidFill>
                <a:latin typeface="Arial"/>
              </a:rPr>
              <a:t xml:space="preserve">Move the sequence into a base method; override extraction only.</a:t>
            </a:r>
            <a:endParaRPr sz="1200"/>
          </a:p>
        </p:txBody>
      </p:sp>
      <p:sp>
        <p:nvSpPr>
          <p:cNvPr id="25" name="Panel 25"/>
          <p:cNvSpPr/>
          <p:nvPr/>
        </p:nvSpPr>
        <p:spPr>
          <a:xfrm>
            <a:off x="9296400" y="2120900"/>
            <a:ext cx="8686800" cy="32131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26" name="Panel 26"/>
          <p:cNvSpPr/>
          <p:nvPr/>
        </p:nvSpPr>
        <p:spPr>
          <a:xfrm>
            <a:off x="9321800" y="2146300"/>
            <a:ext cx="8636000" cy="31623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7" name="Panel 27"/>
          <p:cNvSpPr/>
          <p:nvPr/>
        </p:nvSpPr>
        <p:spPr>
          <a:xfrm>
            <a:off x="9321800" y="2146300"/>
            <a:ext cx="8636000" cy="3048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28" name="Text 28"/>
          <p:cNvSpPr txBox="1"/>
          <p:nvPr/>
        </p:nvSpPr>
        <p:spPr>
          <a:xfrm>
            <a:off x="9448800" y="2159000"/>
            <a:ext cx="83820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151B27"/>
                </a:solidFill>
                <a:latin typeface="Arial"/>
              </a:rPr>
              <a:t xml:space="preserve">After (using Template Method)</a:t>
            </a:r>
            <a:endParaRPr sz="1300"/>
          </a:p>
        </p:txBody>
      </p:sp>
      <p:pic>
        <p:nvPicPr>
          <p:cNvPr id="29" name="UML class diagram"/>
          <p:cNvPicPr/>
          <p:nvPr/>
        </p:nvPicPr>
        <p:blipFill>
          <a:blip r:embed="rId3"/>
          <a:stretch>
            <a:fillRect/>
          </a:stretch>
        </p:blipFill>
        <p:spPr>
          <a:xfrm>
            <a:off x="9436100" y="2476500"/>
            <a:ext cx="8382000" cy="2806700"/>
          </a:xfrm>
          <a:prstGeom prst="rect">
            <a:avLst/>
          </a:prstGeom>
        </p:spPr>
      </p:pic>
      <p:sp>
        <p:nvSpPr>
          <p:cNvPr id="30" name="Panel 30"/>
          <p:cNvSpPr/>
          <p:nvPr/>
        </p:nvSpPr>
        <p:spPr>
          <a:xfrm>
            <a:off x="304800" y="5435600"/>
            <a:ext cx="8686800" cy="18923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31" name="Panel 31"/>
          <p:cNvSpPr/>
          <p:nvPr/>
        </p:nvSpPr>
        <p:spPr>
          <a:xfrm>
            <a:off x="330200" y="5461000"/>
            <a:ext cx="8636000" cy="18415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32" name="Panel 32"/>
          <p:cNvSpPr/>
          <p:nvPr/>
        </p:nvSpPr>
        <p:spPr>
          <a:xfrm>
            <a:off x="330200" y="5461000"/>
            <a:ext cx="8636000" cy="3048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33" name="Text 33"/>
          <p:cNvSpPr txBox="1"/>
          <p:nvPr/>
        </p:nvSpPr>
        <p:spPr>
          <a:xfrm>
            <a:off x="457200" y="5473700"/>
            <a:ext cx="6985000" cy="2768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680"/>
              </a:lnSpc>
            </a:pPr>
            <a:r>
              <a:rPr lang="en-US" sz="1400" b="1">
                <a:solidFill>
                  <a:srgbClr val="161D2B"/>
                </a:solidFill>
                <a:latin typeface="Arial"/>
              </a:rPr>
              <a:t xml:space="preserve">Client Code (Before)</a:t>
            </a:r>
            <a:endParaRPr sz="1400"/>
          </a:p>
        </p:txBody>
      </p:sp>
      <p:sp>
        <p:nvSpPr>
          <p:cNvPr id="34" name="Text 34"/>
          <p:cNvSpPr txBox="1"/>
          <p:nvPr/>
        </p:nvSpPr>
        <p:spPr>
          <a:xfrm>
            <a:off x="7594600" y="5511800"/>
            <a:ext cx="1270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000"/>
          </a:p>
        </p:txBody>
      </p:sp>
      <p:sp>
        <p:nvSpPr>
          <p:cNvPr id="35" name="Code 35"/>
          <p:cNvSpPr txBox="1"/>
          <p:nvPr/>
        </p:nvSpPr>
        <p:spPr>
          <a:xfrm>
            <a:off x="482600" y="5791200"/>
            <a:ext cx="8255000" cy="673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600"/>
              </a:lnSpc>
            </a:pP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pdfReport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=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analyze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pdf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extract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pdfPath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csvReport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=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analyze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csv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extract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csvPath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64748B"/>
                </a:solidFill>
                <a:latin typeface="Courier New"/>
              </a:rPr>
              <a:t xml:space="preserve">// two reports; client repeats extract+analyze</a:t>
            </a:r>
            <a:endParaRPr sz="1300"/>
          </a:p>
        </p:txBody>
      </p:sp>
      <p:sp>
        <p:nvSpPr>
          <p:cNvPr id="36" name="Panel 36"/>
          <p:cNvSpPr/>
          <p:nvPr/>
        </p:nvSpPr>
        <p:spPr>
          <a:xfrm>
            <a:off x="9296400" y="5435600"/>
            <a:ext cx="8686800" cy="18923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37" name="Panel 37"/>
          <p:cNvSpPr/>
          <p:nvPr/>
        </p:nvSpPr>
        <p:spPr>
          <a:xfrm>
            <a:off x="9321800" y="5461000"/>
            <a:ext cx="8636000" cy="18415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38" name="Panel 38"/>
          <p:cNvSpPr/>
          <p:nvPr/>
        </p:nvSpPr>
        <p:spPr>
          <a:xfrm>
            <a:off x="9321800" y="5461000"/>
            <a:ext cx="8636000" cy="3048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39" name="Text 39"/>
          <p:cNvSpPr txBox="1"/>
          <p:nvPr/>
        </p:nvSpPr>
        <p:spPr>
          <a:xfrm>
            <a:off x="9448800" y="5473700"/>
            <a:ext cx="6985000" cy="2768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680"/>
              </a:lnSpc>
            </a:pPr>
            <a:r>
              <a:rPr lang="en-US" sz="1400" b="1">
                <a:solidFill>
                  <a:srgbClr val="161D2B"/>
                </a:solidFill>
                <a:latin typeface="Arial"/>
              </a:rPr>
              <a:t xml:space="preserve">Client Code (After)</a:t>
            </a:r>
            <a:endParaRPr sz="1400"/>
          </a:p>
        </p:txBody>
      </p:sp>
      <p:sp>
        <p:nvSpPr>
          <p:cNvPr id="40" name="Text 40"/>
          <p:cNvSpPr txBox="1"/>
          <p:nvPr/>
        </p:nvSpPr>
        <p:spPr>
          <a:xfrm>
            <a:off x="16586200" y="5511800"/>
            <a:ext cx="1270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000"/>
          </a:p>
        </p:txBody>
      </p:sp>
      <p:sp>
        <p:nvSpPr>
          <p:cNvPr id="41" name="Code 41"/>
          <p:cNvSpPr txBox="1"/>
          <p:nvPr/>
        </p:nvSpPr>
        <p:spPr>
          <a:xfrm>
            <a:off x="9474200" y="5791200"/>
            <a:ext cx="8255000" cy="8763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600"/>
              </a:lnSpc>
            </a:pP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miners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=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[</a:t>
            </a:r>
            <a:r>
              <a:rPr lang="en-US" sz="1300">
                <a:solidFill>
                  <a:srgbClr val="0B57D0"/>
                </a:solidFill>
                <a:latin typeface="Courier New"/>
              </a:rPr>
              <a:t xml:space="preserve">new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F766E"/>
                </a:solidFill>
                <a:latin typeface="Courier New"/>
              </a:rPr>
              <a:t xml:space="preserve">PdfMiner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,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B57D0"/>
                </a:solidFill>
                <a:latin typeface="Courier New"/>
              </a:rPr>
              <a:t xml:space="preserve">new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F766E"/>
                </a:solidFill>
                <a:latin typeface="Courier New"/>
              </a:rPr>
              <a:t xml:space="preserve">CsvMiner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]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reports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=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[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]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0B57D0"/>
                </a:solidFill>
                <a:latin typeface="Courier New"/>
              </a:rPr>
              <a:t xml:space="preserve">for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m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B57D0"/>
                </a:solidFill>
                <a:latin typeface="Courier New"/>
              </a:rPr>
              <a:t xml:space="preserve">in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miners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: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reports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add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m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mine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pathFor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m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64748B"/>
                </a:solidFill>
                <a:latin typeface="Courier New"/>
              </a:rPr>
              <a:t xml:space="preserve">// same two reports; one mine() pipeline each</a:t>
            </a:r>
            <a:endParaRPr sz="1300"/>
          </a:p>
        </p:txBody>
      </p:sp>
      <p:sp>
        <p:nvSpPr>
          <p:cNvPr id="42" name="Panel 42"/>
          <p:cNvSpPr/>
          <p:nvPr/>
        </p:nvSpPr>
        <p:spPr>
          <a:xfrm>
            <a:off x="304800" y="7404100"/>
            <a:ext cx="17678400" cy="25527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43" name="Panel 43"/>
          <p:cNvSpPr/>
          <p:nvPr/>
        </p:nvSpPr>
        <p:spPr>
          <a:xfrm>
            <a:off x="330200" y="7429500"/>
            <a:ext cx="17627600" cy="25019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44" name="Panel 44"/>
          <p:cNvSpPr/>
          <p:nvPr/>
        </p:nvSpPr>
        <p:spPr>
          <a:xfrm>
            <a:off x="330200" y="7429500"/>
            <a:ext cx="17627600" cy="3048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45" name="Text 45"/>
          <p:cNvSpPr txBox="1"/>
          <p:nvPr/>
        </p:nvSpPr>
        <p:spPr>
          <a:xfrm>
            <a:off x="457200" y="7454900"/>
            <a:ext cx="15240000" cy="292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800"/>
              </a:lnSpc>
            </a:pPr>
            <a:r>
              <a:rPr lang="en-US" sz="1500" b="1">
                <a:solidFill>
                  <a:srgbClr val="161D2B"/>
                </a:solidFill>
                <a:latin typeface="Arial"/>
              </a:rPr>
              <a:t xml:space="preserve">Module Code (API boundary)</a:t>
            </a:r>
            <a:endParaRPr sz="1500"/>
          </a:p>
        </p:txBody>
      </p:sp>
      <p:sp>
        <p:nvSpPr>
          <p:cNvPr id="46" name="Text 46"/>
          <p:cNvSpPr txBox="1"/>
          <p:nvPr/>
        </p:nvSpPr>
        <p:spPr>
          <a:xfrm>
            <a:off x="16459200" y="7493000"/>
            <a:ext cx="13335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000"/>
          </a:p>
        </p:txBody>
      </p:sp>
      <p:sp>
        <p:nvSpPr>
          <p:cNvPr id="47" name="Code 47"/>
          <p:cNvSpPr txBox="1"/>
          <p:nvPr/>
        </p:nvSpPr>
        <p:spPr>
          <a:xfrm>
            <a:off x="482600" y="7785100"/>
            <a:ext cx="17322800" cy="1079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600"/>
              </a:lnSpc>
            </a:pPr>
            <a:r>
              <a:rPr lang="en-US" sz="1300">
                <a:solidFill>
                  <a:srgbClr val="64748B"/>
                </a:solidFill>
                <a:latin typeface="Courier New"/>
              </a:rPr>
              <a:t xml:space="preserve">// MODULE — DataMiner.mine API for client developers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64748B"/>
                </a:solidFill>
                <a:latin typeface="Courier New"/>
              </a:rPr>
              <a:t xml:space="preserve">// DataMiner.mine(path): fixed sequence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data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=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extract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path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0B57D0"/>
                </a:solidFill>
                <a:latin typeface="Courier New"/>
              </a:rPr>
              <a:t xml:space="preserve">return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analyze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data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64748B"/>
                </a:solidFill>
                <a:latin typeface="Courier New"/>
              </a:rPr>
              <a:t xml:space="preserve">// PdfMiner.extract(path): return parsePdf(path)</a:t>
            </a:r>
            <a:endParaRPr sz="1300"/>
          </a:p>
        </p:txBody>
      </p:sp>
      <p:sp>
        <p:nvSpPr>
          <p:cNvPr id="48" name="Text 48"/>
          <p:cNvSpPr txBox="1"/>
          <p:nvPr/>
        </p:nvSpPr>
        <p:spPr>
          <a:xfrm>
            <a:off x="304800" y="10007600"/>
            <a:ext cx="10160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566174"/>
                </a:solidFill>
                <a:latin typeface="Arial"/>
              </a:rPr>
              <a:t xml:space="preserve">Source: https://refactoring.guru/design-patterns/template-method</a:t>
            </a:r>
            <a:endParaRPr sz="1000"/>
          </a:p>
        </p:txBody>
      </p:sp>
      <p:sp>
        <p:nvSpPr>
          <p:cNvPr id="49" name="Text 49"/>
          <p:cNvSpPr txBox="1"/>
          <p:nvPr/>
        </p:nvSpPr>
        <p:spPr>
          <a:xfrm>
            <a:off x="9144000" y="10007600"/>
            <a:ext cx="8890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566174"/>
                </a:solidFill>
                <a:latin typeface="Arial"/>
              </a:rPr>
              <a:t xml:space="preserve">UML: Client box = caller code; hollow triangle = inheritance / realization; dashed open arrow = dependency</a:t>
            </a:r>
            <a:endParaRPr sz="1000"/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 3"/>
          <p:cNvSpPr txBox="1"/>
          <p:nvPr/>
        </p:nvSpPr>
        <p:spPr>
          <a:xfrm>
            <a:off x="304800" y="114300"/>
            <a:ext cx="5842000" cy="7340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5280"/>
              </a:lnSpc>
            </a:pPr>
            <a:r>
              <a:rPr lang="en-US" sz="4400" b="1">
                <a:solidFill>
                  <a:srgbClr val="101319"/>
                </a:solidFill>
                <a:latin typeface="Arial"/>
              </a:rPr>
              <a:t xml:space="preserve">Strategy</a:t>
            </a:r>
            <a:endParaRPr sz="4400"/>
          </a:p>
        </p:txBody>
      </p:sp>
      <p:sp>
        <p:nvSpPr>
          <p:cNvPr id="4" name="Panel 4"/>
          <p:cNvSpPr/>
          <p:nvPr/>
        </p:nvSpPr>
        <p:spPr>
          <a:xfrm>
            <a:off x="2845359" y="177800"/>
            <a:ext cx="25400" cy="660400"/>
          </a:xfrm>
          <a:prstGeom prst="rect">
            <a:avLst/>
          </a:prstGeom>
          <a:solidFill>
            <a:srgbClr val="858E9E"/>
          </a:soli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3073959" y="165100"/>
            <a:ext cx="14744141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>
                <a:solidFill>
                  <a:srgbClr val="596273"/>
                </a:solidFill>
                <a:latin typeface="Arial"/>
              </a:rPr>
              <a:t xml:space="preserve">Behavioral Design Pattern</a:t>
            </a:r>
            <a:endParaRPr sz="1700"/>
          </a:p>
        </p:txBody>
      </p:sp>
      <p:sp>
        <p:nvSpPr>
          <p:cNvPr id="6" name="Text 6"/>
          <p:cNvSpPr txBox="1"/>
          <p:nvPr/>
        </p:nvSpPr>
        <p:spPr>
          <a:xfrm>
            <a:off x="3073959" y="469900"/>
            <a:ext cx="14744141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>
                <a:solidFill>
                  <a:srgbClr val="182230"/>
                </a:solidFill>
                <a:latin typeface="Arial"/>
              </a:rPr>
              <a:t xml:space="preserve">Make alternative algorithms interchangeable through a shared contract.</a:t>
            </a:r>
            <a:endParaRPr sz="1800"/>
          </a:p>
        </p:txBody>
      </p:sp>
      <p:sp>
        <p:nvSpPr>
          <p:cNvPr id="7" name="Panel 7"/>
          <p:cNvSpPr/>
          <p:nvPr/>
        </p:nvSpPr>
        <p:spPr>
          <a:xfrm>
            <a:off x="304800" y="965200"/>
            <a:ext cx="17678400" cy="304800"/>
          </a:xfrm>
          <a:prstGeom prst="rect">
            <a:avLst/>
          </a:prstGeom>
          <a:solidFill>
            <a:srgbClr val="EDF0F6"/>
          </a:solidFill>
          <a:ln>
            <a:noFill/>
          </a:ln>
        </p:spPr>
      </p:sp>
      <p:sp>
        <p:nvSpPr>
          <p:cNvPr id="8" name="Text 8"/>
          <p:cNvSpPr txBox="1"/>
          <p:nvPr/>
        </p:nvSpPr>
        <p:spPr>
          <a:xfrm>
            <a:off x="431800" y="1003300"/>
            <a:ext cx="158750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374151"/>
                </a:solidFill>
                <a:latin typeface="Arial"/>
              </a:rPr>
              <a:t xml:space="preserve">CASE STUDY: Navigation route algorithms</a:t>
            </a:r>
            <a:endParaRPr sz="1300"/>
          </a:p>
        </p:txBody>
      </p:sp>
      <p:sp>
        <p:nvSpPr>
          <p:cNvPr id="9" name="Text 9"/>
          <p:cNvSpPr txBox="1"/>
          <p:nvPr/>
        </p:nvSpPr>
        <p:spPr>
          <a:xfrm>
            <a:off x="17018000" y="1003300"/>
            <a:ext cx="9525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374151"/>
                </a:solidFill>
                <a:latin typeface="Arial"/>
              </a:rPr>
              <a:t xml:space="preserve">11 / 14</a:t>
            </a:r>
            <a:endParaRPr sz="1300"/>
          </a:p>
        </p:txBody>
      </p:sp>
      <p:sp>
        <p:nvSpPr>
          <p:cNvPr id="10" name="Panel 10"/>
          <p:cNvSpPr/>
          <p:nvPr/>
        </p:nvSpPr>
        <p:spPr>
          <a:xfrm>
            <a:off x="304800" y="1384300"/>
            <a:ext cx="8686800" cy="660400"/>
          </a:xfrm>
          <a:prstGeom prst="rect">
            <a:avLst/>
          </a:prstGeom>
          <a:solidFill>
            <a:srgbClr val="EFA5AA"/>
          </a:solidFill>
          <a:ln>
            <a:noFill/>
          </a:ln>
        </p:spPr>
      </p:sp>
      <p:sp>
        <p:nvSpPr>
          <p:cNvPr id="11" name="Panel 11"/>
          <p:cNvSpPr/>
          <p:nvPr/>
        </p:nvSpPr>
        <p:spPr>
          <a:xfrm>
            <a:off x="330200" y="1409700"/>
            <a:ext cx="8636000" cy="609600"/>
          </a:xfrm>
          <a:prstGeom prst="rect">
            <a:avLst/>
          </a:prstGeom>
          <a:solidFill>
            <a:srgbClr val="FFE2E3"/>
          </a:solidFill>
          <a:ln>
            <a:noFill/>
          </a:ln>
        </p:spPr>
      </p:sp>
      <p:sp>
        <p:nvSpPr>
          <p:cNvPr id="12" name="Panel 12"/>
          <p:cNvSpPr/>
          <p:nvPr/>
        </p:nvSpPr>
        <p:spPr>
          <a:xfrm>
            <a:off x="431800" y="1473200"/>
            <a:ext cx="63500" cy="228600"/>
          </a:xfrm>
          <a:prstGeom prst="rect">
            <a:avLst/>
          </a:prstGeom>
          <a:solidFill>
            <a:srgbClr val="C5222B"/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596900" y="1422400"/>
            <a:ext cx="8153400" cy="3073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920"/>
              </a:lnSpc>
            </a:pPr>
            <a:r>
              <a:rPr lang="en-US" sz="1600" b="1">
                <a:solidFill>
                  <a:srgbClr val="C5222B"/>
                </a:solidFill>
                <a:latin typeface="Arial"/>
              </a:rPr>
              <a:t xml:space="preserve">Problem</a:t>
            </a:r>
            <a:endParaRPr sz="1600"/>
          </a:p>
        </p:txBody>
      </p:sp>
      <p:sp>
        <p:nvSpPr>
          <p:cNvPr id="14" name="Text 14"/>
          <p:cNvSpPr txBox="1"/>
          <p:nvPr/>
        </p:nvSpPr>
        <p:spPr>
          <a:xfrm>
            <a:off x="520700" y="1600200"/>
            <a:ext cx="8255000" cy="2413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400"/>
              </a:lnSpc>
            </a:pPr>
            <a:r>
              <a:rPr lang="en-US" sz="1200">
                <a:solidFill>
                  <a:srgbClr val="192331"/>
                </a:solidFill>
                <a:latin typeface="Arial"/>
              </a:rPr>
              <a:t xml:space="preserve">A navigator grows conditionals for road, walking, and transit routes.</a:t>
            </a:r>
            <a:endParaRPr sz="1200"/>
          </a:p>
        </p:txBody>
      </p:sp>
      <p:sp>
        <p:nvSpPr>
          <p:cNvPr id="15" name="Panel 15"/>
          <p:cNvSpPr/>
          <p:nvPr/>
        </p:nvSpPr>
        <p:spPr>
          <a:xfrm>
            <a:off x="304800" y="2120900"/>
            <a:ext cx="8686800" cy="32131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16" name="Panel 16"/>
          <p:cNvSpPr/>
          <p:nvPr/>
        </p:nvSpPr>
        <p:spPr>
          <a:xfrm>
            <a:off x="330200" y="2146300"/>
            <a:ext cx="8636000" cy="31623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7" name="Panel 17"/>
          <p:cNvSpPr/>
          <p:nvPr/>
        </p:nvSpPr>
        <p:spPr>
          <a:xfrm>
            <a:off x="330200" y="2146300"/>
            <a:ext cx="8636000" cy="3048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18" name="Text 18"/>
          <p:cNvSpPr txBox="1"/>
          <p:nvPr/>
        </p:nvSpPr>
        <p:spPr>
          <a:xfrm>
            <a:off x="457200" y="2159000"/>
            <a:ext cx="83820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151B27"/>
                </a:solidFill>
                <a:latin typeface="Arial"/>
              </a:rPr>
              <a:t xml:space="preserve">Before (direct coupling)</a:t>
            </a:r>
            <a:endParaRPr sz="1300"/>
          </a:p>
        </p:txBody>
      </p:sp>
      <p:pic>
        <p:nvPicPr>
          <p:cNvPr id="19" name="UML class diagram"/>
          <p:cNvPicPr/>
          <p:nvPr/>
        </p:nvPicPr>
        <p:blipFill>
          <a:blip r:embed="rId2"/>
          <a:stretch>
            <a:fillRect/>
          </a:stretch>
        </p:blipFill>
        <p:spPr>
          <a:xfrm>
            <a:off x="444500" y="2476500"/>
            <a:ext cx="8382000" cy="2806700"/>
          </a:xfrm>
          <a:prstGeom prst="rect">
            <a:avLst/>
          </a:prstGeom>
        </p:spPr>
      </p:pic>
      <p:sp>
        <p:nvSpPr>
          <p:cNvPr id="20" name="Panel 20"/>
          <p:cNvSpPr/>
          <p:nvPr/>
        </p:nvSpPr>
        <p:spPr>
          <a:xfrm>
            <a:off x="9296400" y="1384300"/>
            <a:ext cx="8686800" cy="660400"/>
          </a:xfrm>
          <a:prstGeom prst="rect">
            <a:avLst/>
          </a:prstGeom>
          <a:solidFill>
            <a:srgbClr val="94D9D1"/>
          </a:solidFill>
          <a:ln>
            <a:noFill/>
          </a:ln>
        </p:spPr>
      </p:sp>
      <p:sp>
        <p:nvSpPr>
          <p:cNvPr id="21" name="Panel 21"/>
          <p:cNvSpPr/>
          <p:nvPr/>
        </p:nvSpPr>
        <p:spPr>
          <a:xfrm>
            <a:off x="9321800" y="1409700"/>
            <a:ext cx="8636000" cy="609600"/>
          </a:xfrm>
          <a:prstGeom prst="rect">
            <a:avLst/>
          </a:prstGeom>
          <a:solidFill>
            <a:srgbClr val="D9F5F0"/>
          </a:solidFill>
          <a:ln>
            <a:noFill/>
          </a:ln>
        </p:spPr>
      </p:sp>
      <p:sp>
        <p:nvSpPr>
          <p:cNvPr id="22" name="Panel 22"/>
          <p:cNvSpPr/>
          <p:nvPr/>
        </p:nvSpPr>
        <p:spPr>
          <a:xfrm>
            <a:off x="9423400" y="1473200"/>
            <a:ext cx="63500" cy="228600"/>
          </a:xfrm>
          <a:prstGeom prst="rect">
            <a:avLst/>
          </a:prstGeom>
          <a:solidFill>
            <a:srgbClr val="007E78"/>
          </a:solidFill>
          <a:ln>
            <a:noFill/>
          </a:ln>
        </p:spPr>
      </p:sp>
      <p:sp>
        <p:nvSpPr>
          <p:cNvPr id="23" name="Text 23"/>
          <p:cNvSpPr txBox="1"/>
          <p:nvPr/>
        </p:nvSpPr>
        <p:spPr>
          <a:xfrm>
            <a:off x="9588500" y="1422400"/>
            <a:ext cx="8153400" cy="3073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920"/>
              </a:lnSpc>
            </a:pPr>
            <a:r>
              <a:rPr lang="en-US" sz="1600" b="1">
                <a:solidFill>
                  <a:srgbClr val="007E78"/>
                </a:solidFill>
                <a:latin typeface="Arial"/>
              </a:rPr>
              <a:t xml:space="preserve">Solution</a:t>
            </a:r>
            <a:endParaRPr sz="1600"/>
          </a:p>
        </p:txBody>
      </p:sp>
      <p:sp>
        <p:nvSpPr>
          <p:cNvPr id="24" name="Text 24"/>
          <p:cNvSpPr txBox="1"/>
          <p:nvPr/>
        </p:nvSpPr>
        <p:spPr>
          <a:xfrm>
            <a:off x="9512300" y="1600200"/>
            <a:ext cx="8255000" cy="2413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400"/>
              </a:lnSpc>
            </a:pPr>
            <a:r>
              <a:rPr lang="en-US" sz="1200">
                <a:solidFill>
                  <a:srgbClr val="192331"/>
                </a:solidFill>
                <a:latin typeface="Arial"/>
              </a:rPr>
              <a:t xml:space="preserve">Delegate routing to a strategy selected by the client.</a:t>
            </a:r>
            <a:endParaRPr sz="1200"/>
          </a:p>
        </p:txBody>
      </p:sp>
      <p:sp>
        <p:nvSpPr>
          <p:cNvPr id="25" name="Panel 25"/>
          <p:cNvSpPr/>
          <p:nvPr/>
        </p:nvSpPr>
        <p:spPr>
          <a:xfrm>
            <a:off x="9296400" y="2120900"/>
            <a:ext cx="8686800" cy="32131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26" name="Panel 26"/>
          <p:cNvSpPr/>
          <p:nvPr/>
        </p:nvSpPr>
        <p:spPr>
          <a:xfrm>
            <a:off x="9321800" y="2146300"/>
            <a:ext cx="8636000" cy="31623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7" name="Panel 27"/>
          <p:cNvSpPr/>
          <p:nvPr/>
        </p:nvSpPr>
        <p:spPr>
          <a:xfrm>
            <a:off x="9321800" y="2146300"/>
            <a:ext cx="8636000" cy="3048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28" name="Text 28"/>
          <p:cNvSpPr txBox="1"/>
          <p:nvPr/>
        </p:nvSpPr>
        <p:spPr>
          <a:xfrm>
            <a:off x="9448800" y="2159000"/>
            <a:ext cx="83820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151B27"/>
                </a:solidFill>
                <a:latin typeface="Arial"/>
              </a:rPr>
              <a:t xml:space="preserve">After (using Strategy)</a:t>
            </a:r>
            <a:endParaRPr sz="1300"/>
          </a:p>
        </p:txBody>
      </p:sp>
      <p:pic>
        <p:nvPicPr>
          <p:cNvPr id="29" name="UML class diagram"/>
          <p:cNvPicPr/>
          <p:nvPr/>
        </p:nvPicPr>
        <p:blipFill>
          <a:blip r:embed="rId3"/>
          <a:stretch>
            <a:fillRect/>
          </a:stretch>
        </p:blipFill>
        <p:spPr>
          <a:xfrm>
            <a:off x="9436100" y="2476500"/>
            <a:ext cx="8382000" cy="2806700"/>
          </a:xfrm>
          <a:prstGeom prst="rect">
            <a:avLst/>
          </a:prstGeom>
        </p:spPr>
      </p:pic>
      <p:sp>
        <p:nvSpPr>
          <p:cNvPr id="30" name="Panel 30"/>
          <p:cNvSpPr/>
          <p:nvPr/>
        </p:nvSpPr>
        <p:spPr>
          <a:xfrm>
            <a:off x="304800" y="5435600"/>
            <a:ext cx="8686800" cy="18923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31" name="Panel 31"/>
          <p:cNvSpPr/>
          <p:nvPr/>
        </p:nvSpPr>
        <p:spPr>
          <a:xfrm>
            <a:off x="330200" y="5461000"/>
            <a:ext cx="8636000" cy="18415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32" name="Panel 32"/>
          <p:cNvSpPr/>
          <p:nvPr/>
        </p:nvSpPr>
        <p:spPr>
          <a:xfrm>
            <a:off x="330200" y="5461000"/>
            <a:ext cx="8636000" cy="3048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33" name="Text 33"/>
          <p:cNvSpPr txBox="1"/>
          <p:nvPr/>
        </p:nvSpPr>
        <p:spPr>
          <a:xfrm>
            <a:off x="457200" y="5473700"/>
            <a:ext cx="6985000" cy="2768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680"/>
              </a:lnSpc>
            </a:pPr>
            <a:r>
              <a:rPr lang="en-US" sz="1400" b="1">
                <a:solidFill>
                  <a:srgbClr val="161D2B"/>
                </a:solidFill>
                <a:latin typeface="Arial"/>
              </a:rPr>
              <a:t xml:space="preserve">Client Code (Before)</a:t>
            </a:r>
            <a:endParaRPr sz="1400"/>
          </a:p>
        </p:txBody>
      </p:sp>
      <p:sp>
        <p:nvSpPr>
          <p:cNvPr id="34" name="Text 34"/>
          <p:cNvSpPr txBox="1"/>
          <p:nvPr/>
        </p:nvSpPr>
        <p:spPr>
          <a:xfrm>
            <a:off x="7594600" y="5511800"/>
            <a:ext cx="1270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000"/>
          </a:p>
        </p:txBody>
      </p:sp>
      <p:sp>
        <p:nvSpPr>
          <p:cNvPr id="35" name="Code 35"/>
          <p:cNvSpPr txBox="1"/>
          <p:nvPr/>
        </p:nvSpPr>
        <p:spPr>
          <a:xfrm>
            <a:off x="482600" y="5791200"/>
            <a:ext cx="8255000" cy="8763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600"/>
              </a:lnSpc>
            </a:pP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road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=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roadRoute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a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,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b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walk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=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walkRoute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a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,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b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transit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=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transitRoute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a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,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b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64748B"/>
                </a:solidFill>
                <a:latin typeface="Courier New"/>
              </a:rPr>
              <a:t xml:space="preserve">// three routes; client branches per mode</a:t>
            </a:r>
            <a:endParaRPr sz="1300"/>
          </a:p>
        </p:txBody>
      </p:sp>
      <p:sp>
        <p:nvSpPr>
          <p:cNvPr id="36" name="Panel 36"/>
          <p:cNvSpPr/>
          <p:nvPr/>
        </p:nvSpPr>
        <p:spPr>
          <a:xfrm>
            <a:off x="9296400" y="5435600"/>
            <a:ext cx="8686800" cy="18923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37" name="Panel 37"/>
          <p:cNvSpPr/>
          <p:nvPr/>
        </p:nvSpPr>
        <p:spPr>
          <a:xfrm>
            <a:off x="9321800" y="5461000"/>
            <a:ext cx="8636000" cy="18415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38" name="Panel 38"/>
          <p:cNvSpPr/>
          <p:nvPr/>
        </p:nvSpPr>
        <p:spPr>
          <a:xfrm>
            <a:off x="9321800" y="5461000"/>
            <a:ext cx="8636000" cy="3048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39" name="Text 39"/>
          <p:cNvSpPr txBox="1"/>
          <p:nvPr/>
        </p:nvSpPr>
        <p:spPr>
          <a:xfrm>
            <a:off x="9448800" y="5473700"/>
            <a:ext cx="6985000" cy="2768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680"/>
              </a:lnSpc>
            </a:pPr>
            <a:r>
              <a:rPr lang="en-US" sz="1400" b="1">
                <a:solidFill>
                  <a:srgbClr val="161D2B"/>
                </a:solidFill>
                <a:latin typeface="Arial"/>
              </a:rPr>
              <a:t xml:space="preserve">Client Code (After)</a:t>
            </a:r>
            <a:endParaRPr sz="1400"/>
          </a:p>
        </p:txBody>
      </p:sp>
      <p:sp>
        <p:nvSpPr>
          <p:cNvPr id="40" name="Text 40"/>
          <p:cNvSpPr txBox="1"/>
          <p:nvPr/>
        </p:nvSpPr>
        <p:spPr>
          <a:xfrm>
            <a:off x="16586200" y="5511800"/>
            <a:ext cx="1270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000"/>
          </a:p>
        </p:txBody>
      </p:sp>
      <p:sp>
        <p:nvSpPr>
          <p:cNvPr id="41" name="Code 41"/>
          <p:cNvSpPr txBox="1"/>
          <p:nvPr/>
        </p:nvSpPr>
        <p:spPr>
          <a:xfrm>
            <a:off x="9474200" y="5791200"/>
            <a:ext cx="8255000" cy="1079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600"/>
              </a:lnSpc>
            </a:pPr>
            <a:r>
              <a:rPr lang="en-US" sz="1300">
                <a:solidFill>
                  <a:srgbClr val="0B57D0"/>
                </a:solidFill>
                <a:latin typeface="Courier New"/>
              </a:rPr>
              <a:t xml:space="preserve">for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s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B57D0"/>
                </a:solidFill>
                <a:latin typeface="Courier New"/>
              </a:rPr>
              <a:t xml:space="preserve">in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[</a:t>
            </a:r>
            <a:r>
              <a:rPr lang="en-US" sz="1300">
                <a:solidFill>
                  <a:srgbClr val="0B57D0"/>
                </a:solidFill>
                <a:latin typeface="Courier New"/>
              </a:rPr>
              <a:t xml:space="preserve">new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F766E"/>
                </a:solidFill>
                <a:latin typeface="Courier New"/>
              </a:rPr>
              <a:t xml:space="preserve">RoadRoute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,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B57D0"/>
                </a:solidFill>
                <a:latin typeface="Courier New"/>
              </a:rPr>
              <a:t xml:space="preserve">new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F766E"/>
                </a:solidFill>
                <a:latin typeface="Courier New"/>
              </a:rPr>
              <a:t xml:space="preserve">WalkingRoute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,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         </a:t>
            </a:r>
            <a:r>
              <a:rPr lang="en-US" sz="1300">
                <a:solidFill>
                  <a:srgbClr val="0B57D0"/>
                </a:solidFill>
                <a:latin typeface="Courier New"/>
              </a:rPr>
              <a:t xml:space="preserve">new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F766E"/>
                </a:solidFill>
                <a:latin typeface="Courier New"/>
              </a:rPr>
              <a:t xml:space="preserve">TransitRoute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]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: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   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navigator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setStrategy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s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   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routes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add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navigator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buildRoute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a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,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b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64748B"/>
                </a:solidFill>
                <a:latin typeface="Courier New"/>
              </a:rPr>
              <a:t xml:space="preserve">// same three routes; one buildRoute() API</a:t>
            </a:r>
            <a:endParaRPr sz="1300"/>
          </a:p>
        </p:txBody>
      </p:sp>
      <p:sp>
        <p:nvSpPr>
          <p:cNvPr id="42" name="Panel 42"/>
          <p:cNvSpPr/>
          <p:nvPr/>
        </p:nvSpPr>
        <p:spPr>
          <a:xfrm>
            <a:off x="304800" y="7404100"/>
            <a:ext cx="17678400" cy="25527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43" name="Panel 43"/>
          <p:cNvSpPr/>
          <p:nvPr/>
        </p:nvSpPr>
        <p:spPr>
          <a:xfrm>
            <a:off x="330200" y="7429500"/>
            <a:ext cx="17627600" cy="25019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44" name="Panel 44"/>
          <p:cNvSpPr/>
          <p:nvPr/>
        </p:nvSpPr>
        <p:spPr>
          <a:xfrm>
            <a:off x="330200" y="7429500"/>
            <a:ext cx="17627600" cy="3048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45" name="Text 45"/>
          <p:cNvSpPr txBox="1"/>
          <p:nvPr/>
        </p:nvSpPr>
        <p:spPr>
          <a:xfrm>
            <a:off x="457200" y="7454900"/>
            <a:ext cx="15240000" cy="292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800"/>
              </a:lnSpc>
            </a:pPr>
            <a:r>
              <a:rPr lang="en-US" sz="1500" b="1">
                <a:solidFill>
                  <a:srgbClr val="161D2B"/>
                </a:solidFill>
                <a:latin typeface="Arial"/>
              </a:rPr>
              <a:t xml:space="preserve">Module Code (API boundary)</a:t>
            </a:r>
            <a:endParaRPr sz="1500"/>
          </a:p>
        </p:txBody>
      </p:sp>
      <p:sp>
        <p:nvSpPr>
          <p:cNvPr id="46" name="Text 46"/>
          <p:cNvSpPr txBox="1"/>
          <p:nvPr/>
        </p:nvSpPr>
        <p:spPr>
          <a:xfrm>
            <a:off x="16459200" y="7493000"/>
            <a:ext cx="13335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000"/>
          </a:p>
        </p:txBody>
      </p:sp>
      <p:sp>
        <p:nvSpPr>
          <p:cNvPr id="47" name="Code 47"/>
          <p:cNvSpPr txBox="1"/>
          <p:nvPr/>
        </p:nvSpPr>
        <p:spPr>
          <a:xfrm>
            <a:off x="482600" y="7785100"/>
            <a:ext cx="17322800" cy="8763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600"/>
              </a:lnSpc>
            </a:pPr>
            <a:r>
              <a:rPr lang="en-US" sz="1300">
                <a:solidFill>
                  <a:srgbClr val="64748B"/>
                </a:solidFill>
                <a:latin typeface="Courier New"/>
              </a:rPr>
              <a:t xml:space="preserve">// MODULE — Navigator API for client developers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64748B"/>
                </a:solidFill>
                <a:latin typeface="Courier New"/>
              </a:rPr>
              <a:t xml:space="preserve">// Navigator.buildRoute(a, b)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0B57D0"/>
                </a:solidFill>
                <a:latin typeface="Courier New"/>
              </a:rPr>
              <a:t xml:space="preserve">return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strategy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buildRoute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a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,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b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64748B"/>
                </a:solidFill>
                <a:latin typeface="Courier New"/>
              </a:rPr>
              <a:t xml:space="preserve">// WalkingRoute builds pedestrian paths</a:t>
            </a:r>
            <a:endParaRPr sz="1300"/>
          </a:p>
        </p:txBody>
      </p:sp>
      <p:sp>
        <p:nvSpPr>
          <p:cNvPr id="48" name="Text 48"/>
          <p:cNvSpPr txBox="1"/>
          <p:nvPr/>
        </p:nvSpPr>
        <p:spPr>
          <a:xfrm>
            <a:off x="304800" y="10007600"/>
            <a:ext cx="10160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566174"/>
                </a:solidFill>
                <a:latin typeface="Arial"/>
              </a:rPr>
              <a:t xml:space="preserve">Source: https://refactoring.guru/design-patterns/strategy</a:t>
            </a:r>
            <a:endParaRPr sz="1000"/>
          </a:p>
        </p:txBody>
      </p:sp>
      <p:sp>
        <p:nvSpPr>
          <p:cNvPr id="49" name="Text 49"/>
          <p:cNvSpPr txBox="1"/>
          <p:nvPr/>
        </p:nvSpPr>
        <p:spPr>
          <a:xfrm>
            <a:off x="9144000" y="10007600"/>
            <a:ext cx="8890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566174"/>
                </a:solidFill>
                <a:latin typeface="Arial"/>
              </a:rPr>
              <a:t xml:space="preserve">UML: Client box = caller code; hollow triangle = inheritance / realization; dashed open arrow = dependency</a:t>
            </a:r>
            <a:endParaRPr sz="1000"/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 3"/>
          <p:cNvSpPr txBox="1"/>
          <p:nvPr/>
        </p:nvSpPr>
        <p:spPr>
          <a:xfrm>
            <a:off x="304800" y="114300"/>
            <a:ext cx="5842000" cy="7340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5280"/>
              </a:lnSpc>
            </a:pPr>
            <a:r>
              <a:rPr lang="en-US" sz="4400" b="1">
                <a:solidFill>
                  <a:srgbClr val="101319"/>
                </a:solidFill>
                <a:latin typeface="Arial"/>
              </a:rPr>
              <a:t xml:space="preserve">State</a:t>
            </a:r>
            <a:endParaRPr sz="4400"/>
          </a:p>
        </p:txBody>
      </p:sp>
      <p:sp>
        <p:nvSpPr>
          <p:cNvPr id="4" name="Panel 4"/>
          <p:cNvSpPr/>
          <p:nvPr/>
        </p:nvSpPr>
        <p:spPr>
          <a:xfrm>
            <a:off x="1975866" y="177800"/>
            <a:ext cx="25400" cy="660400"/>
          </a:xfrm>
          <a:prstGeom prst="rect">
            <a:avLst/>
          </a:prstGeom>
          <a:solidFill>
            <a:srgbClr val="858E9E"/>
          </a:soli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2204466" y="165100"/>
            <a:ext cx="15613634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>
                <a:solidFill>
                  <a:srgbClr val="596273"/>
                </a:solidFill>
                <a:latin typeface="Arial"/>
              </a:rPr>
              <a:t xml:space="preserve">Behavioral Design Pattern</a:t>
            </a:r>
            <a:endParaRPr sz="1700"/>
          </a:p>
        </p:txBody>
      </p:sp>
      <p:sp>
        <p:nvSpPr>
          <p:cNvPr id="6" name="Text 6"/>
          <p:cNvSpPr txBox="1"/>
          <p:nvPr/>
        </p:nvSpPr>
        <p:spPr>
          <a:xfrm>
            <a:off x="2204466" y="469900"/>
            <a:ext cx="15613634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>
                <a:solidFill>
                  <a:srgbClr val="182230"/>
                </a:solidFill>
                <a:latin typeface="Arial"/>
              </a:rPr>
              <a:t xml:space="preserve">Delegate behavior to an object representing the current state.</a:t>
            </a:r>
            <a:endParaRPr sz="1800"/>
          </a:p>
        </p:txBody>
      </p:sp>
      <p:sp>
        <p:nvSpPr>
          <p:cNvPr id="7" name="Panel 7"/>
          <p:cNvSpPr/>
          <p:nvPr/>
        </p:nvSpPr>
        <p:spPr>
          <a:xfrm>
            <a:off x="304800" y="965200"/>
            <a:ext cx="17678400" cy="304800"/>
          </a:xfrm>
          <a:prstGeom prst="rect">
            <a:avLst/>
          </a:prstGeom>
          <a:solidFill>
            <a:srgbClr val="EDF0F6"/>
          </a:solidFill>
          <a:ln>
            <a:noFill/>
          </a:ln>
        </p:spPr>
      </p:sp>
      <p:sp>
        <p:nvSpPr>
          <p:cNvPr id="8" name="Text 8"/>
          <p:cNvSpPr txBox="1"/>
          <p:nvPr/>
        </p:nvSpPr>
        <p:spPr>
          <a:xfrm>
            <a:off x="431800" y="1003300"/>
            <a:ext cx="158750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374151"/>
                </a:solidFill>
                <a:latin typeface="Arial"/>
              </a:rPr>
              <a:t xml:space="preserve">CASE STUDY: Document publication workflow</a:t>
            </a:r>
            <a:endParaRPr sz="1300"/>
          </a:p>
        </p:txBody>
      </p:sp>
      <p:sp>
        <p:nvSpPr>
          <p:cNvPr id="9" name="Text 9"/>
          <p:cNvSpPr txBox="1"/>
          <p:nvPr/>
        </p:nvSpPr>
        <p:spPr>
          <a:xfrm>
            <a:off x="17018000" y="1003300"/>
            <a:ext cx="9525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374151"/>
                </a:solidFill>
                <a:latin typeface="Arial"/>
              </a:rPr>
              <a:t xml:space="preserve">12 / 14</a:t>
            </a:r>
            <a:endParaRPr sz="1300"/>
          </a:p>
        </p:txBody>
      </p:sp>
      <p:sp>
        <p:nvSpPr>
          <p:cNvPr id="10" name="Panel 10"/>
          <p:cNvSpPr/>
          <p:nvPr/>
        </p:nvSpPr>
        <p:spPr>
          <a:xfrm>
            <a:off x="304800" y="1384300"/>
            <a:ext cx="8686800" cy="660400"/>
          </a:xfrm>
          <a:prstGeom prst="rect">
            <a:avLst/>
          </a:prstGeom>
          <a:solidFill>
            <a:srgbClr val="EFA5AA"/>
          </a:solidFill>
          <a:ln>
            <a:noFill/>
          </a:ln>
        </p:spPr>
      </p:sp>
      <p:sp>
        <p:nvSpPr>
          <p:cNvPr id="11" name="Panel 11"/>
          <p:cNvSpPr/>
          <p:nvPr/>
        </p:nvSpPr>
        <p:spPr>
          <a:xfrm>
            <a:off x="330200" y="1409700"/>
            <a:ext cx="8636000" cy="609600"/>
          </a:xfrm>
          <a:prstGeom prst="rect">
            <a:avLst/>
          </a:prstGeom>
          <a:solidFill>
            <a:srgbClr val="FFE2E3"/>
          </a:solidFill>
          <a:ln>
            <a:noFill/>
          </a:ln>
        </p:spPr>
      </p:sp>
      <p:sp>
        <p:nvSpPr>
          <p:cNvPr id="12" name="Panel 12"/>
          <p:cNvSpPr/>
          <p:nvPr/>
        </p:nvSpPr>
        <p:spPr>
          <a:xfrm>
            <a:off x="431800" y="1473200"/>
            <a:ext cx="63500" cy="228600"/>
          </a:xfrm>
          <a:prstGeom prst="rect">
            <a:avLst/>
          </a:prstGeom>
          <a:solidFill>
            <a:srgbClr val="C5222B"/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596900" y="1422400"/>
            <a:ext cx="8153400" cy="3073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920"/>
              </a:lnSpc>
            </a:pPr>
            <a:r>
              <a:rPr lang="en-US" sz="1600" b="1">
                <a:solidFill>
                  <a:srgbClr val="C5222B"/>
                </a:solidFill>
                <a:latin typeface="Arial"/>
              </a:rPr>
              <a:t xml:space="preserve">Problem</a:t>
            </a:r>
            <a:endParaRPr sz="1600"/>
          </a:p>
        </p:txBody>
      </p:sp>
      <p:sp>
        <p:nvSpPr>
          <p:cNvPr id="14" name="Text 14"/>
          <p:cNvSpPr txBox="1"/>
          <p:nvPr/>
        </p:nvSpPr>
        <p:spPr>
          <a:xfrm>
            <a:off x="520700" y="1600200"/>
            <a:ext cx="8255000" cy="2413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400"/>
              </a:lnSpc>
            </a:pPr>
            <a:r>
              <a:rPr lang="en-US" sz="1200">
                <a:solidFill>
                  <a:srgbClr val="192331"/>
                </a:solidFill>
                <a:latin typeface="Arial"/>
              </a:rPr>
              <a:t xml:space="preserve">Publication rules accumulate in a switch over document status.</a:t>
            </a:r>
            <a:endParaRPr sz="1200"/>
          </a:p>
        </p:txBody>
      </p:sp>
      <p:sp>
        <p:nvSpPr>
          <p:cNvPr id="15" name="Panel 15"/>
          <p:cNvSpPr/>
          <p:nvPr/>
        </p:nvSpPr>
        <p:spPr>
          <a:xfrm>
            <a:off x="304800" y="2120900"/>
            <a:ext cx="8686800" cy="32131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16" name="Panel 16"/>
          <p:cNvSpPr/>
          <p:nvPr/>
        </p:nvSpPr>
        <p:spPr>
          <a:xfrm>
            <a:off x="330200" y="2146300"/>
            <a:ext cx="8636000" cy="31623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7" name="Panel 17"/>
          <p:cNvSpPr/>
          <p:nvPr/>
        </p:nvSpPr>
        <p:spPr>
          <a:xfrm>
            <a:off x="330200" y="2146300"/>
            <a:ext cx="8636000" cy="3048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18" name="Text 18"/>
          <p:cNvSpPr txBox="1"/>
          <p:nvPr/>
        </p:nvSpPr>
        <p:spPr>
          <a:xfrm>
            <a:off x="457200" y="2159000"/>
            <a:ext cx="83820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151B27"/>
                </a:solidFill>
                <a:latin typeface="Arial"/>
              </a:rPr>
              <a:t xml:space="preserve">Before (direct coupling)</a:t>
            </a:r>
            <a:endParaRPr sz="1300"/>
          </a:p>
        </p:txBody>
      </p:sp>
      <p:pic>
        <p:nvPicPr>
          <p:cNvPr id="19" name="UML class diagram"/>
          <p:cNvPicPr/>
          <p:nvPr/>
        </p:nvPicPr>
        <p:blipFill>
          <a:blip r:embed="rId2"/>
          <a:stretch>
            <a:fillRect/>
          </a:stretch>
        </p:blipFill>
        <p:spPr>
          <a:xfrm>
            <a:off x="444500" y="2476500"/>
            <a:ext cx="8382000" cy="2806700"/>
          </a:xfrm>
          <a:prstGeom prst="rect">
            <a:avLst/>
          </a:prstGeom>
        </p:spPr>
      </p:pic>
      <p:sp>
        <p:nvSpPr>
          <p:cNvPr id="20" name="Panel 20"/>
          <p:cNvSpPr/>
          <p:nvPr/>
        </p:nvSpPr>
        <p:spPr>
          <a:xfrm>
            <a:off x="9296400" y="1384300"/>
            <a:ext cx="8686800" cy="660400"/>
          </a:xfrm>
          <a:prstGeom prst="rect">
            <a:avLst/>
          </a:prstGeom>
          <a:solidFill>
            <a:srgbClr val="94D9D1"/>
          </a:solidFill>
          <a:ln>
            <a:noFill/>
          </a:ln>
        </p:spPr>
      </p:sp>
      <p:sp>
        <p:nvSpPr>
          <p:cNvPr id="21" name="Panel 21"/>
          <p:cNvSpPr/>
          <p:nvPr/>
        </p:nvSpPr>
        <p:spPr>
          <a:xfrm>
            <a:off x="9321800" y="1409700"/>
            <a:ext cx="8636000" cy="609600"/>
          </a:xfrm>
          <a:prstGeom prst="rect">
            <a:avLst/>
          </a:prstGeom>
          <a:solidFill>
            <a:srgbClr val="D9F5F0"/>
          </a:solidFill>
          <a:ln>
            <a:noFill/>
          </a:ln>
        </p:spPr>
      </p:sp>
      <p:sp>
        <p:nvSpPr>
          <p:cNvPr id="22" name="Panel 22"/>
          <p:cNvSpPr/>
          <p:nvPr/>
        </p:nvSpPr>
        <p:spPr>
          <a:xfrm>
            <a:off x="9423400" y="1473200"/>
            <a:ext cx="63500" cy="228600"/>
          </a:xfrm>
          <a:prstGeom prst="rect">
            <a:avLst/>
          </a:prstGeom>
          <a:solidFill>
            <a:srgbClr val="007E78"/>
          </a:solidFill>
          <a:ln>
            <a:noFill/>
          </a:ln>
        </p:spPr>
      </p:sp>
      <p:sp>
        <p:nvSpPr>
          <p:cNvPr id="23" name="Text 23"/>
          <p:cNvSpPr txBox="1"/>
          <p:nvPr/>
        </p:nvSpPr>
        <p:spPr>
          <a:xfrm>
            <a:off x="9588500" y="1422400"/>
            <a:ext cx="8153400" cy="3073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920"/>
              </a:lnSpc>
            </a:pPr>
            <a:r>
              <a:rPr lang="en-US" sz="1600" b="1">
                <a:solidFill>
                  <a:srgbClr val="007E78"/>
                </a:solidFill>
                <a:latin typeface="Arial"/>
              </a:rPr>
              <a:t xml:space="preserve">Solution</a:t>
            </a:r>
            <a:endParaRPr sz="1600"/>
          </a:p>
        </p:txBody>
      </p:sp>
      <p:sp>
        <p:nvSpPr>
          <p:cNvPr id="24" name="Text 24"/>
          <p:cNvSpPr txBox="1"/>
          <p:nvPr/>
        </p:nvSpPr>
        <p:spPr>
          <a:xfrm>
            <a:off x="9512300" y="1600200"/>
            <a:ext cx="8255000" cy="2413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400"/>
              </a:lnSpc>
            </a:pPr>
            <a:r>
              <a:rPr lang="en-US" sz="1200">
                <a:solidFill>
                  <a:srgbClr val="192331"/>
                </a:solidFill>
                <a:latin typeface="Arial"/>
              </a:rPr>
              <a:t xml:space="preserve">Each state handles publish and can transition the document.</a:t>
            </a:r>
            <a:endParaRPr sz="1200"/>
          </a:p>
        </p:txBody>
      </p:sp>
      <p:sp>
        <p:nvSpPr>
          <p:cNvPr id="25" name="Panel 25"/>
          <p:cNvSpPr/>
          <p:nvPr/>
        </p:nvSpPr>
        <p:spPr>
          <a:xfrm>
            <a:off x="9296400" y="2120900"/>
            <a:ext cx="8686800" cy="32131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26" name="Panel 26"/>
          <p:cNvSpPr/>
          <p:nvPr/>
        </p:nvSpPr>
        <p:spPr>
          <a:xfrm>
            <a:off x="9321800" y="2146300"/>
            <a:ext cx="8636000" cy="31623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7" name="Panel 27"/>
          <p:cNvSpPr/>
          <p:nvPr/>
        </p:nvSpPr>
        <p:spPr>
          <a:xfrm>
            <a:off x="9321800" y="2146300"/>
            <a:ext cx="8636000" cy="3048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28" name="Text 28"/>
          <p:cNvSpPr txBox="1"/>
          <p:nvPr/>
        </p:nvSpPr>
        <p:spPr>
          <a:xfrm>
            <a:off x="9448800" y="2159000"/>
            <a:ext cx="83820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151B27"/>
                </a:solidFill>
                <a:latin typeface="Arial"/>
              </a:rPr>
              <a:t xml:space="preserve">After (using State)</a:t>
            </a:r>
            <a:endParaRPr sz="1300"/>
          </a:p>
        </p:txBody>
      </p:sp>
      <p:pic>
        <p:nvPicPr>
          <p:cNvPr id="29" name="UML class diagram"/>
          <p:cNvPicPr/>
          <p:nvPr/>
        </p:nvPicPr>
        <p:blipFill>
          <a:blip r:embed="rId3"/>
          <a:stretch>
            <a:fillRect/>
          </a:stretch>
        </p:blipFill>
        <p:spPr>
          <a:xfrm>
            <a:off x="9436100" y="2476500"/>
            <a:ext cx="8382000" cy="2806700"/>
          </a:xfrm>
          <a:prstGeom prst="rect">
            <a:avLst/>
          </a:prstGeom>
        </p:spPr>
      </p:pic>
      <p:sp>
        <p:nvSpPr>
          <p:cNvPr id="30" name="Panel 30"/>
          <p:cNvSpPr/>
          <p:nvPr/>
        </p:nvSpPr>
        <p:spPr>
          <a:xfrm>
            <a:off x="304800" y="5435600"/>
            <a:ext cx="8686800" cy="18923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31" name="Panel 31"/>
          <p:cNvSpPr/>
          <p:nvPr/>
        </p:nvSpPr>
        <p:spPr>
          <a:xfrm>
            <a:off x="330200" y="5461000"/>
            <a:ext cx="8636000" cy="18415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32" name="Panel 32"/>
          <p:cNvSpPr/>
          <p:nvPr/>
        </p:nvSpPr>
        <p:spPr>
          <a:xfrm>
            <a:off x="330200" y="5461000"/>
            <a:ext cx="8636000" cy="3048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33" name="Text 33"/>
          <p:cNvSpPr txBox="1"/>
          <p:nvPr/>
        </p:nvSpPr>
        <p:spPr>
          <a:xfrm>
            <a:off x="457200" y="5473700"/>
            <a:ext cx="6985000" cy="2768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680"/>
              </a:lnSpc>
            </a:pPr>
            <a:r>
              <a:rPr lang="en-US" sz="1400" b="1">
                <a:solidFill>
                  <a:srgbClr val="161D2B"/>
                </a:solidFill>
                <a:latin typeface="Arial"/>
              </a:rPr>
              <a:t xml:space="preserve">Client Code (Before)</a:t>
            </a:r>
            <a:endParaRPr sz="1400"/>
          </a:p>
        </p:txBody>
      </p:sp>
      <p:sp>
        <p:nvSpPr>
          <p:cNvPr id="34" name="Text 34"/>
          <p:cNvSpPr txBox="1"/>
          <p:nvPr/>
        </p:nvSpPr>
        <p:spPr>
          <a:xfrm>
            <a:off x="7594600" y="5511800"/>
            <a:ext cx="1270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000"/>
          </a:p>
        </p:txBody>
      </p:sp>
      <p:sp>
        <p:nvSpPr>
          <p:cNvPr id="35" name="Code 35"/>
          <p:cNvSpPr txBox="1"/>
          <p:nvPr/>
        </p:nvSpPr>
        <p:spPr>
          <a:xfrm>
            <a:off x="482600" y="5791200"/>
            <a:ext cx="8255000" cy="8763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600"/>
              </a:lnSpc>
            </a:pP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doc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status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=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B14747"/>
                </a:solidFill>
                <a:latin typeface="Courier New"/>
              </a:rPr>
              <a:t xml:space="preserve">"draft"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doc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status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=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B14747"/>
                </a:solidFill>
                <a:latin typeface="Courier New"/>
              </a:rPr>
              <a:t xml:space="preserve">"moderation"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  </a:t>
            </a:r>
            <a:r>
              <a:rPr lang="en-US" sz="1300">
                <a:solidFill>
                  <a:srgbClr val="64748B"/>
                </a:solidFill>
                <a:latin typeface="Courier New"/>
              </a:rPr>
              <a:t xml:space="preserve">// submit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doc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status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=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B14747"/>
                </a:solidFill>
                <a:latin typeface="Courier New"/>
              </a:rPr>
              <a:t xml:space="preserve">"published"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   </a:t>
            </a:r>
            <a:r>
              <a:rPr lang="en-US" sz="1300">
                <a:solidFill>
                  <a:srgbClr val="64748B"/>
                </a:solidFill>
                <a:latin typeface="Courier New"/>
              </a:rPr>
              <a:t xml:space="preserve">// admin approve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64748B"/>
                </a:solidFill>
                <a:latin typeface="Courier New"/>
              </a:rPr>
              <a:t xml:space="preserve">// draft → moderation → published via status ifs</a:t>
            </a:r>
            <a:endParaRPr sz="1300"/>
          </a:p>
        </p:txBody>
      </p:sp>
      <p:sp>
        <p:nvSpPr>
          <p:cNvPr id="36" name="Panel 36"/>
          <p:cNvSpPr/>
          <p:nvPr/>
        </p:nvSpPr>
        <p:spPr>
          <a:xfrm>
            <a:off x="9296400" y="5435600"/>
            <a:ext cx="8686800" cy="18923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37" name="Panel 37"/>
          <p:cNvSpPr/>
          <p:nvPr/>
        </p:nvSpPr>
        <p:spPr>
          <a:xfrm>
            <a:off x="9321800" y="5461000"/>
            <a:ext cx="8636000" cy="18415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38" name="Panel 38"/>
          <p:cNvSpPr/>
          <p:nvPr/>
        </p:nvSpPr>
        <p:spPr>
          <a:xfrm>
            <a:off x="9321800" y="5461000"/>
            <a:ext cx="8636000" cy="3048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39" name="Text 39"/>
          <p:cNvSpPr txBox="1"/>
          <p:nvPr/>
        </p:nvSpPr>
        <p:spPr>
          <a:xfrm>
            <a:off x="9448800" y="5473700"/>
            <a:ext cx="6985000" cy="2768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680"/>
              </a:lnSpc>
            </a:pPr>
            <a:r>
              <a:rPr lang="en-US" sz="1400" b="1">
                <a:solidFill>
                  <a:srgbClr val="161D2B"/>
                </a:solidFill>
                <a:latin typeface="Arial"/>
              </a:rPr>
              <a:t xml:space="preserve">Client Code (After)</a:t>
            </a:r>
            <a:endParaRPr sz="1400"/>
          </a:p>
        </p:txBody>
      </p:sp>
      <p:sp>
        <p:nvSpPr>
          <p:cNvPr id="40" name="Text 40"/>
          <p:cNvSpPr txBox="1"/>
          <p:nvPr/>
        </p:nvSpPr>
        <p:spPr>
          <a:xfrm>
            <a:off x="16586200" y="5511800"/>
            <a:ext cx="1270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000"/>
          </a:p>
        </p:txBody>
      </p:sp>
      <p:sp>
        <p:nvSpPr>
          <p:cNvPr id="41" name="Code 41"/>
          <p:cNvSpPr txBox="1"/>
          <p:nvPr/>
        </p:nvSpPr>
        <p:spPr>
          <a:xfrm>
            <a:off x="9474200" y="5791200"/>
            <a:ext cx="8255000" cy="8763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600"/>
              </a:lnSpc>
            </a:pP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doc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=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B57D0"/>
                </a:solidFill>
                <a:latin typeface="Courier New"/>
              </a:rPr>
              <a:t xml:space="preserve">new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F766E"/>
                </a:solidFill>
                <a:latin typeface="Courier New"/>
              </a:rPr>
              <a:t xml:space="preserve">Document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0B57D0"/>
                </a:solidFill>
                <a:latin typeface="Courier New"/>
              </a:rPr>
              <a:t xml:space="preserve">new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F766E"/>
                </a:solidFill>
                <a:latin typeface="Courier New"/>
              </a:rPr>
              <a:t xml:space="preserve">Draft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doc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publish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user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  </a:t>
            </a:r>
            <a:r>
              <a:rPr lang="en-US" sz="1300">
                <a:solidFill>
                  <a:srgbClr val="64748B"/>
                </a:solidFill>
                <a:latin typeface="Courier New"/>
              </a:rPr>
              <a:t xml:space="preserve">// enters moderation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doc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publish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admin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 </a:t>
            </a:r>
            <a:r>
              <a:rPr lang="en-US" sz="1300">
                <a:solidFill>
                  <a:srgbClr val="64748B"/>
                </a:solidFill>
                <a:latin typeface="Courier New"/>
              </a:rPr>
              <a:t xml:space="preserve">// becomes published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64748B"/>
                </a:solidFill>
                <a:latin typeface="Courier New"/>
              </a:rPr>
              <a:t xml:space="preserve">// same draft → moderation → published path</a:t>
            </a:r>
            <a:endParaRPr sz="1300"/>
          </a:p>
        </p:txBody>
      </p:sp>
      <p:sp>
        <p:nvSpPr>
          <p:cNvPr id="42" name="Panel 42"/>
          <p:cNvSpPr/>
          <p:nvPr/>
        </p:nvSpPr>
        <p:spPr>
          <a:xfrm>
            <a:off x="304800" y="7404100"/>
            <a:ext cx="17678400" cy="25527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43" name="Panel 43"/>
          <p:cNvSpPr/>
          <p:nvPr/>
        </p:nvSpPr>
        <p:spPr>
          <a:xfrm>
            <a:off x="330200" y="7429500"/>
            <a:ext cx="17627600" cy="25019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44" name="Panel 44"/>
          <p:cNvSpPr/>
          <p:nvPr/>
        </p:nvSpPr>
        <p:spPr>
          <a:xfrm>
            <a:off x="330200" y="7429500"/>
            <a:ext cx="17627600" cy="3048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45" name="Text 45"/>
          <p:cNvSpPr txBox="1"/>
          <p:nvPr/>
        </p:nvSpPr>
        <p:spPr>
          <a:xfrm>
            <a:off x="457200" y="7454900"/>
            <a:ext cx="15240000" cy="292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800"/>
              </a:lnSpc>
            </a:pPr>
            <a:r>
              <a:rPr lang="en-US" sz="1500" b="1">
                <a:solidFill>
                  <a:srgbClr val="161D2B"/>
                </a:solidFill>
                <a:latin typeface="Arial"/>
              </a:rPr>
              <a:t xml:space="preserve">Module Code (API boundary)</a:t>
            </a:r>
            <a:endParaRPr sz="1500"/>
          </a:p>
        </p:txBody>
      </p:sp>
      <p:sp>
        <p:nvSpPr>
          <p:cNvPr id="46" name="Text 46"/>
          <p:cNvSpPr txBox="1"/>
          <p:nvPr/>
        </p:nvSpPr>
        <p:spPr>
          <a:xfrm>
            <a:off x="16459200" y="7493000"/>
            <a:ext cx="13335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000"/>
          </a:p>
        </p:txBody>
      </p:sp>
      <p:sp>
        <p:nvSpPr>
          <p:cNvPr id="47" name="Code 47"/>
          <p:cNvSpPr txBox="1"/>
          <p:nvPr/>
        </p:nvSpPr>
        <p:spPr>
          <a:xfrm>
            <a:off x="482600" y="7785100"/>
            <a:ext cx="17322800" cy="1079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600"/>
              </a:lnSpc>
            </a:pPr>
            <a:r>
              <a:rPr lang="en-US" sz="1300">
                <a:solidFill>
                  <a:srgbClr val="64748B"/>
                </a:solidFill>
                <a:latin typeface="Courier New"/>
              </a:rPr>
              <a:t xml:space="preserve">// MODULE — Document.publish API for client developers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64748B"/>
                </a:solidFill>
                <a:latin typeface="Courier New"/>
              </a:rPr>
              <a:t xml:space="preserve">// Moderation.publish(doc, user)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0B57D0"/>
                </a:solidFill>
                <a:latin typeface="Courier New"/>
              </a:rPr>
              <a:t xml:space="preserve">if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user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isAdmin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: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   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doc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changeState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0B57D0"/>
                </a:solidFill>
                <a:latin typeface="Courier New"/>
              </a:rPr>
              <a:t xml:space="preserve">new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F766E"/>
                </a:solidFill>
                <a:latin typeface="Courier New"/>
              </a:rPr>
              <a:t xml:space="preserve">Published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64748B"/>
                </a:solidFill>
                <a:latin typeface="Courier New"/>
              </a:rPr>
              <a:t xml:space="preserve">// Published.publish(...) does nothing</a:t>
            </a:r>
            <a:endParaRPr sz="1300"/>
          </a:p>
        </p:txBody>
      </p:sp>
      <p:sp>
        <p:nvSpPr>
          <p:cNvPr id="48" name="Text 48"/>
          <p:cNvSpPr txBox="1"/>
          <p:nvPr/>
        </p:nvSpPr>
        <p:spPr>
          <a:xfrm>
            <a:off x="304800" y="10007600"/>
            <a:ext cx="10160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566174"/>
                </a:solidFill>
                <a:latin typeface="Arial"/>
              </a:rPr>
              <a:t xml:space="preserve">Source: https://refactoring.guru/design-patterns/state</a:t>
            </a:r>
            <a:endParaRPr sz="1000"/>
          </a:p>
        </p:txBody>
      </p:sp>
      <p:sp>
        <p:nvSpPr>
          <p:cNvPr id="49" name="Text 49"/>
          <p:cNvSpPr txBox="1"/>
          <p:nvPr/>
        </p:nvSpPr>
        <p:spPr>
          <a:xfrm>
            <a:off x="9144000" y="10007600"/>
            <a:ext cx="8890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566174"/>
                </a:solidFill>
                <a:latin typeface="Arial"/>
              </a:rPr>
              <a:t xml:space="preserve">UML: Client box = caller code; hollow triangle = inheritance / realization; dashed open arrow = dependency</a:t>
            </a:r>
            <a:endParaRPr sz="1000"/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 3"/>
          <p:cNvSpPr txBox="1"/>
          <p:nvPr/>
        </p:nvSpPr>
        <p:spPr>
          <a:xfrm>
            <a:off x="304800" y="114300"/>
            <a:ext cx="5842000" cy="7340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5280"/>
              </a:lnSpc>
            </a:pPr>
            <a:r>
              <a:rPr lang="en-US" sz="4400" b="1">
                <a:solidFill>
                  <a:srgbClr val="101319"/>
                </a:solidFill>
                <a:latin typeface="Arial"/>
              </a:rPr>
              <a:t xml:space="preserve">Observer</a:t>
            </a:r>
            <a:endParaRPr sz="4400"/>
          </a:p>
        </p:txBody>
      </p:sp>
      <p:sp>
        <p:nvSpPr>
          <p:cNvPr id="4" name="Panel 4"/>
          <p:cNvSpPr/>
          <p:nvPr/>
        </p:nvSpPr>
        <p:spPr>
          <a:xfrm>
            <a:off x="3063291" y="177800"/>
            <a:ext cx="25400" cy="660400"/>
          </a:xfrm>
          <a:prstGeom prst="rect">
            <a:avLst/>
          </a:prstGeom>
          <a:solidFill>
            <a:srgbClr val="858E9E"/>
          </a:soli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3291891" y="165100"/>
            <a:ext cx="14526209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>
                <a:solidFill>
                  <a:srgbClr val="596273"/>
                </a:solidFill>
                <a:latin typeface="Arial"/>
              </a:rPr>
              <a:t xml:space="preserve">Behavioral Design Pattern</a:t>
            </a:r>
            <a:endParaRPr sz="1700"/>
          </a:p>
        </p:txBody>
      </p:sp>
      <p:sp>
        <p:nvSpPr>
          <p:cNvPr id="6" name="Text 6"/>
          <p:cNvSpPr txBox="1"/>
          <p:nvPr/>
        </p:nvSpPr>
        <p:spPr>
          <a:xfrm>
            <a:off x="3291891" y="469900"/>
            <a:ext cx="14526209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>
                <a:solidFill>
                  <a:srgbClr val="182230"/>
                </a:solidFill>
                <a:latin typeface="Arial"/>
              </a:rPr>
              <a:t xml:space="preserve">Notify registered subscribers when a publisher emits an event.</a:t>
            </a:r>
            <a:endParaRPr sz="1800"/>
          </a:p>
        </p:txBody>
      </p:sp>
      <p:sp>
        <p:nvSpPr>
          <p:cNvPr id="7" name="Panel 7"/>
          <p:cNvSpPr/>
          <p:nvPr/>
        </p:nvSpPr>
        <p:spPr>
          <a:xfrm>
            <a:off x="304800" y="965200"/>
            <a:ext cx="17678400" cy="304800"/>
          </a:xfrm>
          <a:prstGeom prst="rect">
            <a:avLst/>
          </a:prstGeom>
          <a:solidFill>
            <a:srgbClr val="EDF0F6"/>
          </a:solidFill>
          <a:ln>
            <a:noFill/>
          </a:ln>
        </p:spPr>
      </p:sp>
      <p:sp>
        <p:nvSpPr>
          <p:cNvPr id="8" name="Text 8"/>
          <p:cNvSpPr txBox="1"/>
          <p:nvPr/>
        </p:nvSpPr>
        <p:spPr>
          <a:xfrm>
            <a:off x="431800" y="1003300"/>
            <a:ext cx="158750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374151"/>
                </a:solidFill>
                <a:latin typeface="Arial"/>
              </a:rPr>
              <a:t xml:space="preserve">CASE STUDY: Editor events notify logging and email</a:t>
            </a:r>
            <a:endParaRPr sz="1300"/>
          </a:p>
        </p:txBody>
      </p:sp>
      <p:sp>
        <p:nvSpPr>
          <p:cNvPr id="9" name="Text 9"/>
          <p:cNvSpPr txBox="1"/>
          <p:nvPr/>
        </p:nvSpPr>
        <p:spPr>
          <a:xfrm>
            <a:off x="17018000" y="1003300"/>
            <a:ext cx="9525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374151"/>
                </a:solidFill>
                <a:latin typeface="Arial"/>
              </a:rPr>
              <a:t xml:space="preserve">13 / 14</a:t>
            </a:r>
            <a:endParaRPr sz="1300"/>
          </a:p>
        </p:txBody>
      </p:sp>
      <p:sp>
        <p:nvSpPr>
          <p:cNvPr id="10" name="Panel 10"/>
          <p:cNvSpPr/>
          <p:nvPr/>
        </p:nvSpPr>
        <p:spPr>
          <a:xfrm>
            <a:off x="304800" y="1384300"/>
            <a:ext cx="8686800" cy="660400"/>
          </a:xfrm>
          <a:prstGeom prst="rect">
            <a:avLst/>
          </a:prstGeom>
          <a:solidFill>
            <a:srgbClr val="EFA5AA"/>
          </a:solidFill>
          <a:ln>
            <a:noFill/>
          </a:ln>
        </p:spPr>
      </p:sp>
      <p:sp>
        <p:nvSpPr>
          <p:cNvPr id="11" name="Panel 11"/>
          <p:cNvSpPr/>
          <p:nvPr/>
        </p:nvSpPr>
        <p:spPr>
          <a:xfrm>
            <a:off x="330200" y="1409700"/>
            <a:ext cx="8636000" cy="609600"/>
          </a:xfrm>
          <a:prstGeom prst="rect">
            <a:avLst/>
          </a:prstGeom>
          <a:solidFill>
            <a:srgbClr val="FFE2E3"/>
          </a:solidFill>
          <a:ln>
            <a:noFill/>
          </a:ln>
        </p:spPr>
      </p:sp>
      <p:sp>
        <p:nvSpPr>
          <p:cNvPr id="12" name="Panel 12"/>
          <p:cNvSpPr/>
          <p:nvPr/>
        </p:nvSpPr>
        <p:spPr>
          <a:xfrm>
            <a:off x="431800" y="1473200"/>
            <a:ext cx="63500" cy="228600"/>
          </a:xfrm>
          <a:prstGeom prst="rect">
            <a:avLst/>
          </a:prstGeom>
          <a:solidFill>
            <a:srgbClr val="C5222B"/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596900" y="1422400"/>
            <a:ext cx="8153400" cy="3073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920"/>
              </a:lnSpc>
            </a:pPr>
            <a:r>
              <a:rPr lang="en-US" sz="1600" b="1">
                <a:solidFill>
                  <a:srgbClr val="C5222B"/>
                </a:solidFill>
                <a:latin typeface="Arial"/>
              </a:rPr>
              <a:t xml:space="preserve">Problem</a:t>
            </a:r>
            <a:endParaRPr sz="1600"/>
          </a:p>
        </p:txBody>
      </p:sp>
      <p:sp>
        <p:nvSpPr>
          <p:cNvPr id="14" name="Text 14"/>
          <p:cNvSpPr txBox="1"/>
          <p:nvPr/>
        </p:nvSpPr>
        <p:spPr>
          <a:xfrm>
            <a:off x="520700" y="1600200"/>
            <a:ext cx="8255000" cy="2413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400"/>
              </a:lnSpc>
            </a:pPr>
            <a:r>
              <a:rPr lang="en-US" sz="1200">
                <a:solidFill>
                  <a:srgbClr val="192331"/>
                </a:solidFill>
                <a:latin typeface="Arial"/>
              </a:rPr>
              <a:t xml:space="preserve">Editor logic directly invokes concrete logging and email services.</a:t>
            </a:r>
            <a:endParaRPr sz="1200"/>
          </a:p>
        </p:txBody>
      </p:sp>
      <p:sp>
        <p:nvSpPr>
          <p:cNvPr id="15" name="Panel 15"/>
          <p:cNvSpPr/>
          <p:nvPr/>
        </p:nvSpPr>
        <p:spPr>
          <a:xfrm>
            <a:off x="304800" y="2120900"/>
            <a:ext cx="8686800" cy="32131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16" name="Panel 16"/>
          <p:cNvSpPr/>
          <p:nvPr/>
        </p:nvSpPr>
        <p:spPr>
          <a:xfrm>
            <a:off x="330200" y="2146300"/>
            <a:ext cx="8636000" cy="31623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7" name="Panel 17"/>
          <p:cNvSpPr/>
          <p:nvPr/>
        </p:nvSpPr>
        <p:spPr>
          <a:xfrm>
            <a:off x="330200" y="2146300"/>
            <a:ext cx="8636000" cy="3048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18" name="Text 18"/>
          <p:cNvSpPr txBox="1"/>
          <p:nvPr/>
        </p:nvSpPr>
        <p:spPr>
          <a:xfrm>
            <a:off x="457200" y="2159000"/>
            <a:ext cx="83820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151B27"/>
                </a:solidFill>
                <a:latin typeface="Arial"/>
              </a:rPr>
              <a:t xml:space="preserve">Before (direct coupling)</a:t>
            </a:r>
            <a:endParaRPr sz="1300"/>
          </a:p>
        </p:txBody>
      </p:sp>
      <p:pic>
        <p:nvPicPr>
          <p:cNvPr id="19" name="UML class diagram"/>
          <p:cNvPicPr/>
          <p:nvPr/>
        </p:nvPicPr>
        <p:blipFill>
          <a:blip r:embed="rId2"/>
          <a:stretch>
            <a:fillRect/>
          </a:stretch>
        </p:blipFill>
        <p:spPr>
          <a:xfrm>
            <a:off x="444500" y="2476500"/>
            <a:ext cx="8382000" cy="2806700"/>
          </a:xfrm>
          <a:prstGeom prst="rect">
            <a:avLst/>
          </a:prstGeom>
        </p:spPr>
      </p:pic>
      <p:sp>
        <p:nvSpPr>
          <p:cNvPr id="20" name="Panel 20"/>
          <p:cNvSpPr/>
          <p:nvPr/>
        </p:nvSpPr>
        <p:spPr>
          <a:xfrm>
            <a:off x="9296400" y="1384300"/>
            <a:ext cx="8686800" cy="660400"/>
          </a:xfrm>
          <a:prstGeom prst="rect">
            <a:avLst/>
          </a:prstGeom>
          <a:solidFill>
            <a:srgbClr val="94D9D1"/>
          </a:solidFill>
          <a:ln>
            <a:noFill/>
          </a:ln>
        </p:spPr>
      </p:sp>
      <p:sp>
        <p:nvSpPr>
          <p:cNvPr id="21" name="Panel 21"/>
          <p:cNvSpPr/>
          <p:nvPr/>
        </p:nvSpPr>
        <p:spPr>
          <a:xfrm>
            <a:off x="9321800" y="1409700"/>
            <a:ext cx="8636000" cy="609600"/>
          </a:xfrm>
          <a:prstGeom prst="rect">
            <a:avLst/>
          </a:prstGeom>
          <a:solidFill>
            <a:srgbClr val="D9F5F0"/>
          </a:solidFill>
          <a:ln>
            <a:noFill/>
          </a:ln>
        </p:spPr>
      </p:sp>
      <p:sp>
        <p:nvSpPr>
          <p:cNvPr id="22" name="Panel 22"/>
          <p:cNvSpPr/>
          <p:nvPr/>
        </p:nvSpPr>
        <p:spPr>
          <a:xfrm>
            <a:off x="9423400" y="1473200"/>
            <a:ext cx="63500" cy="228600"/>
          </a:xfrm>
          <a:prstGeom prst="rect">
            <a:avLst/>
          </a:prstGeom>
          <a:solidFill>
            <a:srgbClr val="007E78"/>
          </a:solidFill>
          <a:ln>
            <a:noFill/>
          </a:ln>
        </p:spPr>
      </p:sp>
      <p:sp>
        <p:nvSpPr>
          <p:cNvPr id="23" name="Text 23"/>
          <p:cNvSpPr txBox="1"/>
          <p:nvPr/>
        </p:nvSpPr>
        <p:spPr>
          <a:xfrm>
            <a:off x="9588500" y="1422400"/>
            <a:ext cx="8153400" cy="3073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920"/>
              </a:lnSpc>
            </a:pPr>
            <a:r>
              <a:rPr lang="en-US" sz="1600" b="1">
                <a:solidFill>
                  <a:srgbClr val="007E78"/>
                </a:solidFill>
                <a:latin typeface="Arial"/>
              </a:rPr>
              <a:t xml:space="preserve">Solution</a:t>
            </a:r>
            <a:endParaRPr sz="1600"/>
          </a:p>
        </p:txBody>
      </p:sp>
      <p:sp>
        <p:nvSpPr>
          <p:cNvPr id="24" name="Text 24"/>
          <p:cNvSpPr txBox="1"/>
          <p:nvPr/>
        </p:nvSpPr>
        <p:spPr>
          <a:xfrm>
            <a:off x="9512300" y="1600200"/>
            <a:ext cx="8255000" cy="2413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400"/>
              </a:lnSpc>
            </a:pPr>
            <a:r>
              <a:rPr lang="en-US" sz="1200">
                <a:solidFill>
                  <a:srgbClr val="192331"/>
                </a:solidFill>
                <a:latin typeface="Arial"/>
              </a:rPr>
              <a:t xml:space="preserve">Publish an event; subscribers handle their own reactions.</a:t>
            </a:r>
            <a:endParaRPr sz="1200"/>
          </a:p>
        </p:txBody>
      </p:sp>
      <p:sp>
        <p:nvSpPr>
          <p:cNvPr id="25" name="Panel 25"/>
          <p:cNvSpPr/>
          <p:nvPr/>
        </p:nvSpPr>
        <p:spPr>
          <a:xfrm>
            <a:off x="9296400" y="2120900"/>
            <a:ext cx="8686800" cy="32131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26" name="Panel 26"/>
          <p:cNvSpPr/>
          <p:nvPr/>
        </p:nvSpPr>
        <p:spPr>
          <a:xfrm>
            <a:off x="9321800" y="2146300"/>
            <a:ext cx="8636000" cy="31623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7" name="Panel 27"/>
          <p:cNvSpPr/>
          <p:nvPr/>
        </p:nvSpPr>
        <p:spPr>
          <a:xfrm>
            <a:off x="9321800" y="2146300"/>
            <a:ext cx="8636000" cy="3048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28" name="Text 28"/>
          <p:cNvSpPr txBox="1"/>
          <p:nvPr/>
        </p:nvSpPr>
        <p:spPr>
          <a:xfrm>
            <a:off x="9448800" y="2159000"/>
            <a:ext cx="83820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151B27"/>
                </a:solidFill>
                <a:latin typeface="Arial"/>
              </a:rPr>
              <a:t xml:space="preserve">After (using Observer)</a:t>
            </a:r>
            <a:endParaRPr sz="1300"/>
          </a:p>
        </p:txBody>
      </p:sp>
      <p:pic>
        <p:nvPicPr>
          <p:cNvPr id="29" name="UML class diagram"/>
          <p:cNvPicPr/>
          <p:nvPr/>
        </p:nvPicPr>
        <p:blipFill>
          <a:blip r:embed="rId3"/>
          <a:stretch>
            <a:fillRect/>
          </a:stretch>
        </p:blipFill>
        <p:spPr>
          <a:xfrm>
            <a:off x="9436100" y="2476500"/>
            <a:ext cx="8382000" cy="2806700"/>
          </a:xfrm>
          <a:prstGeom prst="rect">
            <a:avLst/>
          </a:prstGeom>
        </p:spPr>
      </p:pic>
      <p:sp>
        <p:nvSpPr>
          <p:cNvPr id="30" name="Panel 30"/>
          <p:cNvSpPr/>
          <p:nvPr/>
        </p:nvSpPr>
        <p:spPr>
          <a:xfrm>
            <a:off x="304800" y="5435600"/>
            <a:ext cx="8686800" cy="18923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31" name="Panel 31"/>
          <p:cNvSpPr/>
          <p:nvPr/>
        </p:nvSpPr>
        <p:spPr>
          <a:xfrm>
            <a:off x="330200" y="5461000"/>
            <a:ext cx="8636000" cy="18415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32" name="Panel 32"/>
          <p:cNvSpPr/>
          <p:nvPr/>
        </p:nvSpPr>
        <p:spPr>
          <a:xfrm>
            <a:off x="330200" y="5461000"/>
            <a:ext cx="8636000" cy="3048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33" name="Text 33"/>
          <p:cNvSpPr txBox="1"/>
          <p:nvPr/>
        </p:nvSpPr>
        <p:spPr>
          <a:xfrm>
            <a:off x="457200" y="5473700"/>
            <a:ext cx="6985000" cy="2768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680"/>
              </a:lnSpc>
            </a:pPr>
            <a:r>
              <a:rPr lang="en-US" sz="1400" b="1">
                <a:solidFill>
                  <a:srgbClr val="161D2B"/>
                </a:solidFill>
                <a:latin typeface="Arial"/>
              </a:rPr>
              <a:t xml:space="preserve">Client Code (Before)</a:t>
            </a:r>
            <a:endParaRPr sz="1400"/>
          </a:p>
        </p:txBody>
      </p:sp>
      <p:sp>
        <p:nvSpPr>
          <p:cNvPr id="34" name="Text 34"/>
          <p:cNvSpPr txBox="1"/>
          <p:nvPr/>
        </p:nvSpPr>
        <p:spPr>
          <a:xfrm>
            <a:off x="7594600" y="5511800"/>
            <a:ext cx="1270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000"/>
          </a:p>
        </p:txBody>
      </p:sp>
      <p:sp>
        <p:nvSpPr>
          <p:cNvPr id="35" name="Code 35"/>
          <p:cNvSpPr txBox="1"/>
          <p:nvPr/>
        </p:nvSpPr>
        <p:spPr>
          <a:xfrm>
            <a:off x="482600" y="5791200"/>
            <a:ext cx="8255000" cy="8763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600"/>
              </a:lnSpc>
            </a:pP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editor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saveFile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logger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write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file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name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mailer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send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file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name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64748B"/>
                </a:solidFill>
                <a:latin typeface="Courier New"/>
              </a:rPr>
              <a:t xml:space="preserve">// save + log + email; client wires reactions</a:t>
            </a:r>
            <a:endParaRPr sz="1300"/>
          </a:p>
        </p:txBody>
      </p:sp>
      <p:sp>
        <p:nvSpPr>
          <p:cNvPr id="36" name="Panel 36"/>
          <p:cNvSpPr/>
          <p:nvPr/>
        </p:nvSpPr>
        <p:spPr>
          <a:xfrm>
            <a:off x="9296400" y="5435600"/>
            <a:ext cx="8686800" cy="18923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37" name="Panel 37"/>
          <p:cNvSpPr/>
          <p:nvPr/>
        </p:nvSpPr>
        <p:spPr>
          <a:xfrm>
            <a:off x="9321800" y="5461000"/>
            <a:ext cx="8636000" cy="18415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38" name="Panel 38"/>
          <p:cNvSpPr/>
          <p:nvPr/>
        </p:nvSpPr>
        <p:spPr>
          <a:xfrm>
            <a:off x="9321800" y="5461000"/>
            <a:ext cx="8636000" cy="3048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39" name="Text 39"/>
          <p:cNvSpPr txBox="1"/>
          <p:nvPr/>
        </p:nvSpPr>
        <p:spPr>
          <a:xfrm>
            <a:off x="9448800" y="5473700"/>
            <a:ext cx="6985000" cy="2768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680"/>
              </a:lnSpc>
            </a:pPr>
            <a:r>
              <a:rPr lang="en-US" sz="1400" b="1">
                <a:solidFill>
                  <a:srgbClr val="161D2B"/>
                </a:solidFill>
                <a:latin typeface="Arial"/>
              </a:rPr>
              <a:t xml:space="preserve">Client Code (After)</a:t>
            </a:r>
            <a:endParaRPr sz="1400"/>
          </a:p>
        </p:txBody>
      </p:sp>
      <p:sp>
        <p:nvSpPr>
          <p:cNvPr id="40" name="Text 40"/>
          <p:cNvSpPr txBox="1"/>
          <p:nvPr/>
        </p:nvSpPr>
        <p:spPr>
          <a:xfrm>
            <a:off x="16586200" y="5511800"/>
            <a:ext cx="1270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000"/>
          </a:p>
        </p:txBody>
      </p:sp>
      <p:sp>
        <p:nvSpPr>
          <p:cNvPr id="41" name="Code 41"/>
          <p:cNvSpPr txBox="1"/>
          <p:nvPr/>
        </p:nvSpPr>
        <p:spPr>
          <a:xfrm>
            <a:off x="9474200" y="5791200"/>
            <a:ext cx="8255000" cy="8763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600"/>
              </a:lnSpc>
            </a:pP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events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subscribe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B14747"/>
                </a:solidFill>
                <a:latin typeface="Courier New"/>
              </a:rPr>
              <a:t xml:space="preserve">"save"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,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B57D0"/>
                </a:solidFill>
                <a:latin typeface="Courier New"/>
              </a:rPr>
              <a:t xml:space="preserve">new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F766E"/>
                </a:solidFill>
                <a:latin typeface="Courier New"/>
              </a:rPr>
              <a:t xml:space="preserve">LogListener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events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subscribe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B14747"/>
                </a:solidFill>
                <a:latin typeface="Courier New"/>
              </a:rPr>
              <a:t xml:space="preserve">"save"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,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B57D0"/>
                </a:solidFill>
                <a:latin typeface="Courier New"/>
              </a:rPr>
              <a:t xml:space="preserve">new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F766E"/>
                </a:solidFill>
                <a:latin typeface="Courier New"/>
              </a:rPr>
              <a:t xml:space="preserve">EmailListener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editor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saveFile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64748B"/>
                </a:solidFill>
                <a:latin typeface="Courier New"/>
              </a:rPr>
              <a:t xml:space="preserve">// same save + log + email; listeners react</a:t>
            </a:r>
            <a:endParaRPr sz="1300"/>
          </a:p>
        </p:txBody>
      </p:sp>
      <p:sp>
        <p:nvSpPr>
          <p:cNvPr id="42" name="Panel 42"/>
          <p:cNvSpPr/>
          <p:nvPr/>
        </p:nvSpPr>
        <p:spPr>
          <a:xfrm>
            <a:off x="304800" y="7404100"/>
            <a:ext cx="17678400" cy="25527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43" name="Panel 43"/>
          <p:cNvSpPr/>
          <p:nvPr/>
        </p:nvSpPr>
        <p:spPr>
          <a:xfrm>
            <a:off x="330200" y="7429500"/>
            <a:ext cx="17627600" cy="25019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44" name="Panel 44"/>
          <p:cNvSpPr/>
          <p:nvPr/>
        </p:nvSpPr>
        <p:spPr>
          <a:xfrm>
            <a:off x="330200" y="7429500"/>
            <a:ext cx="17627600" cy="3048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45" name="Text 45"/>
          <p:cNvSpPr txBox="1"/>
          <p:nvPr/>
        </p:nvSpPr>
        <p:spPr>
          <a:xfrm>
            <a:off x="457200" y="7454900"/>
            <a:ext cx="15240000" cy="292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800"/>
              </a:lnSpc>
            </a:pPr>
            <a:r>
              <a:rPr lang="en-US" sz="1500" b="1">
                <a:solidFill>
                  <a:srgbClr val="161D2B"/>
                </a:solidFill>
                <a:latin typeface="Arial"/>
              </a:rPr>
              <a:t xml:space="preserve">Module Code (API boundary)</a:t>
            </a:r>
            <a:endParaRPr sz="1500"/>
          </a:p>
        </p:txBody>
      </p:sp>
      <p:sp>
        <p:nvSpPr>
          <p:cNvPr id="46" name="Text 46"/>
          <p:cNvSpPr txBox="1"/>
          <p:nvPr/>
        </p:nvSpPr>
        <p:spPr>
          <a:xfrm>
            <a:off x="16459200" y="7493000"/>
            <a:ext cx="13335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000"/>
          </a:p>
        </p:txBody>
      </p:sp>
      <p:sp>
        <p:nvSpPr>
          <p:cNvPr id="47" name="Code 47"/>
          <p:cNvSpPr txBox="1"/>
          <p:nvPr/>
        </p:nvSpPr>
        <p:spPr>
          <a:xfrm>
            <a:off x="482600" y="7785100"/>
            <a:ext cx="17322800" cy="1079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600"/>
              </a:lnSpc>
            </a:pPr>
            <a:r>
              <a:rPr lang="en-US" sz="1300">
                <a:solidFill>
                  <a:srgbClr val="64748B"/>
                </a:solidFill>
                <a:latin typeface="Courier New"/>
              </a:rPr>
              <a:t xml:space="preserve">// MODULE — EventManager API for client developers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64748B"/>
                </a:solidFill>
                <a:latin typeface="Courier New"/>
              </a:rPr>
              <a:t xml:space="preserve">// EventManager.notify(type, data)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0B57D0"/>
                </a:solidFill>
                <a:latin typeface="Courier New"/>
              </a:rPr>
              <a:t xml:space="preserve">for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listener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B57D0"/>
                </a:solidFill>
                <a:latin typeface="Courier New"/>
              </a:rPr>
              <a:t xml:space="preserve">in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listeners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[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type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]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: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   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listener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update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data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64748B"/>
                </a:solidFill>
                <a:latin typeface="Courier New"/>
              </a:rPr>
              <a:t xml:space="preserve">// Editor.saveFile(): write(); events.notify("save", name)</a:t>
            </a:r>
            <a:endParaRPr sz="1300"/>
          </a:p>
        </p:txBody>
      </p:sp>
      <p:sp>
        <p:nvSpPr>
          <p:cNvPr id="48" name="Text 48"/>
          <p:cNvSpPr txBox="1"/>
          <p:nvPr/>
        </p:nvSpPr>
        <p:spPr>
          <a:xfrm>
            <a:off x="304800" y="10007600"/>
            <a:ext cx="10160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566174"/>
                </a:solidFill>
                <a:latin typeface="Arial"/>
              </a:rPr>
              <a:t xml:space="preserve">Source: https://refactoring.guru/design-patterns/observer</a:t>
            </a:r>
            <a:endParaRPr sz="1000"/>
          </a:p>
        </p:txBody>
      </p:sp>
      <p:sp>
        <p:nvSpPr>
          <p:cNvPr id="49" name="Text 49"/>
          <p:cNvSpPr txBox="1"/>
          <p:nvPr/>
        </p:nvSpPr>
        <p:spPr>
          <a:xfrm>
            <a:off x="9144000" y="10007600"/>
            <a:ext cx="8890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566174"/>
                </a:solidFill>
                <a:latin typeface="Arial"/>
              </a:rPr>
              <a:t xml:space="preserve">UML: Client box = caller code; hollow triangle = inheritance / realization; dashed open arrow = dependency</a:t>
            </a:r>
            <a:endParaRPr sz="1000"/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 3"/>
          <p:cNvSpPr txBox="1"/>
          <p:nvPr/>
        </p:nvSpPr>
        <p:spPr>
          <a:xfrm>
            <a:off x="304800" y="114300"/>
            <a:ext cx="5842000" cy="7340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5280"/>
              </a:lnSpc>
            </a:pPr>
            <a:r>
              <a:rPr lang="en-US" sz="4400" b="1">
                <a:solidFill>
                  <a:srgbClr val="101319"/>
                </a:solidFill>
                <a:latin typeface="Arial"/>
              </a:rPr>
              <a:t xml:space="preserve">Command</a:t>
            </a:r>
            <a:endParaRPr sz="4400"/>
          </a:p>
        </p:txBody>
      </p:sp>
      <p:sp>
        <p:nvSpPr>
          <p:cNvPr id="4" name="Panel 4"/>
          <p:cNvSpPr/>
          <p:nvPr/>
        </p:nvSpPr>
        <p:spPr>
          <a:xfrm>
            <a:off x="3341573" y="177800"/>
            <a:ext cx="25400" cy="660400"/>
          </a:xfrm>
          <a:prstGeom prst="rect">
            <a:avLst/>
          </a:prstGeom>
          <a:solidFill>
            <a:srgbClr val="858E9E"/>
          </a:soli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3570173" y="165100"/>
            <a:ext cx="14247927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>
                <a:solidFill>
                  <a:srgbClr val="596273"/>
                </a:solidFill>
                <a:latin typeface="Arial"/>
              </a:rPr>
              <a:t xml:space="preserve">Behavioral Design Pattern</a:t>
            </a:r>
            <a:endParaRPr sz="1700"/>
          </a:p>
        </p:txBody>
      </p:sp>
      <p:sp>
        <p:nvSpPr>
          <p:cNvPr id="6" name="Text 6"/>
          <p:cNvSpPr txBox="1"/>
          <p:nvPr/>
        </p:nvSpPr>
        <p:spPr>
          <a:xfrm>
            <a:off x="3570173" y="469900"/>
            <a:ext cx="14247927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>
                <a:solidFill>
                  <a:srgbClr val="182230"/>
                </a:solidFill>
                <a:latin typeface="Arial"/>
              </a:rPr>
              <a:t xml:space="preserve">Represent a request as an object that can be invoked and undone.</a:t>
            </a:r>
            <a:endParaRPr sz="1800"/>
          </a:p>
        </p:txBody>
      </p:sp>
      <p:sp>
        <p:nvSpPr>
          <p:cNvPr id="7" name="Panel 7"/>
          <p:cNvSpPr/>
          <p:nvPr/>
        </p:nvSpPr>
        <p:spPr>
          <a:xfrm>
            <a:off x="304800" y="965200"/>
            <a:ext cx="17678400" cy="304800"/>
          </a:xfrm>
          <a:prstGeom prst="rect">
            <a:avLst/>
          </a:prstGeom>
          <a:solidFill>
            <a:srgbClr val="EDF0F6"/>
          </a:solidFill>
          <a:ln>
            <a:noFill/>
          </a:ln>
        </p:spPr>
      </p:sp>
      <p:sp>
        <p:nvSpPr>
          <p:cNvPr id="8" name="Text 8"/>
          <p:cNvSpPr txBox="1"/>
          <p:nvPr/>
        </p:nvSpPr>
        <p:spPr>
          <a:xfrm>
            <a:off x="431800" y="1003300"/>
            <a:ext cx="158750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374151"/>
                </a:solidFill>
                <a:latin typeface="Arial"/>
              </a:rPr>
              <a:t xml:space="preserve">CASE STUDY: Undoable text-editor actions</a:t>
            </a:r>
            <a:endParaRPr sz="1300"/>
          </a:p>
        </p:txBody>
      </p:sp>
      <p:sp>
        <p:nvSpPr>
          <p:cNvPr id="9" name="Text 9"/>
          <p:cNvSpPr txBox="1"/>
          <p:nvPr/>
        </p:nvSpPr>
        <p:spPr>
          <a:xfrm>
            <a:off x="17018000" y="1003300"/>
            <a:ext cx="9525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374151"/>
                </a:solidFill>
                <a:latin typeface="Arial"/>
              </a:rPr>
              <a:t xml:space="preserve">14 / 14</a:t>
            </a:r>
            <a:endParaRPr sz="1300"/>
          </a:p>
        </p:txBody>
      </p:sp>
      <p:sp>
        <p:nvSpPr>
          <p:cNvPr id="10" name="Panel 10"/>
          <p:cNvSpPr/>
          <p:nvPr/>
        </p:nvSpPr>
        <p:spPr>
          <a:xfrm>
            <a:off x="304800" y="1384300"/>
            <a:ext cx="8686800" cy="660400"/>
          </a:xfrm>
          <a:prstGeom prst="rect">
            <a:avLst/>
          </a:prstGeom>
          <a:solidFill>
            <a:srgbClr val="EFA5AA"/>
          </a:solidFill>
          <a:ln>
            <a:noFill/>
          </a:ln>
        </p:spPr>
      </p:sp>
      <p:sp>
        <p:nvSpPr>
          <p:cNvPr id="11" name="Panel 11"/>
          <p:cNvSpPr/>
          <p:nvPr/>
        </p:nvSpPr>
        <p:spPr>
          <a:xfrm>
            <a:off x="330200" y="1409700"/>
            <a:ext cx="8636000" cy="609600"/>
          </a:xfrm>
          <a:prstGeom prst="rect">
            <a:avLst/>
          </a:prstGeom>
          <a:solidFill>
            <a:srgbClr val="FFE2E3"/>
          </a:solidFill>
          <a:ln>
            <a:noFill/>
          </a:ln>
        </p:spPr>
      </p:sp>
      <p:sp>
        <p:nvSpPr>
          <p:cNvPr id="12" name="Panel 12"/>
          <p:cNvSpPr/>
          <p:nvPr/>
        </p:nvSpPr>
        <p:spPr>
          <a:xfrm>
            <a:off x="431800" y="1473200"/>
            <a:ext cx="63500" cy="228600"/>
          </a:xfrm>
          <a:prstGeom prst="rect">
            <a:avLst/>
          </a:prstGeom>
          <a:solidFill>
            <a:srgbClr val="C5222B"/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596900" y="1422400"/>
            <a:ext cx="8153400" cy="3073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920"/>
              </a:lnSpc>
            </a:pPr>
            <a:r>
              <a:rPr lang="en-US" sz="1600" b="1">
                <a:solidFill>
                  <a:srgbClr val="C5222B"/>
                </a:solidFill>
                <a:latin typeface="Arial"/>
              </a:rPr>
              <a:t xml:space="preserve">Problem</a:t>
            </a:r>
            <a:endParaRPr sz="1600"/>
          </a:p>
        </p:txBody>
      </p:sp>
      <p:sp>
        <p:nvSpPr>
          <p:cNvPr id="14" name="Text 14"/>
          <p:cNvSpPr txBox="1"/>
          <p:nvPr/>
        </p:nvSpPr>
        <p:spPr>
          <a:xfrm>
            <a:off x="520700" y="1600200"/>
            <a:ext cx="8255000" cy="2413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400"/>
              </a:lnSpc>
            </a:pPr>
            <a:r>
              <a:rPr lang="en-US" sz="1200">
                <a:solidFill>
                  <a:srgbClr val="192331"/>
                </a:solidFill>
                <a:latin typeface="Arial"/>
              </a:rPr>
              <a:t xml:space="preserve">Buttons and shortcuts duplicate editing actions without shared undo.</a:t>
            </a:r>
            <a:endParaRPr sz="1200"/>
          </a:p>
        </p:txBody>
      </p:sp>
      <p:sp>
        <p:nvSpPr>
          <p:cNvPr id="15" name="Panel 15"/>
          <p:cNvSpPr/>
          <p:nvPr/>
        </p:nvSpPr>
        <p:spPr>
          <a:xfrm>
            <a:off x="304800" y="2120900"/>
            <a:ext cx="8686800" cy="32131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16" name="Panel 16"/>
          <p:cNvSpPr/>
          <p:nvPr/>
        </p:nvSpPr>
        <p:spPr>
          <a:xfrm>
            <a:off x="330200" y="2146300"/>
            <a:ext cx="8636000" cy="31623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7" name="Panel 17"/>
          <p:cNvSpPr/>
          <p:nvPr/>
        </p:nvSpPr>
        <p:spPr>
          <a:xfrm>
            <a:off x="330200" y="2146300"/>
            <a:ext cx="8636000" cy="3048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18" name="Text 18"/>
          <p:cNvSpPr txBox="1"/>
          <p:nvPr/>
        </p:nvSpPr>
        <p:spPr>
          <a:xfrm>
            <a:off x="457200" y="2159000"/>
            <a:ext cx="83820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151B27"/>
                </a:solidFill>
                <a:latin typeface="Arial"/>
              </a:rPr>
              <a:t xml:space="preserve">Before (direct coupling)</a:t>
            </a:r>
            <a:endParaRPr sz="1300"/>
          </a:p>
        </p:txBody>
      </p:sp>
      <p:pic>
        <p:nvPicPr>
          <p:cNvPr id="19" name="UML class diagram"/>
          <p:cNvPicPr/>
          <p:nvPr/>
        </p:nvPicPr>
        <p:blipFill>
          <a:blip r:embed="rId2"/>
          <a:stretch>
            <a:fillRect/>
          </a:stretch>
        </p:blipFill>
        <p:spPr>
          <a:xfrm>
            <a:off x="444500" y="2476500"/>
            <a:ext cx="8382000" cy="2806700"/>
          </a:xfrm>
          <a:prstGeom prst="rect">
            <a:avLst/>
          </a:prstGeom>
        </p:spPr>
      </p:pic>
      <p:sp>
        <p:nvSpPr>
          <p:cNvPr id="20" name="Panel 20"/>
          <p:cNvSpPr/>
          <p:nvPr/>
        </p:nvSpPr>
        <p:spPr>
          <a:xfrm>
            <a:off x="9296400" y="1384300"/>
            <a:ext cx="8686800" cy="660400"/>
          </a:xfrm>
          <a:prstGeom prst="rect">
            <a:avLst/>
          </a:prstGeom>
          <a:solidFill>
            <a:srgbClr val="94D9D1"/>
          </a:solidFill>
          <a:ln>
            <a:noFill/>
          </a:ln>
        </p:spPr>
      </p:sp>
      <p:sp>
        <p:nvSpPr>
          <p:cNvPr id="21" name="Panel 21"/>
          <p:cNvSpPr/>
          <p:nvPr/>
        </p:nvSpPr>
        <p:spPr>
          <a:xfrm>
            <a:off x="9321800" y="1409700"/>
            <a:ext cx="8636000" cy="609600"/>
          </a:xfrm>
          <a:prstGeom prst="rect">
            <a:avLst/>
          </a:prstGeom>
          <a:solidFill>
            <a:srgbClr val="D9F5F0"/>
          </a:solidFill>
          <a:ln>
            <a:noFill/>
          </a:ln>
        </p:spPr>
      </p:sp>
      <p:sp>
        <p:nvSpPr>
          <p:cNvPr id="22" name="Panel 22"/>
          <p:cNvSpPr/>
          <p:nvPr/>
        </p:nvSpPr>
        <p:spPr>
          <a:xfrm>
            <a:off x="9423400" y="1473200"/>
            <a:ext cx="63500" cy="228600"/>
          </a:xfrm>
          <a:prstGeom prst="rect">
            <a:avLst/>
          </a:prstGeom>
          <a:solidFill>
            <a:srgbClr val="007E78"/>
          </a:solidFill>
          <a:ln>
            <a:noFill/>
          </a:ln>
        </p:spPr>
      </p:sp>
      <p:sp>
        <p:nvSpPr>
          <p:cNvPr id="23" name="Text 23"/>
          <p:cNvSpPr txBox="1"/>
          <p:nvPr/>
        </p:nvSpPr>
        <p:spPr>
          <a:xfrm>
            <a:off x="9588500" y="1422400"/>
            <a:ext cx="8153400" cy="3073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920"/>
              </a:lnSpc>
            </a:pPr>
            <a:r>
              <a:rPr lang="en-US" sz="1600" b="1">
                <a:solidFill>
                  <a:srgbClr val="007E78"/>
                </a:solidFill>
                <a:latin typeface="Arial"/>
              </a:rPr>
              <a:t xml:space="preserve">Solution</a:t>
            </a:r>
            <a:endParaRPr sz="1600"/>
          </a:p>
        </p:txBody>
      </p:sp>
      <p:sp>
        <p:nvSpPr>
          <p:cNvPr id="24" name="Text 24"/>
          <p:cNvSpPr txBox="1"/>
          <p:nvPr/>
        </p:nvSpPr>
        <p:spPr>
          <a:xfrm>
            <a:off x="9512300" y="1600200"/>
            <a:ext cx="8255000" cy="2413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400"/>
              </a:lnSpc>
            </a:pPr>
            <a:r>
              <a:rPr lang="en-US" sz="1200">
                <a:solidFill>
                  <a:srgbClr val="192331"/>
                </a:solidFill>
                <a:latin typeface="Arial"/>
              </a:rPr>
              <a:t xml:space="preserve">Bind both triggers to a command; store successful edits in history.</a:t>
            </a:r>
            <a:endParaRPr sz="1200"/>
          </a:p>
        </p:txBody>
      </p:sp>
      <p:sp>
        <p:nvSpPr>
          <p:cNvPr id="25" name="Panel 25"/>
          <p:cNvSpPr/>
          <p:nvPr/>
        </p:nvSpPr>
        <p:spPr>
          <a:xfrm>
            <a:off x="9296400" y="2120900"/>
            <a:ext cx="8686800" cy="32131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26" name="Panel 26"/>
          <p:cNvSpPr/>
          <p:nvPr/>
        </p:nvSpPr>
        <p:spPr>
          <a:xfrm>
            <a:off x="9321800" y="2146300"/>
            <a:ext cx="8636000" cy="31623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7" name="Panel 27"/>
          <p:cNvSpPr/>
          <p:nvPr/>
        </p:nvSpPr>
        <p:spPr>
          <a:xfrm>
            <a:off x="9321800" y="2146300"/>
            <a:ext cx="8636000" cy="3048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28" name="Text 28"/>
          <p:cNvSpPr txBox="1"/>
          <p:nvPr/>
        </p:nvSpPr>
        <p:spPr>
          <a:xfrm>
            <a:off x="9448800" y="2159000"/>
            <a:ext cx="83820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151B27"/>
                </a:solidFill>
                <a:latin typeface="Arial"/>
              </a:rPr>
              <a:t xml:space="preserve">After (using Command)</a:t>
            </a:r>
            <a:endParaRPr sz="1300"/>
          </a:p>
        </p:txBody>
      </p:sp>
      <p:pic>
        <p:nvPicPr>
          <p:cNvPr id="29" name="UML class diagram"/>
          <p:cNvPicPr/>
          <p:nvPr/>
        </p:nvPicPr>
        <p:blipFill>
          <a:blip r:embed="rId3"/>
          <a:stretch>
            <a:fillRect/>
          </a:stretch>
        </p:blipFill>
        <p:spPr>
          <a:xfrm>
            <a:off x="9436100" y="2476500"/>
            <a:ext cx="8382000" cy="2806700"/>
          </a:xfrm>
          <a:prstGeom prst="rect">
            <a:avLst/>
          </a:prstGeom>
        </p:spPr>
      </p:pic>
      <p:sp>
        <p:nvSpPr>
          <p:cNvPr id="30" name="Panel 30"/>
          <p:cNvSpPr/>
          <p:nvPr/>
        </p:nvSpPr>
        <p:spPr>
          <a:xfrm>
            <a:off x="304800" y="5435600"/>
            <a:ext cx="8686800" cy="18923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31" name="Panel 31"/>
          <p:cNvSpPr/>
          <p:nvPr/>
        </p:nvSpPr>
        <p:spPr>
          <a:xfrm>
            <a:off x="330200" y="5461000"/>
            <a:ext cx="8636000" cy="18415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32" name="Panel 32"/>
          <p:cNvSpPr/>
          <p:nvPr/>
        </p:nvSpPr>
        <p:spPr>
          <a:xfrm>
            <a:off x="330200" y="5461000"/>
            <a:ext cx="8636000" cy="3048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33" name="Text 33"/>
          <p:cNvSpPr txBox="1"/>
          <p:nvPr/>
        </p:nvSpPr>
        <p:spPr>
          <a:xfrm>
            <a:off x="457200" y="5473700"/>
            <a:ext cx="6985000" cy="2768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680"/>
              </a:lnSpc>
            </a:pPr>
            <a:r>
              <a:rPr lang="en-US" sz="1400" b="1">
                <a:solidFill>
                  <a:srgbClr val="161D2B"/>
                </a:solidFill>
                <a:latin typeface="Arial"/>
              </a:rPr>
              <a:t xml:space="preserve">Client Code (Before)</a:t>
            </a:r>
            <a:endParaRPr sz="1400"/>
          </a:p>
        </p:txBody>
      </p:sp>
      <p:sp>
        <p:nvSpPr>
          <p:cNvPr id="34" name="Text 34"/>
          <p:cNvSpPr txBox="1"/>
          <p:nvPr/>
        </p:nvSpPr>
        <p:spPr>
          <a:xfrm>
            <a:off x="7594600" y="5511800"/>
            <a:ext cx="1270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000"/>
          </a:p>
        </p:txBody>
      </p:sp>
      <p:sp>
        <p:nvSpPr>
          <p:cNvPr id="35" name="Code 35"/>
          <p:cNvSpPr txBox="1"/>
          <p:nvPr/>
        </p:nvSpPr>
        <p:spPr>
          <a:xfrm>
            <a:off x="482600" y="5791200"/>
            <a:ext cx="8255000" cy="673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600"/>
              </a:lnSpc>
            </a:pP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pasteButton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click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 </a:t>
            </a:r>
            <a:r>
              <a:rPr lang="en-US" sz="1300">
                <a:solidFill>
                  <a:srgbClr val="64748B"/>
                </a:solidFill>
                <a:latin typeface="Courier New"/>
              </a:rPr>
              <a:t xml:space="preserve">// editor.insert(text)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shortcut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press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    </a:t>
            </a:r>
            <a:r>
              <a:rPr lang="en-US" sz="1300">
                <a:solidFill>
                  <a:srgbClr val="64748B"/>
                </a:solidFill>
                <a:latin typeface="Courier New"/>
              </a:rPr>
              <a:t xml:space="preserve">// editor.insert(text)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64748B"/>
                </a:solidFill>
                <a:latin typeface="Courier New"/>
              </a:rPr>
              <a:t xml:space="preserve">// paste from two triggers; logic duplicated, no undo</a:t>
            </a:r>
            <a:endParaRPr sz="1300"/>
          </a:p>
        </p:txBody>
      </p:sp>
      <p:sp>
        <p:nvSpPr>
          <p:cNvPr id="36" name="Panel 36"/>
          <p:cNvSpPr/>
          <p:nvPr/>
        </p:nvSpPr>
        <p:spPr>
          <a:xfrm>
            <a:off x="9296400" y="5435600"/>
            <a:ext cx="8686800" cy="18923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37" name="Panel 37"/>
          <p:cNvSpPr/>
          <p:nvPr/>
        </p:nvSpPr>
        <p:spPr>
          <a:xfrm>
            <a:off x="9321800" y="5461000"/>
            <a:ext cx="8636000" cy="18415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38" name="Panel 38"/>
          <p:cNvSpPr/>
          <p:nvPr/>
        </p:nvSpPr>
        <p:spPr>
          <a:xfrm>
            <a:off x="9321800" y="5461000"/>
            <a:ext cx="8636000" cy="3048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39" name="Text 39"/>
          <p:cNvSpPr txBox="1"/>
          <p:nvPr/>
        </p:nvSpPr>
        <p:spPr>
          <a:xfrm>
            <a:off x="9448800" y="5473700"/>
            <a:ext cx="6985000" cy="2768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680"/>
              </a:lnSpc>
            </a:pPr>
            <a:r>
              <a:rPr lang="en-US" sz="1400" b="1">
                <a:solidFill>
                  <a:srgbClr val="161D2B"/>
                </a:solidFill>
                <a:latin typeface="Arial"/>
              </a:rPr>
              <a:t xml:space="preserve">Client Code (After)</a:t>
            </a:r>
            <a:endParaRPr sz="1400"/>
          </a:p>
        </p:txBody>
      </p:sp>
      <p:sp>
        <p:nvSpPr>
          <p:cNvPr id="40" name="Text 40"/>
          <p:cNvSpPr txBox="1"/>
          <p:nvPr/>
        </p:nvSpPr>
        <p:spPr>
          <a:xfrm>
            <a:off x="16586200" y="5511800"/>
            <a:ext cx="1270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000"/>
          </a:p>
        </p:txBody>
      </p:sp>
      <p:sp>
        <p:nvSpPr>
          <p:cNvPr id="41" name="Code 41"/>
          <p:cNvSpPr txBox="1"/>
          <p:nvPr/>
        </p:nvSpPr>
        <p:spPr>
          <a:xfrm>
            <a:off x="9474200" y="5791200"/>
            <a:ext cx="8255000" cy="1079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600"/>
              </a:lnSpc>
            </a:pP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paste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=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B57D0"/>
                </a:solidFill>
                <a:latin typeface="Courier New"/>
              </a:rPr>
              <a:t xml:space="preserve">new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F766E"/>
                </a:solidFill>
                <a:latin typeface="Courier New"/>
              </a:rPr>
              <a:t xml:space="preserve">PasteCommand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editor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,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text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pasteButton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bind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=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&gt;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app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execute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paste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shortcut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bind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=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&gt;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app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execute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paste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pasteButton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click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;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shortcut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press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64748B"/>
                </a:solidFill>
                <a:latin typeface="Courier New"/>
              </a:rPr>
              <a:t xml:space="preserve">// same two pastes via shared command</a:t>
            </a:r>
            <a:endParaRPr sz="1300"/>
          </a:p>
        </p:txBody>
      </p:sp>
      <p:sp>
        <p:nvSpPr>
          <p:cNvPr id="42" name="Panel 42"/>
          <p:cNvSpPr/>
          <p:nvPr/>
        </p:nvSpPr>
        <p:spPr>
          <a:xfrm>
            <a:off x="304800" y="7404100"/>
            <a:ext cx="17678400" cy="25527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43" name="Panel 43"/>
          <p:cNvSpPr/>
          <p:nvPr/>
        </p:nvSpPr>
        <p:spPr>
          <a:xfrm>
            <a:off x="330200" y="7429500"/>
            <a:ext cx="17627600" cy="25019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44" name="Panel 44"/>
          <p:cNvSpPr/>
          <p:nvPr/>
        </p:nvSpPr>
        <p:spPr>
          <a:xfrm>
            <a:off x="330200" y="7429500"/>
            <a:ext cx="17627600" cy="3048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45" name="Text 45"/>
          <p:cNvSpPr txBox="1"/>
          <p:nvPr/>
        </p:nvSpPr>
        <p:spPr>
          <a:xfrm>
            <a:off x="457200" y="7454900"/>
            <a:ext cx="15240000" cy="292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800"/>
              </a:lnSpc>
            </a:pPr>
            <a:r>
              <a:rPr lang="en-US" sz="1500" b="1">
                <a:solidFill>
                  <a:srgbClr val="161D2B"/>
                </a:solidFill>
                <a:latin typeface="Arial"/>
              </a:rPr>
              <a:t xml:space="preserve">Module Code (API boundary)</a:t>
            </a:r>
            <a:endParaRPr sz="1500"/>
          </a:p>
        </p:txBody>
      </p:sp>
      <p:sp>
        <p:nvSpPr>
          <p:cNvPr id="46" name="Text 46"/>
          <p:cNvSpPr txBox="1"/>
          <p:nvPr/>
        </p:nvSpPr>
        <p:spPr>
          <a:xfrm>
            <a:off x="16459200" y="7493000"/>
            <a:ext cx="13335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000"/>
          </a:p>
        </p:txBody>
      </p:sp>
      <p:sp>
        <p:nvSpPr>
          <p:cNvPr id="47" name="Code 47"/>
          <p:cNvSpPr txBox="1"/>
          <p:nvPr/>
        </p:nvSpPr>
        <p:spPr>
          <a:xfrm>
            <a:off x="482600" y="7785100"/>
            <a:ext cx="17322800" cy="1079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600"/>
              </a:lnSpc>
            </a:pPr>
            <a:r>
              <a:rPr lang="en-US" sz="1300">
                <a:solidFill>
                  <a:srgbClr val="64748B"/>
                </a:solidFill>
                <a:latin typeface="Courier New"/>
              </a:rPr>
              <a:t xml:space="preserve">// MODULE — Command API for client developers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64748B"/>
                </a:solidFill>
                <a:latin typeface="Courier New"/>
              </a:rPr>
              <a:t xml:space="preserve">// PasteCommand.execute()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backup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=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editor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text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;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editor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.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insert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(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text</a:t>
            </a:r>
            <a:r>
              <a:rPr lang="en-US" sz="1300">
                <a:solidFill>
                  <a:srgbClr val="4B5563"/>
                </a:solidFill>
                <a:latin typeface="Courier New"/>
              </a:rPr>
              <a:t xml:space="preserve">)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0B57D0"/>
                </a:solidFill>
                <a:latin typeface="Courier New"/>
              </a:rPr>
              <a:t xml:space="preserve">return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</a:t>
            </a:r>
            <a:r>
              <a:rPr lang="en-US" sz="1300">
                <a:solidFill>
                  <a:srgbClr val="0B57D0"/>
                </a:solidFill>
                <a:latin typeface="Courier New"/>
              </a:rPr>
              <a:t xml:space="preserve">true</a:t>
            </a:r>
            <a:r>
              <a:rPr lang="en-US" sz="1300">
                <a:solidFill>
                  <a:srgbClr val="18356F"/>
                </a:solidFill>
                <a:latin typeface="Courier New"/>
              </a:rPr>
              <a:t xml:space="preserve">  </a:t>
            </a:r>
            <a:r>
              <a:rPr lang="en-US" sz="1300">
                <a:solidFill>
                  <a:srgbClr val="64748B"/>
                </a:solidFill>
                <a:latin typeface="Courier New"/>
              </a:rPr>
              <a:t xml:space="preserve">// app records command in history</a:t>
            </a:r>
            <a:endParaRPr sz="1300"/>
          </a:p>
          <a:p>
            <a:pPr>
              <a:lnSpc>
                <a:spcPts val="1600"/>
              </a:lnSpc>
            </a:pPr>
            <a:r>
              <a:rPr lang="en-US" sz="1300">
                <a:solidFill>
                  <a:srgbClr val="64748B"/>
                </a:solidFill>
                <a:latin typeface="Courier New"/>
              </a:rPr>
              <a:t xml:space="preserve">// undo(): editor.text = backup</a:t>
            </a:r>
            <a:endParaRPr sz="1300"/>
          </a:p>
        </p:txBody>
      </p:sp>
      <p:sp>
        <p:nvSpPr>
          <p:cNvPr id="48" name="Text 48"/>
          <p:cNvSpPr txBox="1"/>
          <p:nvPr/>
        </p:nvSpPr>
        <p:spPr>
          <a:xfrm>
            <a:off x="304800" y="10007600"/>
            <a:ext cx="10160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566174"/>
                </a:solidFill>
                <a:latin typeface="Arial"/>
              </a:rPr>
              <a:t xml:space="preserve">Source: https://refactoring.guru/design-patterns/command</a:t>
            </a:r>
            <a:endParaRPr sz="1000"/>
          </a:p>
        </p:txBody>
      </p:sp>
      <p:sp>
        <p:nvSpPr>
          <p:cNvPr id="49" name="Text 49"/>
          <p:cNvSpPr txBox="1"/>
          <p:nvPr/>
        </p:nvSpPr>
        <p:spPr>
          <a:xfrm>
            <a:off x="9144000" y="10007600"/>
            <a:ext cx="8890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566174"/>
                </a:solidFill>
                <a:latin typeface="Arial"/>
              </a:rPr>
              <a:t xml:space="preserve">UML: Client box = caller code; hollow triangle = inheritance / realization; dashed open arrow = dependency</a:t>
            </a:r>
            <a:endParaRPr sz="1000"/>
          </a:p>
        </p:txBody>
      </p:sp>
    </p:spTree>
  </p:cSld>
  <p:clrMapOvr>
    <a:masterClrMapping/>
  </p:clrMapOvr>
</p:sld>
</file>