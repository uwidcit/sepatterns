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_1.png"/><Relationship Id="rId3" Type="http://schemas.openxmlformats.org/officeDocument/2006/relationships/image" Target="../media/s1_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2_1.png"/><Relationship Id="rId3" Type="http://schemas.openxmlformats.org/officeDocument/2006/relationships/image" Target="../media/s2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3_1.png"/><Relationship Id="rId3" Type="http://schemas.openxmlformats.org/officeDocument/2006/relationships/image" Target="../media/s3_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4_1.png"/><Relationship Id="rId3" Type="http://schemas.openxmlformats.org/officeDocument/2006/relationships/image" Target="../media/s4_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5_1.png"/><Relationship Id="rId3" Type="http://schemas.openxmlformats.org/officeDocument/2006/relationships/image" Target="../media/s5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6_1.png"/><Relationship Id="rId3" Type="http://schemas.openxmlformats.org/officeDocument/2006/relationships/image" Target="../media/s6_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1.png"/><Relationship Id="rId3" Type="http://schemas.openxmlformats.org/officeDocument/2006/relationships/image" Target="../media/s7_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8_1.png"/><Relationship Id="rId3" Type="http://schemas.openxmlformats.org/officeDocument/2006/relationships/image" Target="../media/s8_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9_1.png"/><Relationship Id="rId3" Type="http://schemas.openxmlformats.org/officeDocument/2006/relationships/image" Target="../media/s9_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0_1.png"/><Relationship Id="rId3" Type="http://schemas.openxmlformats.org/officeDocument/2006/relationships/image" Target="../media/s10_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1_1.png"/><Relationship Id="rId3" Type="http://schemas.openxmlformats.org/officeDocument/2006/relationships/image" Target="../media/s11_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2_1.png"/><Relationship Id="rId3" Type="http://schemas.openxmlformats.org/officeDocument/2006/relationships/image" Target="../media/s12_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3_1.png"/><Relationship Id="rId3" Type="http://schemas.openxmlformats.org/officeDocument/2006/relationships/image" Target="../media/s13_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4_1.png"/><Relationship Id="rId3" Type="http://schemas.openxmlformats.org/officeDocument/2006/relationships/image" Target="../media/s14_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Singleton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3155493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384093" y="165100"/>
            <a:ext cx="14434007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Creational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3384093" y="469900"/>
            <a:ext cx="14434007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Provide one shared instance through a controlled access point.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Shared database connection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01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Independent callers create separate database connections.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Hide construction; return the same instance to every caller.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Singleton)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Database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Database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query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sql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a and b are different objects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Database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getInstance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Database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getInstance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query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sql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assert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Database: lazy, thread-safe accessor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static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synchronized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getInstance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instance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null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instance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Database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instance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https://refactoring.guru/design-patterns/singleton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Factory Method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4769866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998466" y="165100"/>
            <a:ext cx="12819634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Creational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4998466" y="469900"/>
            <a:ext cx="12819634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Let creator subclasses choose the product used by shared business logic.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Road and sea logistics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02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Logistics constructs concrete transports; each new kind forces edits.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Override a creation method while preserving delivery planning.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Factory Method)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truck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Truck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ship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Ship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truck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deliver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every new kind edits Logistics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logistics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SeaLogistics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logistics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planDelivery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planning uses Transport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Logistics.planDelivery()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vehicle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createTransport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vehicle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deliver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SeaLogistics.createTransport(): return new Ship()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https://refactoring.guru/design-patterns/factory-method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657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680"/>
              </a:lnSpc>
            </a:pPr>
            <a:r>
              <a:rPr lang="en-US" sz="3900" b="1">
                <a:solidFill>
                  <a:srgbClr val="101319"/>
                </a:solidFill>
                <a:latin typeface="Arial"/>
              </a:rPr>
              <a:t xml:space="preserve">Abstract Factory</a:t>
            </a:r>
            <a:endParaRPr sz="3900"/>
          </a:p>
        </p:txBody>
      </p:sp>
      <p:sp>
        <p:nvSpPr>
          <p:cNvPr id="4" name="Panel 4"/>
          <p:cNvSpPr/>
          <p:nvPr/>
        </p:nvSpPr>
        <p:spPr>
          <a:xfrm>
            <a:off x="4545254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773854" y="165100"/>
            <a:ext cx="13044246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Creational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4773854" y="469900"/>
            <a:ext cx="13044246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Create related products through a family-specific factory.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Matching furniture families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03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Direct construction can mix modern chairs with Victorian sofas.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Select one family factory; request products through interfaces.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Abstract Factory)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chair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ModernChair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sofa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VictorianSofa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mismatched furniture family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factory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ModernFactory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chair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factory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createChair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sofa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factory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createSofa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ModernFactory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createChair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ModernChair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createSofa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ModernSofa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VictorianFactory returns Victorian products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https://refactoring.guru/design-patterns/abstract-factory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Builder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534666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763266" y="165100"/>
            <a:ext cx="15054834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Creational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763266" y="469900"/>
            <a:ext cx="15054834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Separate construction steps from the representation being assembled.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Cars and their manuals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04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Long car constructors and separate manual assembly duplicate choices.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 director runs the same recipe against different builders.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Builder)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car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Car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9A3412"/>
                </a:solidFill>
                <a:latin typeface="Courier New"/>
              </a:rPr>
              <a:t xml:space="preserve">2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sportEngine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true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manual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Manual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9A3412"/>
                </a:solidFill>
                <a:latin typeface="Courier New"/>
              </a:rPr>
              <a:t xml:space="preserve">2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"sport"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"GPS"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maintain the same recipe twice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CarBuilder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director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sportsCar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car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getResult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use ManualBuilder for a matching manual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Director.sportsCar(builder)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reset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setSeats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9A3412"/>
                </a:solidFill>
                <a:latin typeface="Courier New"/>
              </a:rPr>
              <a:t xml:space="preserve">2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setEngine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sportEngine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builder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setGPS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true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https://refactoring.guru/design-patterns/builder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Adapter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720746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949346" y="165100"/>
            <a:ext cx="14868754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Structural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949346" y="469900"/>
            <a:ext cx="14868754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Translate an existing interface into the interface a client expects.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XML stock data and JSON analytics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05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The stock app supplies XML; the analytics library requires JSON.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An adapter accepts XML, converts it, then delegates analytics.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Adapter)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xml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provider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getStockData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library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JsonAnalyticsLibrary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report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library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analyze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xml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incompatible input format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XmlAnalyticsAdapter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library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xml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provider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getStockData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report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analyze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xml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XmlAnalyticsAdapter.analyze(xml)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json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convertXmlToJson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xml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library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analyze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json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https://refactoring.guru/design-patterns/adapter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Bridge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379320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607920" y="165100"/>
            <a:ext cx="1521018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Structural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607920" y="469900"/>
            <a:ext cx="1521018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Separate two independent dimensions so both can evolve independently.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Shapes and colors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06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Each shape/color combination requires another subclass.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Shapes hold a Color reference instead of encoding color in inheritance.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Bridge)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redCircle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RedCircle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blueSquare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BlueSquare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redCircle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draw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more combinations, more classes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shape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Circle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Red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shape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draw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shape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color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Blue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shape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draw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Circle.draw()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color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apply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renderCircleGeometry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color and geometry vary independently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https://refactoring.guru/design-patterns/bridge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Facade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535225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763825" y="165100"/>
            <a:ext cx="15054275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Structural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763825" y="469900"/>
            <a:ext cx="15054275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Expose a simple entry point to a complex subsystem.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Video conversion subsystem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07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Every client coordinates codecs, bitrate conversion, and audio repair.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 facade orchestrates the subsystem behind one conversion call.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Facade)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codec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CodecFactory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extract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raw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BitrateReader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read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codec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video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BitrateReader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convert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raw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mp4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result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AudioMixer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fix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video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596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converter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VideoConverter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result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converter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convert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"mp4"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VideoConverter.convert(file, format)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source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CodecFactory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extract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raw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BitrateReader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read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source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video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BitrateReader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convert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raw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codecFor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format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AudioMixer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fix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video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https://refactoring.guru/design-patterns/facade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Proxy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162505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391105" y="165100"/>
            <a:ext cx="15426995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Structural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391105" y="469900"/>
            <a:ext cx="15426995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Control access to a service through the same interface.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Cached third-party video service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08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Repeated video downloads invoke the remote service again.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 proxy caches results and delegates only on a cache miss.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Proxy)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ThirdPartyVideoService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downloadVideo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downloadVideo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two remote requests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CachedVideoProxy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realService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downloadVideo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service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downloadVideo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second request uses the cache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CachedVideoProxy.downloadVideo(id)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not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cache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contains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cache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[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]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real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downloadVideo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cache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[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]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https://refactoring.guru/design-patterns/proxy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Composite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3496920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725520" y="165100"/>
            <a:ext cx="1409258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Structural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3725520" y="469900"/>
            <a:ext cx="1409258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Treat individual objects and recursive groups through one interface.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Boxes containing products and boxes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09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Pricing code distinguishes products from nested boxes repeatedly.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 box sums child prices; each child follows the same contract.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Composite)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9A3412"/>
                </a:solidFill>
                <a:latin typeface="Courier New"/>
              </a:rPr>
              <a:t xml:space="preserve">0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for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item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in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box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contents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item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Product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+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item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price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else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+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priceNestedBox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item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order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Box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[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product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innerBox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]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order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getPrice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leaf and group are both OrderItem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Box.getPrice()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9A3412"/>
                </a:solidFill>
                <a:latin typeface="Courier New"/>
              </a:rPr>
              <a:t xml:space="preserve">0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for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child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in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children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total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+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child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getPrice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total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https://refactoring.guru/design-patterns/composite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657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4680"/>
              </a:lnSpc>
            </a:pPr>
            <a:r>
              <a:rPr lang="en-US" sz="3900" b="1">
                <a:solidFill>
                  <a:srgbClr val="101319"/>
                </a:solidFill>
                <a:latin typeface="Arial"/>
              </a:rPr>
              <a:t xml:space="preserve">Template Method</a:t>
            </a:r>
            <a:endParaRPr sz="3900"/>
          </a:p>
        </p:txBody>
      </p:sp>
      <p:sp>
        <p:nvSpPr>
          <p:cNvPr id="4" name="Panel 4"/>
          <p:cNvSpPr/>
          <p:nvPr/>
        </p:nvSpPr>
        <p:spPr>
          <a:xfrm>
            <a:off x="4682452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4911052" y="165100"/>
            <a:ext cx="12907048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Behavioral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4911052" y="469900"/>
            <a:ext cx="12907048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Fix an algorithm’s order while subclasses implement selected steps.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Mining PDF and CSV documents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10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Format-specific miners duplicate the processing and reporting pipeline.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Move the sequence into a base method; override extraction only.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Template Method)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format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"pdf"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pdf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extract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path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else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csv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extract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path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report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analyze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miner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PdfMiner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report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miner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mine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path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CsvMiner uses the same pipeline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DataMiner.mine(path): fixed sequence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extract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path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analyze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PdfMiner.extract(path): return parsePdf(path)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https://refactoring.guru/design-patterns/template-method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Strategy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2845359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073959" y="165100"/>
            <a:ext cx="14744141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Behavioral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3073959" y="469900"/>
            <a:ext cx="14744141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Make alternative algorithms interchangeable through a shared contract.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Navigation route algorithms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11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A navigator grows conditionals for road, walking, and transit routes.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Delegate routing to a strategy selected by the client.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Strategy)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mode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"road"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route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roadRoute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elif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mode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"walk"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route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walkRoute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else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route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transitRoute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navigator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setStrategy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WalkingRoute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route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navigator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buildRoute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choose another strategy at runtime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Navigator.buildRoute(a, b)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strategy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buildRoute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a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WalkingRoute builds pedestrian paths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https://refactoring.guru/design-patterns/strategy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State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1975866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2204466" y="165100"/>
            <a:ext cx="15613634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Behavioral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2204466" y="469900"/>
            <a:ext cx="15613634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Delegate behavior to an object representing the current state.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Document publication workflow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12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Publication rules accumulate in a switch over document status.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Each state handles publish and can transition the document.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State)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status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"draft"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status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"moderation"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elif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status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"moderation"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and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user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isAdmin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status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"published"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Document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Draft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publish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user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 </a:t>
            </a: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enters moderation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publish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admin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becomes published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Moderation.publish(doc, user)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if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user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isAdmin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doc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changeState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F766E"/>
                </a:solidFill>
                <a:latin typeface="Courier New"/>
              </a:rPr>
              <a:t xml:space="preserve">Published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Published.publish(...) does nothing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https://refactoring.guru/design-patterns/state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Observer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3063291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291891" y="165100"/>
            <a:ext cx="14526209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Behavioral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3291891" y="469900"/>
            <a:ext cx="14526209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Notify registered subscribers when a publisher emits an event.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Editor events notify logging and email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13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Editor logic directly invokes concrete logging and email services.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Publish an event; subscribers handle their own reactions.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Observer)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saveFile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logger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write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name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mailer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send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name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client must wire every reaction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events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subscribe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"save"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LogListener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events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subscribe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B14747"/>
                </a:solidFill>
                <a:latin typeface="Courier New"/>
              </a:rPr>
              <a:t xml:space="preserve">"save"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EmailListener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saveFile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emits save event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EventManager.notify(type, data)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for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listener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in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listeners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[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type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]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: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 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listener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update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data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Editor.saveFile(): write(); events.notify("save", name)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https://refactoring.guru/design-patterns/observer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304800" y="114300"/>
            <a:ext cx="5842000" cy="7340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5280"/>
              </a:lnSpc>
            </a:pPr>
            <a:r>
              <a:rPr lang="en-US" sz="4400" b="1">
                <a:solidFill>
                  <a:srgbClr val="101319"/>
                </a:solidFill>
                <a:latin typeface="Arial"/>
              </a:rPr>
              <a:t xml:space="preserve">Command</a:t>
            </a:r>
            <a:endParaRPr sz="4400"/>
          </a:p>
        </p:txBody>
      </p:sp>
      <p:sp>
        <p:nvSpPr>
          <p:cNvPr id="4" name="Panel 4"/>
          <p:cNvSpPr/>
          <p:nvPr/>
        </p:nvSpPr>
        <p:spPr>
          <a:xfrm>
            <a:off x="3341573" y="177800"/>
            <a:ext cx="25400" cy="660400"/>
          </a:xfrm>
          <a:prstGeom prst="rect">
            <a:avLst/>
          </a:prstGeom>
          <a:solidFill>
            <a:srgbClr val="858E9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3570173" y="165100"/>
            <a:ext cx="14247927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>
                <a:solidFill>
                  <a:srgbClr val="596273"/>
                </a:solidFill>
                <a:latin typeface="Arial"/>
              </a:rPr>
              <a:t xml:space="preserve">Behavioral Design Pattern</a:t>
            </a:r>
            <a:endParaRPr sz="1700"/>
          </a:p>
        </p:txBody>
      </p:sp>
      <p:sp>
        <p:nvSpPr>
          <p:cNvPr id="6" name="Text 6"/>
          <p:cNvSpPr txBox="1"/>
          <p:nvPr/>
        </p:nvSpPr>
        <p:spPr>
          <a:xfrm>
            <a:off x="3570173" y="469900"/>
            <a:ext cx="14247927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>
                <a:solidFill>
                  <a:srgbClr val="182230"/>
                </a:solidFill>
                <a:latin typeface="Arial"/>
              </a:rPr>
              <a:t xml:space="preserve">Represent a request as an object that can be invoked and undone.</a:t>
            </a:r>
            <a:endParaRPr sz="1800"/>
          </a:p>
        </p:txBody>
      </p:sp>
      <p:sp>
        <p:nvSpPr>
          <p:cNvPr id="7" name="Panel 7"/>
          <p:cNvSpPr/>
          <p:nvPr/>
        </p:nvSpPr>
        <p:spPr>
          <a:xfrm>
            <a:off x="304800" y="965200"/>
            <a:ext cx="17678400" cy="304800"/>
          </a:xfrm>
          <a:prstGeom prst="rect">
            <a:avLst/>
          </a:prstGeom>
          <a:solidFill>
            <a:srgbClr val="EDF0F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31800" y="1003300"/>
            <a:ext cx="158750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CASE STUDY: Undoable text-editor actions</a:t>
            </a:r>
            <a:endParaRPr sz="1300"/>
          </a:p>
        </p:txBody>
      </p:sp>
      <p:sp>
        <p:nvSpPr>
          <p:cNvPr id="9" name="Text 9"/>
          <p:cNvSpPr txBox="1"/>
          <p:nvPr/>
        </p:nvSpPr>
        <p:spPr>
          <a:xfrm>
            <a:off x="17018000" y="1003300"/>
            <a:ext cx="952500" cy="2616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560"/>
              </a:lnSpc>
            </a:pPr>
            <a:r>
              <a:rPr lang="en-US" sz="1300" b="1">
                <a:solidFill>
                  <a:srgbClr val="374151"/>
                </a:solidFill>
                <a:latin typeface="Arial"/>
              </a:rPr>
              <a:t xml:space="preserve">14 / 14</a:t>
            </a:r>
            <a:endParaRPr sz="1300"/>
          </a:p>
        </p:txBody>
      </p:sp>
      <p:sp>
        <p:nvSpPr>
          <p:cNvPr id="10" name="Panel 10"/>
          <p:cNvSpPr/>
          <p:nvPr/>
        </p:nvSpPr>
        <p:spPr>
          <a:xfrm>
            <a:off x="304800" y="1384300"/>
            <a:ext cx="8686800" cy="1041400"/>
          </a:xfrm>
          <a:prstGeom prst="rect">
            <a:avLst/>
          </a:prstGeom>
          <a:solidFill>
            <a:srgbClr val="EFA5AA"/>
          </a:solidFill>
          <a:ln>
            <a:noFill/>
          </a:ln>
        </p:spPr>
      </p:sp>
      <p:sp>
        <p:nvSpPr>
          <p:cNvPr id="11" name="Panel 11"/>
          <p:cNvSpPr/>
          <p:nvPr/>
        </p:nvSpPr>
        <p:spPr>
          <a:xfrm>
            <a:off x="330200" y="1409700"/>
            <a:ext cx="8636000" cy="990600"/>
          </a:xfrm>
          <a:prstGeom prst="rect">
            <a:avLst/>
          </a:prstGeom>
          <a:solidFill>
            <a:srgbClr val="FFE2E3"/>
          </a:solidFill>
          <a:ln>
            <a:noFill/>
          </a:ln>
        </p:spPr>
      </p:sp>
      <p:sp>
        <p:nvSpPr>
          <p:cNvPr id="12" name="Panel 12"/>
          <p:cNvSpPr/>
          <p:nvPr/>
        </p:nvSpPr>
        <p:spPr>
          <a:xfrm>
            <a:off x="431800" y="1498600"/>
            <a:ext cx="63500" cy="304800"/>
          </a:xfrm>
          <a:prstGeom prst="rect">
            <a:avLst/>
          </a:prstGeom>
          <a:solidFill>
            <a:srgbClr val="C5222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969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C5222B"/>
                </a:solidFill>
                <a:latin typeface="Arial"/>
              </a:rPr>
              <a:t xml:space="preserve">Problem</a:t>
            </a:r>
            <a:endParaRPr sz="2500"/>
          </a:p>
        </p:txBody>
      </p:sp>
      <p:sp>
        <p:nvSpPr>
          <p:cNvPr id="14" name="Text 14"/>
          <p:cNvSpPr txBox="1"/>
          <p:nvPr/>
        </p:nvSpPr>
        <p:spPr>
          <a:xfrm>
            <a:off x="5207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Buttons and shortcuts duplicate editing actions without shared undo.</a:t>
            </a:r>
            <a:endParaRPr sz="1700"/>
          </a:p>
        </p:txBody>
      </p:sp>
      <p:sp>
        <p:nvSpPr>
          <p:cNvPr id="15" name="Panel 15"/>
          <p:cNvSpPr/>
          <p:nvPr/>
        </p:nvSpPr>
        <p:spPr>
          <a:xfrm>
            <a:off x="3048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16" name="Panel 16"/>
          <p:cNvSpPr/>
          <p:nvPr/>
        </p:nvSpPr>
        <p:spPr>
          <a:xfrm>
            <a:off x="3302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3302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4572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Before (direct coupling)</a:t>
            </a:r>
            <a:endParaRPr sz="1800"/>
          </a:p>
        </p:txBody>
      </p:sp>
      <p:pic>
        <p:nvPicPr>
          <p:cNvPr id="19" name="UML class 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44500" y="2971800"/>
            <a:ext cx="8382000" cy="3136900"/>
          </a:xfrm>
          <a:prstGeom prst="rect">
            <a:avLst/>
          </a:prstGeom>
        </p:spPr>
      </p:pic>
      <p:sp>
        <p:nvSpPr>
          <p:cNvPr id="20" name="Panel 20"/>
          <p:cNvSpPr/>
          <p:nvPr/>
        </p:nvSpPr>
        <p:spPr>
          <a:xfrm>
            <a:off x="9296400" y="1384300"/>
            <a:ext cx="8686800" cy="1041400"/>
          </a:xfrm>
          <a:prstGeom prst="rect">
            <a:avLst/>
          </a:prstGeom>
          <a:solidFill>
            <a:srgbClr val="94D9D1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9321800" y="1409700"/>
            <a:ext cx="8636000" cy="990600"/>
          </a:xfrm>
          <a:prstGeom prst="rect">
            <a:avLst/>
          </a:prstGeom>
          <a:solidFill>
            <a:srgbClr val="D9F5F0"/>
          </a:solidFill>
          <a:ln>
            <a:noFill/>
          </a:ln>
        </p:spPr>
      </p:sp>
      <p:sp>
        <p:nvSpPr>
          <p:cNvPr id="22" name="Panel 22"/>
          <p:cNvSpPr/>
          <p:nvPr/>
        </p:nvSpPr>
        <p:spPr>
          <a:xfrm>
            <a:off x="9423400" y="1498600"/>
            <a:ext cx="63500" cy="304800"/>
          </a:xfrm>
          <a:prstGeom prst="rect">
            <a:avLst/>
          </a:prstGeom>
          <a:solidFill>
            <a:srgbClr val="007E78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9588500" y="1447800"/>
            <a:ext cx="8153400" cy="444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en-US" sz="2500" b="1">
                <a:solidFill>
                  <a:srgbClr val="007E78"/>
                </a:solidFill>
                <a:latin typeface="Arial"/>
              </a:rPr>
              <a:t xml:space="preserve">Solution</a:t>
            </a:r>
            <a:endParaRPr sz="2500"/>
          </a:p>
        </p:txBody>
      </p:sp>
      <p:sp>
        <p:nvSpPr>
          <p:cNvPr id="24" name="Text 24"/>
          <p:cNvSpPr txBox="1"/>
          <p:nvPr/>
        </p:nvSpPr>
        <p:spPr>
          <a:xfrm>
            <a:off x="9512300" y="1917700"/>
            <a:ext cx="825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00"/>
              </a:lnSpc>
            </a:pPr>
            <a:r>
              <a:rPr lang="en-US" sz="1700">
                <a:solidFill>
                  <a:srgbClr val="192331"/>
                </a:solidFill>
                <a:latin typeface="Arial"/>
              </a:rPr>
              <a:t xml:space="preserve">Bind both triggers to a command; store successful edits in history.</a:t>
            </a:r>
            <a:endParaRPr sz="1700"/>
          </a:p>
        </p:txBody>
      </p:sp>
      <p:sp>
        <p:nvSpPr>
          <p:cNvPr id="25" name="Panel 25"/>
          <p:cNvSpPr/>
          <p:nvPr/>
        </p:nvSpPr>
        <p:spPr>
          <a:xfrm>
            <a:off x="9296400" y="2540000"/>
            <a:ext cx="8686800" cy="36068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26" name="Panel 26"/>
          <p:cNvSpPr/>
          <p:nvPr/>
        </p:nvSpPr>
        <p:spPr>
          <a:xfrm>
            <a:off x="9321800" y="2565400"/>
            <a:ext cx="8636000" cy="35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7" name="Panel 27"/>
          <p:cNvSpPr/>
          <p:nvPr/>
        </p:nvSpPr>
        <p:spPr>
          <a:xfrm>
            <a:off x="9321800" y="2565400"/>
            <a:ext cx="8636000" cy="3683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9448800" y="2603500"/>
            <a:ext cx="8382000" cy="3378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60"/>
              </a:lnSpc>
            </a:pPr>
            <a:r>
              <a:rPr lang="en-US" sz="1800" b="1">
                <a:solidFill>
                  <a:srgbClr val="151B27"/>
                </a:solidFill>
                <a:latin typeface="Arial"/>
              </a:rPr>
              <a:t xml:space="preserve">After (using Command)</a:t>
            </a:r>
            <a:endParaRPr sz="1800"/>
          </a:p>
        </p:txBody>
      </p:sp>
      <p:pic>
        <p:nvPicPr>
          <p:cNvPr id="29" name="UML class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9436100" y="2971800"/>
            <a:ext cx="8382000" cy="3136900"/>
          </a:xfrm>
          <a:prstGeom prst="rect">
            <a:avLst/>
          </a:prstGeom>
        </p:spPr>
      </p:pic>
      <p:sp>
        <p:nvSpPr>
          <p:cNvPr id="30" name="Panel 30"/>
          <p:cNvSpPr/>
          <p:nvPr/>
        </p:nvSpPr>
        <p:spPr>
          <a:xfrm>
            <a:off x="3048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1" name="Panel 31"/>
          <p:cNvSpPr/>
          <p:nvPr/>
        </p:nvSpPr>
        <p:spPr>
          <a:xfrm>
            <a:off x="3302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2" name="Panel 32"/>
          <p:cNvSpPr/>
          <p:nvPr/>
        </p:nvSpPr>
        <p:spPr>
          <a:xfrm>
            <a:off x="3302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4572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(Before)</a:t>
            </a:r>
            <a:endParaRPr sz="1700"/>
          </a:p>
        </p:txBody>
      </p:sp>
      <p:sp>
        <p:nvSpPr>
          <p:cNvPr id="34" name="Text 34"/>
          <p:cNvSpPr txBox="1"/>
          <p:nvPr/>
        </p:nvSpPr>
        <p:spPr>
          <a:xfrm>
            <a:off x="75946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35" name="Code 35"/>
          <p:cNvSpPr txBox="1"/>
          <p:nvPr/>
        </p:nvSpPr>
        <p:spPr>
          <a:xfrm>
            <a:off x="482600" y="6769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pasteButton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onClick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&gt;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insert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text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shortcut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onPress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&gt;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insert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text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64748B"/>
                </a:solidFill>
                <a:latin typeface="Courier New"/>
              </a:rPr>
              <a:t xml:space="preserve">// duplicated action; no undo record</a:t>
            </a:r>
            <a:endParaRPr sz="1600"/>
          </a:p>
        </p:txBody>
      </p:sp>
      <p:sp>
        <p:nvSpPr>
          <p:cNvPr id="36" name="Panel 36"/>
          <p:cNvSpPr/>
          <p:nvPr/>
        </p:nvSpPr>
        <p:spPr>
          <a:xfrm>
            <a:off x="9296400" y="6273800"/>
            <a:ext cx="8686800" cy="1778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37" name="Panel 37"/>
          <p:cNvSpPr/>
          <p:nvPr/>
        </p:nvSpPr>
        <p:spPr>
          <a:xfrm>
            <a:off x="9321800" y="6299200"/>
            <a:ext cx="8636000" cy="1727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38" name="Panel 38"/>
          <p:cNvSpPr/>
          <p:nvPr/>
        </p:nvSpPr>
        <p:spPr>
          <a:xfrm>
            <a:off x="9321800" y="6299200"/>
            <a:ext cx="8636000" cy="3556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9448800" y="6337300"/>
            <a:ext cx="6985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Client Code (After)</a:t>
            </a:r>
            <a:endParaRPr sz="1700"/>
          </a:p>
        </p:txBody>
      </p:sp>
      <p:sp>
        <p:nvSpPr>
          <p:cNvPr id="40" name="Text 40"/>
          <p:cNvSpPr txBox="1"/>
          <p:nvPr/>
        </p:nvSpPr>
        <p:spPr>
          <a:xfrm>
            <a:off x="16586200" y="6375400"/>
            <a:ext cx="12700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1" name="Code 41"/>
          <p:cNvSpPr txBox="1"/>
          <p:nvPr/>
        </p:nvSpPr>
        <p:spPr>
          <a:xfrm>
            <a:off x="9474200" y="6769100"/>
            <a:ext cx="8255000" cy="1130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paste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B57D0"/>
                </a:solidFill>
                <a:latin typeface="Courier New"/>
              </a:rPr>
              <a:t xml:space="preserve">new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0F766E"/>
                </a:solidFill>
                <a:latin typeface="Courier New"/>
              </a:rPr>
              <a:t xml:space="preserve">PasteCommand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,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text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pasteButton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bind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&gt;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app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execute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paste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shortcut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bind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&gt;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app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execute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paste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  <a:p>
            <a:pPr>
              <a:lnSpc>
                <a:spcPts val="2100"/>
              </a:lnSpc>
            </a:pP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app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600">
                <a:solidFill>
                  <a:srgbClr val="18356F"/>
                </a:solidFill>
                <a:latin typeface="Courier New"/>
              </a:rPr>
              <a:t xml:space="preserve">undo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6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600"/>
          </a:p>
        </p:txBody>
      </p:sp>
      <p:sp>
        <p:nvSpPr>
          <p:cNvPr id="42" name="Panel 42"/>
          <p:cNvSpPr/>
          <p:nvPr/>
        </p:nvSpPr>
        <p:spPr>
          <a:xfrm>
            <a:off x="304800" y="8191500"/>
            <a:ext cx="17678400" cy="1651000"/>
          </a:xfrm>
          <a:prstGeom prst="rect">
            <a:avLst/>
          </a:prstGeom>
          <a:solidFill>
            <a:srgbClr val="DFE3EC"/>
          </a:solidFill>
          <a:ln>
            <a:noFill/>
          </a:ln>
        </p:spPr>
      </p:sp>
      <p:sp>
        <p:nvSpPr>
          <p:cNvPr id="43" name="Panel 43"/>
          <p:cNvSpPr/>
          <p:nvPr/>
        </p:nvSpPr>
        <p:spPr>
          <a:xfrm>
            <a:off x="330200" y="8216900"/>
            <a:ext cx="17627600" cy="1600200"/>
          </a:xfrm>
          <a:prstGeom prst="rect">
            <a:avLst/>
          </a:prstGeom>
          <a:solidFill>
            <a:srgbClr val="F8F9FC"/>
          </a:solidFill>
          <a:ln>
            <a:noFill/>
          </a:ln>
        </p:spPr>
      </p:sp>
      <p:sp>
        <p:nvSpPr>
          <p:cNvPr id="44" name="Panel 44"/>
          <p:cNvSpPr/>
          <p:nvPr/>
        </p:nvSpPr>
        <p:spPr>
          <a:xfrm>
            <a:off x="330200" y="8216900"/>
            <a:ext cx="17627600" cy="342900"/>
          </a:xfrm>
          <a:prstGeom prst="rect">
            <a:avLst/>
          </a:prstGeom>
          <a:solidFill>
            <a:srgbClr val="E4E7F0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457200" y="8255000"/>
            <a:ext cx="15240000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040"/>
              </a:lnSpc>
            </a:pPr>
            <a:r>
              <a:rPr lang="en-US" sz="1700" b="1">
                <a:solidFill>
                  <a:srgbClr val="161D2B"/>
                </a:solidFill>
                <a:latin typeface="Arial"/>
              </a:rPr>
              <a:t xml:space="preserve">Key Implementation / Notable Module</a:t>
            </a:r>
            <a:endParaRPr sz="1700"/>
          </a:p>
        </p:txBody>
      </p:sp>
      <p:sp>
        <p:nvSpPr>
          <p:cNvPr id="46" name="Text 46"/>
          <p:cNvSpPr txBox="1"/>
          <p:nvPr/>
        </p:nvSpPr>
        <p:spPr>
          <a:xfrm>
            <a:off x="16459200" y="8293100"/>
            <a:ext cx="1333500" cy="2311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320"/>
              </a:lnSpc>
            </a:pPr>
            <a:r>
              <a:rPr lang="en-US" sz="1100">
                <a:solidFill>
                  <a:srgbClr val="667085"/>
                </a:solidFill>
                <a:latin typeface="Arial"/>
              </a:rPr>
              <a:t xml:space="preserve">Pseudocode</a:t>
            </a:r>
            <a:endParaRPr sz="1100"/>
          </a:p>
        </p:txBody>
      </p:sp>
      <p:sp>
        <p:nvSpPr>
          <p:cNvPr id="47" name="Code 47"/>
          <p:cNvSpPr txBox="1"/>
          <p:nvPr/>
        </p:nvSpPr>
        <p:spPr>
          <a:xfrm>
            <a:off x="482600" y="8661400"/>
            <a:ext cx="17322800" cy="927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PasteCommand.execute()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backup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=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text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;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editor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.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insert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(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text</a:t>
            </a:r>
            <a:r>
              <a:rPr lang="en-US" sz="1500">
                <a:solidFill>
                  <a:srgbClr val="4B5563"/>
                </a:solidFill>
                <a:latin typeface="Courier New"/>
              </a:rPr>
              <a:t xml:space="preserve">)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return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</a:t>
            </a:r>
            <a:r>
              <a:rPr lang="en-US" sz="1500">
                <a:solidFill>
                  <a:srgbClr val="0B57D0"/>
                </a:solidFill>
                <a:latin typeface="Courier New"/>
              </a:rPr>
              <a:t xml:space="preserve">true</a:t>
            </a:r>
            <a:r>
              <a:rPr lang="en-US" sz="1500">
                <a:solidFill>
                  <a:srgbClr val="18356F"/>
                </a:solidFill>
                <a:latin typeface="Courier New"/>
              </a:rPr>
              <a:t xml:space="preserve">  </a:t>
            </a: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app records command in history</a:t>
            </a:r>
            <a:endParaRPr sz="1500"/>
          </a:p>
          <a:p>
            <a:pPr>
              <a:lnSpc>
                <a:spcPts val="1700"/>
              </a:lnSpc>
            </a:pPr>
            <a:r>
              <a:rPr lang="en-US" sz="1500">
                <a:solidFill>
                  <a:srgbClr val="64748B"/>
                </a:solidFill>
                <a:latin typeface="Courier New"/>
              </a:rPr>
              <a:t xml:space="preserve">// undo(): editor.text = backup</a:t>
            </a:r>
            <a:endParaRPr sz="1500"/>
          </a:p>
        </p:txBody>
      </p:sp>
      <p:sp>
        <p:nvSpPr>
          <p:cNvPr id="48" name="Text 48"/>
          <p:cNvSpPr txBox="1"/>
          <p:nvPr/>
        </p:nvSpPr>
        <p:spPr>
          <a:xfrm>
            <a:off x="304800" y="10007600"/>
            <a:ext cx="10160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Source: https://refactoring.guru/design-patterns/command</a:t>
            </a:r>
            <a:endParaRPr sz="1000"/>
          </a:p>
        </p:txBody>
      </p:sp>
      <p:sp>
        <p:nvSpPr>
          <p:cNvPr id="49" name="Text 49"/>
          <p:cNvSpPr txBox="1"/>
          <p:nvPr/>
        </p:nvSpPr>
        <p:spPr>
          <a:xfrm>
            <a:off x="10668000" y="10007600"/>
            <a:ext cx="73660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566174"/>
                </a:solidFill>
                <a:latin typeface="Arial"/>
              </a:rPr>
              <a:t xml:space="preserve">UML: hollow triangle = inheritance / realization; dashed open arrow = dependency</a:t>
            </a:r>
            <a:endParaRPr sz="1000"/>
          </a:p>
        </p:txBody>
      </p:sp>
    </p:spTree>
  </p:cSld>
  <p:clrMapOvr>
    <a:masterClrMapping/>
  </p:clrMapOvr>
</p:sld>
</file>