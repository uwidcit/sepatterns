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5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8288000" cy="10287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/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_1.png"/><Relationship Id="rId3" Type="http://schemas.openxmlformats.org/officeDocument/2006/relationships/image" Target="../media/s1_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2_1.png"/><Relationship Id="rId3" Type="http://schemas.openxmlformats.org/officeDocument/2006/relationships/image" Target="../media/s2_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3_1.png"/><Relationship Id="rId3" Type="http://schemas.openxmlformats.org/officeDocument/2006/relationships/image" Target="../media/s3_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4_1.png"/><Relationship Id="rId3" Type="http://schemas.openxmlformats.org/officeDocument/2006/relationships/image" Target="../media/s4_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5_1.png"/><Relationship Id="rId3" Type="http://schemas.openxmlformats.org/officeDocument/2006/relationships/image" Target="../media/s5_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6_1.png"/><Relationship Id="rId3" Type="http://schemas.openxmlformats.org/officeDocument/2006/relationships/image" Target="../media/s6_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7_1.png"/><Relationship Id="rId3" Type="http://schemas.openxmlformats.org/officeDocument/2006/relationships/image" Target="../media/s7_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8_1.png"/><Relationship Id="rId3" Type="http://schemas.openxmlformats.org/officeDocument/2006/relationships/image" Target="../media/s8_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9_1.png"/><Relationship Id="rId3" Type="http://schemas.openxmlformats.org/officeDocument/2006/relationships/image" Target="../media/s9_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0_1.png"/><Relationship Id="rId3" Type="http://schemas.openxmlformats.org/officeDocument/2006/relationships/image" Target="../media/s10_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1_1.png"/><Relationship Id="rId3" Type="http://schemas.openxmlformats.org/officeDocument/2006/relationships/image" Target="../media/s11_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2_1.png"/><Relationship Id="rId3" Type="http://schemas.openxmlformats.org/officeDocument/2006/relationships/image" Target="../media/s12_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3_1.png"/><Relationship Id="rId3" Type="http://schemas.openxmlformats.org/officeDocument/2006/relationships/image" Target="../media/s13_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4_1.png"/><Relationship Id="rId3" Type="http://schemas.openxmlformats.org/officeDocument/2006/relationships/image" Target="../media/s14_2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Singleton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155493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384093" y="165100"/>
            <a:ext cx="14434007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384093" y="469900"/>
            <a:ext cx="14434007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Provide one shared instance through a controlled access point.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Shared database connection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01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Independent callers create separate database connections.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Hide construction; return the same instance to every caller.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Singleton)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 = new Database()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 = new Database()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a.query(sql)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a and b are different objects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 = Database.getInstance()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 = Database.getInstance()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a.query(sql)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assert a is b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Database: lazy, thread-safe accessor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static synchronized getInstance():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if instance == null: instance = new Database()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instance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https://refactoring.guru/design-patterns/singleton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Factory Method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476986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4998466" y="165100"/>
            <a:ext cx="1281963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4998466" y="469900"/>
            <a:ext cx="1281963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Let creator subclasses choose the product used by shared business logic.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Road and sea logistics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02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Logistics constructs concrete transports; each new kind forces edits.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Override a creation method while preserving delivery planning.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Factory Method)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truck = new Truck()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ship = new Ship()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truck.deliver()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every new kind edits Logistics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logistics = new SeaLogistics()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logistics.planDelivery()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planning uses Transport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Logistics.planDelivery()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vehicle = createTransport()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vehicle.deliver()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SeaLogistics.createTransport(): return new Ship()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https://refactoring.guru/design-patterns/factory-method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657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4680"/>
              </a:lnSpc>
            </a:pPr>
            <a:r>
              <a:rPr lang="en-US" sz="3900" b="1">
                <a:solidFill>
                  <a:srgbClr val="101319"/>
                </a:solidFill>
                <a:latin typeface="Arial"/>
              </a:rPr>
              <a:t xml:space="preserve">Abstract Factory</a:t>
            </a:r>
            <a:endParaRPr sz="3900"/>
          </a:p>
        </p:txBody>
      </p:sp>
      <p:sp>
        <p:nvSpPr>
          <p:cNvPr id="4" name="Panel 4"/>
          <p:cNvSpPr/>
          <p:nvPr/>
        </p:nvSpPr>
        <p:spPr>
          <a:xfrm>
            <a:off x="4545254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4773854" y="165100"/>
            <a:ext cx="13044246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4773854" y="469900"/>
            <a:ext cx="13044246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Create related products through a family-specific factory.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Matching furniture families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03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Direct construction can mix modern chairs with Victorian sofas.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Select one family factory; request products through interfaces.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Abstract Factory)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chair = new ModernChair()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sofa = new VictorianSofa()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mismatched furniture family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factory = new ModernFactory()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chair = factory.createChair()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sofa = factory.createSofa()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ModernFactory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createChair(): return new ModernChair()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createSofa():  return new ModernSofa()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VictorianFactory returns Victorian products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https://refactoring.guru/design-patterns/abstract-factory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Builder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53466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763266" y="165100"/>
            <a:ext cx="1505483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763266" y="469900"/>
            <a:ext cx="1505483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Separate construction steps from the representation being assembled.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Cars and their manuals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04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Long car constructors and separate manual assembly duplicate choices.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 director runs the same recipe against different builders.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Builder)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car = new Car(2, sportEngine, true)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manual = new Manual(2, "sport", "GPS")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maintain the same recipe twice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builder = new CarBuilder()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director.sportsCar(builder)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car = builder.getResult()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use ManualBuilder for a matching manual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1143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Director.sportsCar(builder)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builder.reset()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builder.setSeats(2)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builder.setEngine(sportEngine)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builder.setGPS(true)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https://refactoring.guru/design-patterns/builder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Adapter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72074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949346" y="165100"/>
            <a:ext cx="1486875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949346" y="469900"/>
            <a:ext cx="1486875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Translate an existing interface into the interface a client expects.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XML stock data and JSON analytics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05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The stock app supplies XML; the analytics library requires JSON.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An adapter accepts XML, converts it, then delegates analytics.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Adapter)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xml = provider.getStockData()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library = new JsonAnalyticsLibrary()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report = library.analyze(xml)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incompatible input format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service = new XmlAnalyticsAdapter(library)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xml = provider.getStockData()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report = service.analyze(xml)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XmlAnalyticsAdapter.analyze(xml)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json = convertXmlToJson(xml)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library.analyze(json)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https://refactoring.guru/design-patterns/adapter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Bridge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379320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607920" y="165100"/>
            <a:ext cx="1521018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607920" y="469900"/>
            <a:ext cx="1521018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Separate two independent dimensions so both can evolve independently.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Shapes and colors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06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Each shape/color combination requires another subclass.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Shapes hold a Color reference instead of encoding color in inheritance.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Bridge)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redCircle = new RedCircle()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blueSquare = new BlueSquare()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redCircle.draw()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more combinations, more classes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shape = new Circle(new Red())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shape.draw()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shape.color = new Blue()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shape.draw()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Circle.draw()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color.apply()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renderCircleGeometry()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color and geometry vary independently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https://refactoring.guru/design-patterns/bridge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Facade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535225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763825" y="165100"/>
            <a:ext cx="15054275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763825" y="469900"/>
            <a:ext cx="15054275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Expose a simple entry point to a complex subsystem.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Video conversion subsystem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07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Every client coordinates codecs, bitrate conversion, and audio repair.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 facade orchestrates the subsystem behind one conversion call.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Facade)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codec = CodecFactory.extract(file)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raw = BitrateReader.read(file, codec)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video = BitrateReader.convert(raw, mp4)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result = AudioMixer.fix(video)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596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converter = new VideoConverter()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result = converter.convert(file, "mp4")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1143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VideoConverter.convert(file, format)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source = CodecFactory.extract(file)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raw = BitrateReader.read(file, source)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video = BitrateReader.convert(raw, codecFor(format))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AudioMixer.fix(video)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https://refactoring.guru/design-patterns/facade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Proxy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162505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391105" y="165100"/>
            <a:ext cx="15426995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391105" y="469900"/>
            <a:ext cx="15426995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Control access to a service through the same interface.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Cached third-party video service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08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Repeated video downloads invoke the remote service again.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 proxy caches results and delegates only on a cache miss.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Proxy)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service = new ThirdPartyVideoService()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 = service.downloadVideo(id)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 = service.downloadVideo(id)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two remote requests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service = new CachedVideoProxy(realService)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 = service.downloadVideo(id)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 = service.downloadVideo(id)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second request uses the cache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CachedVideoProxy.downloadVideo(id)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if not cache.contains(id):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cache[id] = real.downloadVideo(id)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cache[id]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https://refactoring.guru/design-patterns/proxy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Composite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496920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725520" y="165100"/>
            <a:ext cx="1409258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725520" y="469900"/>
            <a:ext cx="1409258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Treat individual objects and recursive groups through one interface.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Boxes containing products and boxes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09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Pricing code distinguishes products from nested boxes repeatedly.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 box sums child prices; each child follows the same contract.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Composite)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total = 0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for item in box.contents: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if item is Product: total += item.price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else: total += priceNestedBox(item)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order = new Box([product, innerBox])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total = order.getPrice()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leaf and group are both OrderItem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1143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Box.getPrice()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total = 0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for child in children: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total += child.getPrice()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total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https://refactoring.guru/design-patterns/composite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657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4680"/>
              </a:lnSpc>
            </a:pPr>
            <a:r>
              <a:rPr lang="en-US" sz="3900" b="1">
                <a:solidFill>
                  <a:srgbClr val="101319"/>
                </a:solidFill>
                <a:latin typeface="Arial"/>
              </a:rPr>
              <a:t xml:space="preserve">Template Method</a:t>
            </a:r>
            <a:endParaRPr sz="3900"/>
          </a:p>
        </p:txBody>
      </p:sp>
      <p:sp>
        <p:nvSpPr>
          <p:cNvPr id="4" name="Panel 4"/>
          <p:cNvSpPr/>
          <p:nvPr/>
        </p:nvSpPr>
        <p:spPr>
          <a:xfrm>
            <a:off x="4682452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4911052" y="165100"/>
            <a:ext cx="12907048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4911052" y="469900"/>
            <a:ext cx="12907048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Fix an algorithm’s order while subclasses implement selected steps.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Mining PDF and CSV documents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10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Format-specific miners duplicate the processing and reporting pipeline.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Move the sequence into a base method; override extraction only.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Template Method)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if format == "pdf":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data = pdf.extract(path)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else: data = csv.extract(path)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report = analyze(data)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miner = new PdfMiner()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report = miner.mine(path)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CsvMiner uses the same pipeline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DataMiner.mine(path): fixed sequence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data = extract(path)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analyze(data)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PdfMiner.extract(path): return parsePdf(path)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https://refactoring.guru/design-patterns/template-method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Strategy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845359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073959" y="165100"/>
            <a:ext cx="14744141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073959" y="469900"/>
            <a:ext cx="14744141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Make alternative algorithms interchangeable through a shared contract.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Navigation route algorithms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11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 navigator grows conditionals for road, walking, and transit routes.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Delegate routing to a strategy selected by the client.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Strategy)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if mode == "road": route = roadRoute(a, b)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elif mode == "walk": route = walkRoute(a, b)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else: route = transitRoute(a, b)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navigator.setStrategy(new WalkingRoute())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route = navigator.buildRoute(a, b)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choose another strategy at runtime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Navigator.buildRoute(a, b)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strategy.buildRoute(a, b)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WalkingRoute builds pedestrian paths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https://refactoring.guru/design-patterns/strategy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State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197586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204466" y="165100"/>
            <a:ext cx="1561363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204466" y="469900"/>
            <a:ext cx="1561363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Delegate behavior to an object representing the current state.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Document publication workflow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12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Publication rules accumulate in a switch over document status.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Each state handles publish and can transition the document.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State)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if doc.status == "draft":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doc.status = "moderation"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elif doc.status == "moderation" and user.isAdmin: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doc.status = "published"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doc = new Document(new Draft())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doc.publish(user)  // enters moderation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doc.publish(admin) // becomes published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Moderation.publish(doc, user)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if user.isAdmin: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doc.changeState(new Published())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Published.publish(...) does nothing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https://refactoring.guru/design-patterns/state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Observer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063291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291891" y="165100"/>
            <a:ext cx="14526209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291891" y="469900"/>
            <a:ext cx="14526209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Notify registered subscribers when a publisher emits an event.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Editor events notify logging and email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13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Editor logic directly invokes concrete logging and email services.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Publish an event; subscribers handle their own reactions.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Observer)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editor.saveFile()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logger.write(file.name)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mailer.send(file.name)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client must wire every reaction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events.subscribe("save", new LogListener())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events.subscribe("save", new EmailListener())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editor.saveFile() // emits save event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EventManager.notify(type, data)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for listener in listeners[type]: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listener.update(data)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Editor.saveFile(): write(); events.notify("save", name)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https://refactoring.guru/design-patterns/observer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Command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341573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570173" y="165100"/>
            <a:ext cx="14247927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570173" y="469900"/>
            <a:ext cx="14247927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Represent a request as an object that can be invoked and undone.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Undoable text-editor actions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14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Buttons and shortcuts duplicate editing actions without shared undo.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Bind both triggers to a command; store successful edits in history.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Command)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pasteButton.onClick(() =&gt; editor.insert(text))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shortcut.onPress(() =&gt; editor.insert(text))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duplicated action; no undo record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paste = new PasteCommand(editor, text)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pasteButton.bind(() =&gt; app.execute(paste))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shortcut.bind(() =&gt; app.execute(paste))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app.undo()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PasteCommand.execute()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backup = editor.text; editor.insert(text)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true  // app records command in history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undo(): editor.text = backup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https://refactoring.guru/design-patterns/command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